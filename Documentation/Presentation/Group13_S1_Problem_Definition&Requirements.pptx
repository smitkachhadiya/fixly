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DM Sans Light" panose="020B0604020202020204" charset="0"/>
      <p:regular r:id="rId16"/>
      <p:bold r:id="rId17"/>
      <p:italic r:id="rId18"/>
      <p:boldItalic r:id="rId19"/>
    </p:embeddedFont>
    <p:embeddedFont>
      <p:font typeface="DM Sans Medium" panose="020F0502020204030204" pitchFamily="2" charset="0"/>
      <p:regular r:id="rId20"/>
      <p:bold r:id="rId21"/>
      <p:italic r:id="rId22"/>
      <p:boldItalic r:id="rId23"/>
    </p:embeddedFont>
    <p:embeddedFont>
      <p:font typeface="Inter"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TwlJifolH5TrR07Ii33Lfr4fT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 name="Google Shape;6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 name="Google Shape;6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3" name="Google Shape;8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1" name="Google Shape;11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9" name="Google Shape;1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39" name="Google Shape;139;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7" name="Google Shape;157;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8" name="Google Shape;158;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9" name="Google Shape;189;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4" name="Google Shape;224;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5" name="Google Shape;255;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6" name="Google Shape;256;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7" name="Google Shape;297;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3" name="Google Shape;31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2" name="Google Shape;332;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9" name="Google Shape;349;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0" name="Google Shape;350;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6"/>
        <p:cNvGrpSpPr/>
        <p:nvPr/>
      </p:nvGrpSpPr>
      <p:grpSpPr>
        <a:xfrm>
          <a:off x="0" y="0"/>
          <a:ext cx="0" cy="0"/>
          <a:chOff x="0" y="0"/>
          <a:chExt cx="0" cy="0"/>
        </a:xfrm>
      </p:grpSpPr>
      <p:sp>
        <p:nvSpPr>
          <p:cNvPr id="7" name="Google Shape;7;p15"/>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5"/>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5"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0"/>
        <p:cNvGrpSpPr/>
        <p:nvPr/>
      </p:nvGrpSpPr>
      <p:grpSpPr>
        <a:xfrm>
          <a:off x="0" y="0"/>
          <a:ext cx="0" cy="0"/>
          <a:chOff x="0" y="0"/>
          <a:chExt cx="0" cy="0"/>
        </a:xfrm>
      </p:grpSpPr>
      <p:sp>
        <p:nvSpPr>
          <p:cNvPr id="11" name="Google Shape;11;p16"/>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6"/>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6"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4"/>
        <p:cNvGrpSpPr/>
        <p:nvPr/>
      </p:nvGrpSpPr>
      <p:grpSpPr>
        <a:xfrm>
          <a:off x="0" y="0"/>
          <a:ext cx="0" cy="0"/>
          <a:chOff x="0" y="0"/>
          <a:chExt cx="0" cy="0"/>
        </a:xfrm>
      </p:grpSpPr>
      <p:sp>
        <p:nvSpPr>
          <p:cNvPr id="15" name="Google Shape;15;p17"/>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7"/>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17"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18"/>
        <p:cNvGrpSpPr/>
        <p:nvPr/>
      </p:nvGrpSpPr>
      <p:grpSpPr>
        <a:xfrm>
          <a:off x="0" y="0"/>
          <a:ext cx="0" cy="0"/>
          <a:chOff x="0" y="0"/>
          <a:chExt cx="0" cy="0"/>
        </a:xfrm>
      </p:grpSpPr>
      <p:sp>
        <p:nvSpPr>
          <p:cNvPr id="19" name="Google Shape;19;p18"/>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8"/>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18"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2"/>
        <p:cNvGrpSpPr/>
        <p:nvPr/>
      </p:nvGrpSpPr>
      <p:grpSpPr>
        <a:xfrm>
          <a:off x="0" y="0"/>
          <a:ext cx="0" cy="0"/>
          <a:chOff x="0" y="0"/>
          <a:chExt cx="0" cy="0"/>
        </a:xfrm>
      </p:grpSpPr>
      <p:sp>
        <p:nvSpPr>
          <p:cNvPr id="23" name="Google Shape;23;p19"/>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9"/>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19"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26"/>
        <p:cNvGrpSpPr/>
        <p:nvPr/>
      </p:nvGrpSpPr>
      <p:grpSpPr>
        <a:xfrm>
          <a:off x="0" y="0"/>
          <a:ext cx="0" cy="0"/>
          <a:chOff x="0" y="0"/>
          <a:chExt cx="0" cy="0"/>
        </a:xfrm>
      </p:grpSpPr>
      <p:sp>
        <p:nvSpPr>
          <p:cNvPr id="27" name="Google Shape;27;p20"/>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0"/>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20"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0"/>
        <p:cNvGrpSpPr/>
        <p:nvPr/>
      </p:nvGrpSpPr>
      <p:grpSpPr>
        <a:xfrm>
          <a:off x="0" y="0"/>
          <a:ext cx="0" cy="0"/>
          <a:chOff x="0" y="0"/>
          <a:chExt cx="0" cy="0"/>
        </a:xfrm>
      </p:grpSpPr>
      <p:sp>
        <p:nvSpPr>
          <p:cNvPr id="31" name="Google Shape;31;p21"/>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1"/>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21"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4"/>
        <p:cNvGrpSpPr/>
        <p:nvPr/>
      </p:nvGrpSpPr>
      <p:grpSpPr>
        <a:xfrm>
          <a:off x="0" y="0"/>
          <a:ext cx="0" cy="0"/>
          <a:chOff x="0" y="0"/>
          <a:chExt cx="0" cy="0"/>
        </a:xfrm>
      </p:grpSpPr>
      <p:sp>
        <p:nvSpPr>
          <p:cNvPr id="35" name="Google Shape;35;p22"/>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2"/>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22"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38"/>
        <p:cNvGrpSpPr/>
        <p:nvPr/>
      </p:nvGrpSpPr>
      <p:grpSpPr>
        <a:xfrm>
          <a:off x="0" y="0"/>
          <a:ext cx="0" cy="0"/>
          <a:chOff x="0" y="0"/>
          <a:chExt cx="0" cy="0"/>
        </a:xfrm>
      </p:grpSpPr>
      <p:sp>
        <p:nvSpPr>
          <p:cNvPr id="39" name="Google Shape;39;p23"/>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3"/>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 name="Google Shape;41;p23"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42"/>
        <p:cNvGrpSpPr/>
        <p:nvPr/>
      </p:nvGrpSpPr>
      <p:grpSpPr>
        <a:xfrm>
          <a:off x="0" y="0"/>
          <a:ext cx="0" cy="0"/>
          <a:chOff x="0" y="0"/>
          <a:chExt cx="0" cy="0"/>
        </a:xfrm>
      </p:grpSpPr>
      <p:sp>
        <p:nvSpPr>
          <p:cNvPr id="43" name="Google Shape;43;p24"/>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4"/>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24"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1 master">
  <p:cSld name="Slide 11 master">
    <p:spTree>
      <p:nvGrpSpPr>
        <p:cNvPr id="1" name="Shape 46"/>
        <p:cNvGrpSpPr/>
        <p:nvPr/>
      </p:nvGrpSpPr>
      <p:grpSpPr>
        <a:xfrm>
          <a:off x="0" y="0"/>
          <a:ext cx="0" cy="0"/>
          <a:chOff x="0" y="0"/>
          <a:chExt cx="0" cy="0"/>
        </a:xfrm>
      </p:grpSpPr>
      <p:sp>
        <p:nvSpPr>
          <p:cNvPr id="47" name="Google Shape;47;p25"/>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5"/>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oogle Shape;49;p25"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2 master">
  <p:cSld name="Slide 12 master">
    <p:spTree>
      <p:nvGrpSpPr>
        <p:cNvPr id="1" name="Shape 50"/>
        <p:cNvGrpSpPr/>
        <p:nvPr/>
      </p:nvGrpSpPr>
      <p:grpSpPr>
        <a:xfrm>
          <a:off x="0" y="0"/>
          <a:ext cx="0" cy="0"/>
          <a:chOff x="0" y="0"/>
          <a:chExt cx="0" cy="0"/>
        </a:xfrm>
      </p:grpSpPr>
      <p:sp>
        <p:nvSpPr>
          <p:cNvPr id="51" name="Google Shape;51;p26"/>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6"/>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 name="Google Shape;53;p26"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13 master">
  <p:cSld name="Slide 13 master">
    <p:spTree>
      <p:nvGrpSpPr>
        <p:cNvPr id="1" name="Shape 54"/>
        <p:cNvGrpSpPr/>
        <p:nvPr/>
      </p:nvGrpSpPr>
      <p:grpSpPr>
        <a:xfrm>
          <a:off x="0" y="0"/>
          <a:ext cx="0" cy="0"/>
          <a:chOff x="0" y="0"/>
          <a:chExt cx="0" cy="0"/>
        </a:xfrm>
      </p:grpSpPr>
      <p:sp>
        <p:nvSpPr>
          <p:cNvPr id="55" name="Google Shape;55;p27"/>
          <p:cNvSpPr/>
          <p:nvPr/>
        </p:nvSpPr>
        <p:spPr>
          <a:xfrm>
            <a:off x="0" y="0"/>
            <a:ext cx="14630400" cy="8229600"/>
          </a:xfrm>
          <a:prstGeom prst="rect">
            <a:avLst/>
          </a:prstGeom>
          <a:solidFill>
            <a:srgbClr val="E6E2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7"/>
          <p:cNvSpPr/>
          <p:nvPr/>
        </p:nvSpPr>
        <p:spPr>
          <a:xfrm>
            <a:off x="0" y="0"/>
            <a:ext cx="14630400" cy="8229600"/>
          </a:xfrm>
          <a:prstGeom prst="rect">
            <a:avLst/>
          </a:prstGeom>
          <a:solidFill>
            <a:srgbClr val="F9F8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 name="Google Shape;57;p27"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hyperlink" Target="http://express.js"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
          <p:cNvSpPr/>
          <p:nvPr/>
        </p:nvSpPr>
        <p:spPr>
          <a:xfrm>
            <a:off x="793790" y="653296"/>
            <a:ext cx="4217551" cy="527090"/>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161613"/>
              </a:buClr>
              <a:buSzPts val="3300"/>
              <a:buFont typeface="DM Sans Medium"/>
              <a:buNone/>
            </a:pPr>
            <a:r>
              <a:rPr lang="en-US" sz="3300" b="0" i="0" u="none" strike="noStrike" cap="none">
                <a:solidFill>
                  <a:srgbClr val="161613"/>
                </a:solidFill>
                <a:latin typeface="DM Sans Medium"/>
                <a:ea typeface="DM Sans Medium"/>
                <a:cs typeface="DM Sans Medium"/>
                <a:sym typeface="DM Sans Medium"/>
              </a:rPr>
              <a:t>Fixly</a:t>
            </a:r>
            <a:endParaRPr sz="3300" b="0" i="0" u="none" strike="noStrike" cap="none">
              <a:solidFill>
                <a:schemeClr val="dk1"/>
              </a:solidFill>
              <a:latin typeface="Calibri"/>
              <a:ea typeface="Calibri"/>
              <a:cs typeface="Calibri"/>
              <a:sym typeface="Calibri"/>
            </a:endParaRPr>
          </a:p>
        </p:txBody>
      </p:sp>
      <p:sp>
        <p:nvSpPr>
          <p:cNvPr id="65" name="Google Shape;65;p1"/>
          <p:cNvSpPr/>
          <p:nvPr/>
        </p:nvSpPr>
        <p:spPr>
          <a:xfrm>
            <a:off x="793790" y="1517690"/>
            <a:ext cx="13042821" cy="33730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61613"/>
              </a:buClr>
              <a:buSzPts val="1650"/>
              <a:buFont typeface="Inter"/>
              <a:buNone/>
            </a:pPr>
            <a:r>
              <a:rPr lang="en-US" sz="1650" b="0" i="1" u="none" strike="noStrike" cap="none">
                <a:solidFill>
                  <a:srgbClr val="161613"/>
                </a:solidFill>
                <a:latin typeface="Inter"/>
                <a:ea typeface="Inter"/>
                <a:cs typeface="Inter"/>
                <a:sym typeface="Inter"/>
              </a:rPr>
              <a:t>Convenience at Your Doorstep</a:t>
            </a:r>
            <a:endParaRPr sz="1650" b="0" i="0" u="none" strike="noStrike" cap="none">
              <a:solidFill>
                <a:schemeClr val="dk1"/>
              </a:solidFill>
              <a:latin typeface="Calibri"/>
              <a:ea typeface="Calibri"/>
              <a:cs typeface="Calibri"/>
              <a:sym typeface="Calibri"/>
            </a:endParaRPr>
          </a:p>
        </p:txBody>
      </p:sp>
      <p:sp>
        <p:nvSpPr>
          <p:cNvPr id="66" name="Google Shape;66;p1"/>
          <p:cNvSpPr/>
          <p:nvPr/>
        </p:nvSpPr>
        <p:spPr>
          <a:xfrm>
            <a:off x="793790" y="2044779"/>
            <a:ext cx="13042821" cy="5398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b="0" i="0" u="none" strike="noStrike" cap="none">
                <a:solidFill>
                  <a:srgbClr val="161613"/>
                </a:solidFill>
                <a:latin typeface="Inter"/>
                <a:ea typeface="Inter"/>
                <a:cs typeface="Inter"/>
                <a:sym typeface="Inter"/>
              </a:rPr>
              <a:t>A web-based service marketplace connecting customers with skilled professionals for household and commercial needs. Designed for simplicity, efficiency, and trust.</a:t>
            </a:r>
            <a:endParaRPr sz="1300" b="0" i="0" u="none" strike="noStrike" cap="none">
              <a:solidFill>
                <a:schemeClr val="dk1"/>
              </a:solidFill>
              <a:latin typeface="Calibri"/>
              <a:ea typeface="Calibri"/>
              <a:cs typeface="Calibri"/>
              <a:sym typeface="Calibri"/>
            </a:endParaRPr>
          </a:p>
        </p:txBody>
      </p:sp>
      <p:sp>
        <p:nvSpPr>
          <p:cNvPr id="67" name="Google Shape;67;p1"/>
          <p:cNvSpPr/>
          <p:nvPr/>
        </p:nvSpPr>
        <p:spPr>
          <a:xfrm>
            <a:off x="793790" y="2858718"/>
            <a:ext cx="13042821" cy="28694"/>
          </a:xfrm>
          <a:prstGeom prst="rect">
            <a:avLst/>
          </a:prstGeom>
          <a:solidFill>
            <a:srgbClr val="161613">
              <a:alpha val="4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
          <p:cNvSpPr/>
          <p:nvPr/>
        </p:nvSpPr>
        <p:spPr>
          <a:xfrm>
            <a:off x="793790" y="3077170"/>
            <a:ext cx="13042821" cy="269915"/>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b="0" i="0" u="none" strike="noStrike" cap="none">
                <a:solidFill>
                  <a:srgbClr val="161613"/>
                </a:solidFill>
                <a:latin typeface="Inter"/>
                <a:ea typeface="Inter"/>
                <a:cs typeface="Inter"/>
                <a:sym typeface="Inter"/>
              </a:rPr>
              <a:t>Group 13 | IT644: Web Services &amp; SOA</a:t>
            </a:r>
            <a:endParaRPr sz="1300" b="0" i="0" u="none" strike="noStrike" cap="none">
              <a:solidFill>
                <a:schemeClr val="dk1"/>
              </a:solidFill>
              <a:latin typeface="Calibri"/>
              <a:ea typeface="Calibri"/>
              <a:cs typeface="Calibri"/>
              <a:sym typeface="Calibri"/>
            </a:endParaRPr>
          </a:p>
        </p:txBody>
      </p:sp>
      <p:sp>
        <p:nvSpPr>
          <p:cNvPr id="69" name="Google Shape;69;p1"/>
          <p:cNvSpPr/>
          <p:nvPr/>
        </p:nvSpPr>
        <p:spPr>
          <a:xfrm>
            <a:off x="793790" y="3536871"/>
            <a:ext cx="13042821" cy="5398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p:txBody>
      </p:sp>
      <p:sp>
        <p:nvSpPr>
          <p:cNvPr id="70" name="Google Shape;70;p1"/>
          <p:cNvSpPr/>
          <p:nvPr/>
        </p:nvSpPr>
        <p:spPr>
          <a:xfrm>
            <a:off x="793790" y="4329708"/>
            <a:ext cx="3373993" cy="421719"/>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61613"/>
              </a:buClr>
              <a:buSzPts val="2650"/>
              <a:buFont typeface="DM Sans Medium"/>
              <a:buNone/>
            </a:pPr>
            <a:r>
              <a:rPr lang="en-US" sz="2650" b="0" i="0" u="none" strike="noStrike" cap="none">
                <a:solidFill>
                  <a:srgbClr val="161613"/>
                </a:solidFill>
                <a:latin typeface="DM Sans Medium"/>
                <a:ea typeface="DM Sans Medium"/>
                <a:cs typeface="DM Sans Medium"/>
                <a:sym typeface="DM Sans Medium"/>
              </a:rPr>
              <a:t>Team Members</a:t>
            </a:r>
            <a:endParaRPr sz="2650" b="0" i="0" u="none" strike="noStrike" cap="none">
              <a:solidFill>
                <a:schemeClr val="dk1"/>
              </a:solidFill>
              <a:latin typeface="Calibri"/>
              <a:ea typeface="Calibri"/>
              <a:cs typeface="Calibri"/>
              <a:sym typeface="Calibri"/>
            </a:endParaRPr>
          </a:p>
        </p:txBody>
      </p:sp>
      <p:sp>
        <p:nvSpPr>
          <p:cNvPr id="71" name="Google Shape;71;p1"/>
          <p:cNvSpPr/>
          <p:nvPr/>
        </p:nvSpPr>
        <p:spPr>
          <a:xfrm>
            <a:off x="793790" y="5004435"/>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202412031 - Kachhadiya Smit - Team Lead &amp; Project Manager</a:t>
            </a:r>
            <a:endParaRPr sz="1300" b="0" i="0" u="none" strike="noStrike" cap="none">
              <a:solidFill>
                <a:schemeClr val="dk1"/>
              </a:solidFill>
              <a:latin typeface="Calibri"/>
              <a:ea typeface="Calibri"/>
              <a:cs typeface="Calibri"/>
              <a:sym typeface="Calibri"/>
            </a:endParaRPr>
          </a:p>
        </p:txBody>
      </p:sp>
      <p:sp>
        <p:nvSpPr>
          <p:cNvPr id="72" name="Google Shape;72;p1"/>
          <p:cNvSpPr/>
          <p:nvPr/>
        </p:nvSpPr>
        <p:spPr>
          <a:xfrm>
            <a:off x="793790" y="5333286"/>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202412036 - </a:t>
            </a:r>
            <a:r>
              <a:rPr lang="en-US" sz="1300">
                <a:solidFill>
                  <a:srgbClr val="161613"/>
                </a:solidFill>
                <a:latin typeface="Inter"/>
                <a:ea typeface="Inter"/>
                <a:cs typeface="Inter"/>
                <a:sym typeface="Inter"/>
              </a:rPr>
              <a:t>Kathrotiya</a:t>
            </a:r>
            <a:r>
              <a:rPr lang="en-US" sz="1300" b="0" i="0" u="none" strike="noStrike" cap="none">
                <a:solidFill>
                  <a:srgbClr val="161613"/>
                </a:solidFill>
                <a:latin typeface="Inter"/>
                <a:ea typeface="Inter"/>
                <a:cs typeface="Inter"/>
                <a:sym typeface="Inter"/>
              </a:rPr>
              <a:t> Harsh - BackEnd Developer &amp; Product Owner</a:t>
            </a:r>
            <a:endParaRPr sz="1300" b="0" i="0" u="none" strike="noStrike" cap="none">
              <a:solidFill>
                <a:schemeClr val="dk1"/>
              </a:solidFill>
              <a:latin typeface="Calibri"/>
              <a:ea typeface="Calibri"/>
              <a:cs typeface="Calibri"/>
              <a:sym typeface="Calibri"/>
            </a:endParaRPr>
          </a:p>
        </p:txBody>
      </p:sp>
      <p:sp>
        <p:nvSpPr>
          <p:cNvPr id="73" name="Google Shape;73;p1"/>
          <p:cNvSpPr/>
          <p:nvPr/>
        </p:nvSpPr>
        <p:spPr>
          <a:xfrm>
            <a:off x="793790" y="5662136"/>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202412052 - Navadiya Krishn - Backend Developer</a:t>
            </a:r>
            <a:endParaRPr sz="1300" b="0" i="0" u="none" strike="noStrike" cap="none">
              <a:solidFill>
                <a:schemeClr val="dk1"/>
              </a:solidFill>
              <a:latin typeface="Calibri"/>
              <a:ea typeface="Calibri"/>
              <a:cs typeface="Calibri"/>
              <a:sym typeface="Calibri"/>
            </a:endParaRPr>
          </a:p>
        </p:txBody>
      </p:sp>
      <p:sp>
        <p:nvSpPr>
          <p:cNvPr id="74" name="Google Shape;74;p1"/>
          <p:cNvSpPr/>
          <p:nvPr/>
        </p:nvSpPr>
        <p:spPr>
          <a:xfrm>
            <a:off x="793790" y="5990987"/>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202412030 - Kachhadiya Princy - FrontEnd Developer</a:t>
            </a:r>
            <a:endParaRPr sz="1300" b="0" i="0" u="none" strike="noStrike" cap="none">
              <a:solidFill>
                <a:schemeClr val="dk1"/>
              </a:solidFill>
              <a:latin typeface="Calibri"/>
              <a:ea typeface="Calibri"/>
              <a:cs typeface="Calibri"/>
              <a:sym typeface="Calibri"/>
            </a:endParaRPr>
          </a:p>
        </p:txBody>
      </p:sp>
      <p:sp>
        <p:nvSpPr>
          <p:cNvPr id="75" name="Google Shape;75;p1"/>
          <p:cNvSpPr/>
          <p:nvPr/>
        </p:nvSpPr>
        <p:spPr>
          <a:xfrm>
            <a:off x="793790" y="6319838"/>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202412043 - Lakkad Vishva - UI/UX Designer &amp; Business Analyst</a:t>
            </a:r>
            <a:endParaRPr sz="1300" b="0" i="0" u="none" strike="noStrike" cap="none">
              <a:solidFill>
                <a:schemeClr val="dk1"/>
              </a:solidFill>
              <a:latin typeface="Calibri"/>
              <a:ea typeface="Calibri"/>
              <a:cs typeface="Calibri"/>
              <a:sym typeface="Calibri"/>
            </a:endParaRPr>
          </a:p>
        </p:txBody>
      </p:sp>
      <p:sp>
        <p:nvSpPr>
          <p:cNvPr id="76" name="Google Shape;76;p1"/>
          <p:cNvSpPr/>
          <p:nvPr/>
        </p:nvSpPr>
        <p:spPr>
          <a:xfrm>
            <a:off x="793790" y="6648688"/>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202412044 - Limbachiya Parth - QA Tester &amp; Solution Architecture</a:t>
            </a:r>
            <a:endParaRPr sz="1300" b="0" i="0" u="none" strike="noStrike" cap="none">
              <a:solidFill>
                <a:schemeClr val="dk1"/>
              </a:solidFill>
              <a:latin typeface="Calibri"/>
              <a:ea typeface="Calibri"/>
              <a:cs typeface="Calibri"/>
              <a:sym typeface="Calibri"/>
            </a:endParaRPr>
          </a:p>
        </p:txBody>
      </p:sp>
      <p:sp>
        <p:nvSpPr>
          <p:cNvPr id="77" name="Google Shape;77;p1"/>
          <p:cNvSpPr/>
          <p:nvPr/>
        </p:nvSpPr>
        <p:spPr>
          <a:xfrm>
            <a:off x="793790" y="6977539"/>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202412104 - Shekhda Miraj - FrontEnd Developer</a:t>
            </a:r>
            <a:endParaRPr sz="1300" b="0" i="0" u="none" strike="noStrike" cap="none">
              <a:solidFill>
                <a:schemeClr val="dk1"/>
              </a:solidFill>
              <a:latin typeface="Calibri"/>
              <a:ea typeface="Calibri"/>
              <a:cs typeface="Calibri"/>
              <a:sym typeface="Calibri"/>
            </a:endParaRPr>
          </a:p>
        </p:txBody>
      </p:sp>
      <p:sp>
        <p:nvSpPr>
          <p:cNvPr id="78" name="Google Shape;78;p1"/>
          <p:cNvSpPr/>
          <p:nvPr/>
        </p:nvSpPr>
        <p:spPr>
          <a:xfrm>
            <a:off x="793790" y="7306389"/>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202412010 - Asodariya Gaurav - Technical Writer</a:t>
            </a:r>
            <a:endParaRPr sz="1300" b="0" i="0" u="none" strike="noStrike" cap="none">
              <a:solidFill>
                <a:schemeClr val="dk1"/>
              </a:solidFill>
              <a:latin typeface="Calibri"/>
              <a:ea typeface="Calibri"/>
              <a:cs typeface="Calibri"/>
              <a:sym typeface="Calibri"/>
            </a:endParaRPr>
          </a:p>
        </p:txBody>
      </p:sp>
      <p:sp>
        <p:nvSpPr>
          <p:cNvPr id="79" name="Google Shape;79;p1"/>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
          <p:cNvSpPr/>
          <p:nvPr/>
        </p:nvSpPr>
        <p:spPr>
          <a:xfrm>
            <a:off x="793804" y="1324800"/>
            <a:ext cx="8574900" cy="620100"/>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The Problem We're Solving</a:t>
            </a:r>
            <a:endParaRPr sz="3900">
              <a:solidFill>
                <a:schemeClr val="dk1"/>
              </a:solidFill>
              <a:latin typeface="Calibri"/>
              <a:ea typeface="Calibri"/>
              <a:cs typeface="Calibri"/>
              <a:sym typeface="Calibri"/>
            </a:endParaRPr>
          </a:p>
        </p:txBody>
      </p:sp>
      <p:sp>
        <p:nvSpPr>
          <p:cNvPr id="86" name="Google Shape;86;p2"/>
          <p:cNvSpPr/>
          <p:nvPr/>
        </p:nvSpPr>
        <p:spPr>
          <a:xfrm>
            <a:off x="793790" y="2341721"/>
            <a:ext cx="4215289" cy="4562951"/>
          </a:xfrm>
          <a:prstGeom prst="roundRect">
            <a:avLst>
              <a:gd name="adj" fmla="val 706"/>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816650" y="2364581"/>
            <a:ext cx="4169569" cy="595313"/>
          </a:xfrm>
          <a:prstGeom prst="roundRect">
            <a:avLst>
              <a:gd name="adj" fmla="val 393"/>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2752606" y="2476143"/>
            <a:ext cx="297656" cy="37207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61613"/>
              </a:buClr>
              <a:buSzPts val="2300"/>
              <a:buFont typeface="DM Sans Medium"/>
              <a:buNone/>
            </a:pPr>
            <a:r>
              <a:rPr lang="en-US" sz="2300">
                <a:solidFill>
                  <a:srgbClr val="161613"/>
                </a:solidFill>
                <a:latin typeface="DM Sans Medium"/>
                <a:ea typeface="DM Sans Medium"/>
                <a:cs typeface="DM Sans Medium"/>
                <a:sym typeface="DM Sans Medium"/>
              </a:rPr>
              <a:t>1</a:t>
            </a:r>
            <a:endParaRPr sz="2300">
              <a:solidFill>
                <a:schemeClr val="dk1"/>
              </a:solidFill>
              <a:latin typeface="Calibri"/>
              <a:ea typeface="Calibri"/>
              <a:cs typeface="Calibri"/>
              <a:sym typeface="Calibri"/>
            </a:endParaRPr>
          </a:p>
        </p:txBody>
      </p:sp>
      <p:sp>
        <p:nvSpPr>
          <p:cNvPr id="89" name="Google Shape;89;p2"/>
          <p:cNvSpPr/>
          <p:nvPr/>
        </p:nvSpPr>
        <p:spPr>
          <a:xfrm>
            <a:off x="1015008" y="3158252"/>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For Customers</a:t>
            </a:r>
            <a:endParaRPr sz="1950">
              <a:solidFill>
                <a:schemeClr val="dk1"/>
              </a:solidFill>
              <a:latin typeface="Calibri"/>
              <a:ea typeface="Calibri"/>
              <a:cs typeface="Calibri"/>
              <a:sym typeface="Calibri"/>
            </a:endParaRPr>
          </a:p>
        </p:txBody>
      </p:sp>
      <p:sp>
        <p:nvSpPr>
          <p:cNvPr id="90" name="Google Shape;90;p2"/>
          <p:cNvSpPr/>
          <p:nvPr/>
        </p:nvSpPr>
        <p:spPr>
          <a:xfrm>
            <a:off x="1015008" y="3587472"/>
            <a:ext cx="3772853"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Finding reliable, trustworthy service providers remains challenging.</a:t>
            </a:r>
            <a:endParaRPr sz="1550">
              <a:solidFill>
                <a:schemeClr val="dk1"/>
              </a:solidFill>
              <a:latin typeface="Calibri"/>
              <a:ea typeface="Calibri"/>
              <a:cs typeface="Calibri"/>
              <a:sym typeface="Calibri"/>
            </a:endParaRPr>
          </a:p>
        </p:txBody>
      </p:sp>
      <p:sp>
        <p:nvSpPr>
          <p:cNvPr id="91" name="Google Shape;91;p2"/>
          <p:cNvSpPr/>
          <p:nvPr/>
        </p:nvSpPr>
        <p:spPr>
          <a:xfrm>
            <a:off x="1015008" y="4341614"/>
            <a:ext cx="3772800" cy="1270200"/>
          </a:xfrm>
          <a:prstGeom prst="rect">
            <a:avLst/>
          </a:prstGeom>
          <a:noFill/>
          <a:ln>
            <a:noFill/>
          </a:ln>
        </p:spPr>
        <p:txBody>
          <a:bodyPr spcFirstLastPara="1" wrap="square" lIns="0" tIns="0" rIns="0" bIns="0" anchor="t" anchorCtr="0">
            <a:noAutofit/>
          </a:bodyPr>
          <a:lstStyle/>
          <a:p>
            <a:pPr marL="0" marR="0" lvl="0" indent="0" algn="l" rtl="0">
              <a:lnSpc>
                <a:spcPct val="15800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Traditional methods lack transparency, leading to uncertainty about quality, hidden costs, and poor communication channels.</a:t>
            </a:r>
            <a:endParaRPr sz="1550">
              <a:solidFill>
                <a:schemeClr val="dk1"/>
              </a:solidFill>
              <a:latin typeface="Calibri"/>
              <a:ea typeface="Calibri"/>
              <a:cs typeface="Calibri"/>
              <a:sym typeface="Calibri"/>
            </a:endParaRPr>
          </a:p>
        </p:txBody>
      </p:sp>
      <p:sp>
        <p:nvSpPr>
          <p:cNvPr id="92" name="Google Shape;92;p2"/>
          <p:cNvSpPr/>
          <p:nvPr/>
        </p:nvSpPr>
        <p:spPr>
          <a:xfrm>
            <a:off x="1015000" y="5778123"/>
            <a:ext cx="3772800" cy="87507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Customers need a centralized platform with verified professionals and fair pricing.</a:t>
            </a:r>
            <a:endParaRPr sz="1550">
              <a:solidFill>
                <a:schemeClr val="dk1"/>
              </a:solidFill>
              <a:latin typeface="Calibri"/>
              <a:ea typeface="Calibri"/>
              <a:cs typeface="Calibri"/>
              <a:sym typeface="Calibri"/>
            </a:endParaRPr>
          </a:p>
        </p:txBody>
      </p:sp>
      <p:sp>
        <p:nvSpPr>
          <p:cNvPr id="93" name="Google Shape;93;p2"/>
          <p:cNvSpPr/>
          <p:nvPr/>
        </p:nvSpPr>
        <p:spPr>
          <a:xfrm>
            <a:off x="5306624" y="2341721"/>
            <a:ext cx="4215300" cy="4563000"/>
          </a:xfrm>
          <a:prstGeom prst="roundRect">
            <a:avLst>
              <a:gd name="adj" fmla="val 706"/>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324709" y="2364581"/>
            <a:ext cx="4169700" cy="595200"/>
          </a:xfrm>
          <a:prstGeom prst="roundRect">
            <a:avLst>
              <a:gd name="adj" fmla="val 393"/>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7166253" y="2476143"/>
            <a:ext cx="297656" cy="37207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61613"/>
              </a:buClr>
              <a:buSzPts val="2300"/>
              <a:buFont typeface="DM Sans Medium"/>
              <a:buNone/>
            </a:pPr>
            <a:r>
              <a:rPr lang="en-US" sz="2300">
                <a:solidFill>
                  <a:srgbClr val="161613"/>
                </a:solidFill>
                <a:latin typeface="DM Sans Medium"/>
                <a:ea typeface="DM Sans Medium"/>
                <a:cs typeface="DM Sans Medium"/>
                <a:sym typeface="DM Sans Medium"/>
              </a:rPr>
              <a:t>2</a:t>
            </a:r>
            <a:endParaRPr sz="2300">
              <a:solidFill>
                <a:schemeClr val="dk1"/>
              </a:solidFill>
              <a:latin typeface="Calibri"/>
              <a:ea typeface="Calibri"/>
              <a:cs typeface="Calibri"/>
              <a:sym typeface="Calibri"/>
            </a:endParaRPr>
          </a:p>
        </p:txBody>
      </p:sp>
      <p:sp>
        <p:nvSpPr>
          <p:cNvPr id="96" name="Google Shape;96;p2"/>
          <p:cNvSpPr/>
          <p:nvPr/>
        </p:nvSpPr>
        <p:spPr>
          <a:xfrm>
            <a:off x="5428655" y="3158252"/>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For Service Providers</a:t>
            </a:r>
            <a:endParaRPr sz="1950">
              <a:solidFill>
                <a:schemeClr val="dk1"/>
              </a:solidFill>
              <a:latin typeface="Calibri"/>
              <a:ea typeface="Calibri"/>
              <a:cs typeface="Calibri"/>
              <a:sym typeface="Calibri"/>
            </a:endParaRPr>
          </a:p>
        </p:txBody>
      </p:sp>
      <p:sp>
        <p:nvSpPr>
          <p:cNvPr id="97" name="Google Shape;97;p2"/>
          <p:cNvSpPr/>
          <p:nvPr/>
        </p:nvSpPr>
        <p:spPr>
          <a:xfrm>
            <a:off x="5428655" y="3587472"/>
            <a:ext cx="3772972"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Skilled professionals struggle to gain visibility and build trust with clients.</a:t>
            </a:r>
            <a:endParaRPr sz="1550">
              <a:solidFill>
                <a:schemeClr val="dk1"/>
              </a:solidFill>
              <a:latin typeface="Calibri"/>
              <a:ea typeface="Calibri"/>
              <a:cs typeface="Calibri"/>
              <a:sym typeface="Calibri"/>
            </a:endParaRPr>
          </a:p>
        </p:txBody>
      </p:sp>
      <p:sp>
        <p:nvSpPr>
          <p:cNvPr id="98" name="Google Shape;98;p2"/>
          <p:cNvSpPr/>
          <p:nvPr/>
        </p:nvSpPr>
        <p:spPr>
          <a:xfrm>
            <a:off x="5428655" y="4341614"/>
            <a:ext cx="3772972"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Many lack efficient tools for appointment management, secure payments, and customer feedback.</a:t>
            </a:r>
            <a:endParaRPr sz="1550">
              <a:solidFill>
                <a:schemeClr val="dk1"/>
              </a:solidFill>
              <a:latin typeface="Calibri"/>
              <a:ea typeface="Calibri"/>
              <a:cs typeface="Calibri"/>
              <a:sym typeface="Calibri"/>
            </a:endParaRPr>
          </a:p>
        </p:txBody>
      </p:sp>
      <p:sp>
        <p:nvSpPr>
          <p:cNvPr id="99" name="Google Shape;99;p2"/>
          <p:cNvSpPr/>
          <p:nvPr/>
        </p:nvSpPr>
        <p:spPr>
          <a:xfrm>
            <a:off x="5428650" y="5532575"/>
            <a:ext cx="3773100" cy="9525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Without proper resources, growing their business becomes difficult and time-consuming.</a:t>
            </a:r>
            <a:endParaRPr sz="1550">
              <a:solidFill>
                <a:schemeClr val="dk1"/>
              </a:solidFill>
              <a:latin typeface="Calibri"/>
              <a:ea typeface="Calibri"/>
              <a:cs typeface="Calibri"/>
              <a:sym typeface="Calibri"/>
            </a:endParaRPr>
          </a:p>
        </p:txBody>
      </p:sp>
      <p:sp>
        <p:nvSpPr>
          <p:cNvPr id="100" name="Google Shape;100;p2"/>
          <p:cNvSpPr/>
          <p:nvPr/>
        </p:nvSpPr>
        <p:spPr>
          <a:xfrm>
            <a:off x="9621203" y="2341721"/>
            <a:ext cx="4215289" cy="4562951"/>
          </a:xfrm>
          <a:prstGeom prst="roundRect">
            <a:avLst>
              <a:gd name="adj" fmla="val 706"/>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644063" y="2364581"/>
            <a:ext cx="4169569" cy="595313"/>
          </a:xfrm>
          <a:prstGeom prst="roundRect">
            <a:avLst>
              <a:gd name="adj" fmla="val 393"/>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1580019" y="2476143"/>
            <a:ext cx="297656" cy="37207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61613"/>
              </a:buClr>
              <a:buSzPts val="2300"/>
              <a:buFont typeface="DM Sans Medium"/>
              <a:buNone/>
            </a:pPr>
            <a:r>
              <a:rPr lang="en-US" sz="2300">
                <a:solidFill>
                  <a:srgbClr val="161613"/>
                </a:solidFill>
                <a:latin typeface="DM Sans Medium"/>
                <a:ea typeface="DM Sans Medium"/>
                <a:cs typeface="DM Sans Medium"/>
                <a:sym typeface="DM Sans Medium"/>
              </a:rPr>
              <a:t>3</a:t>
            </a:r>
            <a:endParaRPr sz="2300">
              <a:solidFill>
                <a:schemeClr val="dk1"/>
              </a:solidFill>
              <a:latin typeface="Calibri"/>
              <a:ea typeface="Calibri"/>
              <a:cs typeface="Calibri"/>
              <a:sym typeface="Calibri"/>
            </a:endParaRPr>
          </a:p>
        </p:txBody>
      </p:sp>
      <p:sp>
        <p:nvSpPr>
          <p:cNvPr id="103" name="Google Shape;103;p2"/>
          <p:cNvSpPr/>
          <p:nvPr/>
        </p:nvSpPr>
        <p:spPr>
          <a:xfrm>
            <a:off x="9842421" y="3158252"/>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Market Gap</a:t>
            </a:r>
            <a:endParaRPr sz="1950">
              <a:solidFill>
                <a:schemeClr val="dk1"/>
              </a:solidFill>
              <a:latin typeface="Calibri"/>
              <a:ea typeface="Calibri"/>
              <a:cs typeface="Calibri"/>
              <a:sym typeface="Calibri"/>
            </a:endParaRPr>
          </a:p>
        </p:txBody>
      </p:sp>
      <p:sp>
        <p:nvSpPr>
          <p:cNvPr id="104" name="Google Shape;104;p2"/>
          <p:cNvSpPr/>
          <p:nvPr/>
        </p:nvSpPr>
        <p:spPr>
          <a:xfrm>
            <a:off x="9842421" y="3587472"/>
            <a:ext cx="3772853"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The absence of a user-friendly, centralized marketplace creates inefficiencies and missed opportunities.</a:t>
            </a:r>
            <a:endParaRPr sz="1550">
              <a:solidFill>
                <a:schemeClr val="dk1"/>
              </a:solidFill>
              <a:latin typeface="Calibri"/>
              <a:ea typeface="Calibri"/>
              <a:cs typeface="Calibri"/>
              <a:sym typeface="Calibri"/>
            </a:endParaRPr>
          </a:p>
        </p:txBody>
      </p:sp>
      <p:sp>
        <p:nvSpPr>
          <p:cNvPr id="105" name="Google Shape;105;p2"/>
          <p:cNvSpPr/>
          <p:nvPr/>
        </p:nvSpPr>
        <p:spPr>
          <a:xfrm>
            <a:off x="9842425" y="4690646"/>
            <a:ext cx="3772800" cy="7542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Both sides face frustration, wasted time, and reduced access to quality services.</a:t>
            </a:r>
            <a:endParaRPr sz="1550">
              <a:solidFill>
                <a:schemeClr val="dk1"/>
              </a:solidFill>
              <a:latin typeface="Calibri"/>
              <a:ea typeface="Calibri"/>
              <a:cs typeface="Calibri"/>
              <a:sym typeface="Calibri"/>
            </a:endParaRPr>
          </a:p>
        </p:txBody>
      </p:sp>
      <p:sp>
        <p:nvSpPr>
          <p:cNvPr id="106" name="Google Shape;106;p2"/>
          <p:cNvSpPr/>
          <p:nvPr/>
        </p:nvSpPr>
        <p:spPr>
          <a:xfrm>
            <a:off x="9842421" y="5417602"/>
            <a:ext cx="3772800" cy="6351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 trusted intermediary platform is essential.</a:t>
            </a:r>
            <a:endParaRPr sz="1550">
              <a:solidFill>
                <a:schemeClr val="dk1"/>
              </a:solidFill>
              <a:latin typeface="Calibri"/>
              <a:ea typeface="Calibri"/>
              <a:cs typeface="Calibri"/>
              <a:sym typeface="Calibri"/>
            </a:endParaRPr>
          </a:p>
        </p:txBody>
      </p:sp>
      <p:sp>
        <p:nvSpPr>
          <p:cNvPr id="107" name="Google Shape;107;p2"/>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3" descr="preencoded.png"/>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114" name="Google Shape;114;p3"/>
          <p:cNvSpPr/>
          <p:nvPr/>
        </p:nvSpPr>
        <p:spPr>
          <a:xfrm>
            <a:off x="793790" y="1956554"/>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About Fixly</a:t>
            </a:r>
            <a:endParaRPr sz="3900">
              <a:solidFill>
                <a:schemeClr val="dk1"/>
              </a:solidFill>
              <a:latin typeface="Calibri"/>
              <a:ea typeface="Calibri"/>
              <a:cs typeface="Calibri"/>
              <a:sym typeface="Calibri"/>
            </a:endParaRPr>
          </a:p>
        </p:txBody>
      </p:sp>
      <p:sp>
        <p:nvSpPr>
          <p:cNvPr id="115" name="Google Shape;115;p3"/>
          <p:cNvSpPr/>
          <p:nvPr/>
        </p:nvSpPr>
        <p:spPr>
          <a:xfrm>
            <a:off x="793800" y="2874328"/>
            <a:ext cx="7556400" cy="51567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Fixly is more than just a service provider platform; it's a bridge connecting customers with skilled professionals for various household and commercial needs. Its intuitive interface simplifies the process of discovering, booking, and managing services. With seamless appointment scheduling and integrated communication features, Fixly aims to make professional services accessible, trustworthy, and hassle-free for everyone.</a:t>
            </a:r>
            <a:endParaRPr sz="1550">
              <a:solidFill>
                <a:srgbClr val="161613"/>
              </a:solidFill>
              <a:latin typeface="Inter"/>
              <a:ea typeface="Inter"/>
              <a:cs typeface="Inter"/>
              <a:sym typeface="Inter"/>
            </a:endParaRPr>
          </a:p>
          <a:p>
            <a:pPr marL="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As a web-based platform, Fixly acts as a virtual marketplace, offering key features such as comprehensive service listings, secure transaction processing, real-time communication tools, service analytics, robust customer feedback mechanisms, and an engaging rewards program.</a:t>
            </a:r>
            <a:endParaRPr sz="1550">
              <a:solidFill>
                <a:schemeClr val="dk1"/>
              </a:solidFill>
              <a:latin typeface="Calibri"/>
              <a:ea typeface="Calibri"/>
              <a:cs typeface="Calibri"/>
              <a:sym typeface="Calibri"/>
            </a:endParaRPr>
          </a:p>
          <a:p>
            <a:pPr marL="0" marR="0" lvl="0" indent="0" algn="l" rtl="0">
              <a:lnSpc>
                <a:spcPct val="161290"/>
              </a:lnSpc>
              <a:spcBef>
                <a:spcPts val="0"/>
              </a:spcBef>
              <a:spcAft>
                <a:spcPts val="0"/>
              </a:spcAft>
              <a:buClr>
                <a:srgbClr val="161613"/>
              </a:buClr>
              <a:buSzPts val="1550"/>
              <a:buFont typeface="Inter"/>
              <a:buNone/>
            </a:pPr>
            <a:endParaRPr sz="1550">
              <a:solidFill>
                <a:srgbClr val="161613"/>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p:nvPr/>
        </p:nvSpPr>
        <p:spPr>
          <a:xfrm>
            <a:off x="793790" y="2064663"/>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Our Solution: Fixly</a:t>
            </a:r>
            <a:endParaRPr sz="3900">
              <a:solidFill>
                <a:schemeClr val="dk1"/>
              </a:solidFill>
              <a:latin typeface="Calibri"/>
              <a:ea typeface="Calibri"/>
              <a:cs typeface="Calibri"/>
              <a:sym typeface="Calibri"/>
            </a:endParaRPr>
          </a:p>
        </p:txBody>
      </p:sp>
      <p:sp>
        <p:nvSpPr>
          <p:cNvPr id="122" name="Google Shape;122;p4"/>
          <p:cNvSpPr/>
          <p:nvPr/>
        </p:nvSpPr>
        <p:spPr>
          <a:xfrm>
            <a:off x="793790" y="3180755"/>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For Customers</a:t>
            </a:r>
            <a:endParaRPr sz="1950">
              <a:solidFill>
                <a:schemeClr val="dk1"/>
              </a:solidFill>
              <a:latin typeface="Calibri"/>
              <a:ea typeface="Calibri"/>
              <a:cs typeface="Calibri"/>
              <a:sym typeface="Calibri"/>
            </a:endParaRPr>
          </a:p>
        </p:txBody>
      </p:sp>
      <p:sp>
        <p:nvSpPr>
          <p:cNvPr id="123" name="Google Shape;123;p4"/>
          <p:cNvSpPr/>
          <p:nvPr/>
        </p:nvSpPr>
        <p:spPr>
          <a:xfrm>
            <a:off x="793790" y="3689271"/>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Browse verified professionals with transparent pricing</a:t>
            </a:r>
            <a:endParaRPr sz="1550">
              <a:solidFill>
                <a:schemeClr val="dk1"/>
              </a:solidFill>
              <a:latin typeface="Calibri"/>
              <a:ea typeface="Calibri"/>
              <a:cs typeface="Calibri"/>
              <a:sym typeface="Calibri"/>
            </a:endParaRPr>
          </a:p>
        </p:txBody>
      </p:sp>
      <p:sp>
        <p:nvSpPr>
          <p:cNvPr id="124" name="Google Shape;124;p4"/>
          <p:cNvSpPr/>
          <p:nvPr/>
        </p:nvSpPr>
        <p:spPr>
          <a:xfrm>
            <a:off x="793790" y="4076224"/>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Book services seamlessly with real-time scheduling</a:t>
            </a:r>
            <a:endParaRPr sz="1550">
              <a:solidFill>
                <a:schemeClr val="dk1"/>
              </a:solidFill>
              <a:latin typeface="Calibri"/>
              <a:ea typeface="Calibri"/>
              <a:cs typeface="Calibri"/>
              <a:sym typeface="Calibri"/>
            </a:endParaRPr>
          </a:p>
        </p:txBody>
      </p:sp>
      <p:sp>
        <p:nvSpPr>
          <p:cNvPr id="125" name="Google Shape;125;p4"/>
          <p:cNvSpPr/>
          <p:nvPr/>
        </p:nvSpPr>
        <p:spPr>
          <a:xfrm>
            <a:off x="793790" y="4463177"/>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Make secure payments through trusted gateways</a:t>
            </a:r>
            <a:endParaRPr sz="1550">
              <a:solidFill>
                <a:schemeClr val="dk1"/>
              </a:solidFill>
              <a:latin typeface="Calibri"/>
              <a:ea typeface="Calibri"/>
              <a:cs typeface="Calibri"/>
              <a:sym typeface="Calibri"/>
            </a:endParaRPr>
          </a:p>
        </p:txBody>
      </p:sp>
      <p:sp>
        <p:nvSpPr>
          <p:cNvPr id="126" name="Google Shape;126;p4"/>
          <p:cNvSpPr/>
          <p:nvPr/>
        </p:nvSpPr>
        <p:spPr>
          <a:xfrm>
            <a:off x="793790" y="4850130"/>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Track service progress and communicate directly</a:t>
            </a:r>
            <a:endParaRPr sz="1550">
              <a:solidFill>
                <a:schemeClr val="dk1"/>
              </a:solidFill>
              <a:latin typeface="Calibri"/>
              <a:ea typeface="Calibri"/>
              <a:cs typeface="Calibri"/>
              <a:sym typeface="Calibri"/>
            </a:endParaRPr>
          </a:p>
        </p:txBody>
      </p:sp>
      <p:sp>
        <p:nvSpPr>
          <p:cNvPr id="127" name="Google Shape;127;p4"/>
          <p:cNvSpPr/>
          <p:nvPr/>
        </p:nvSpPr>
        <p:spPr>
          <a:xfrm>
            <a:off x="793790" y="5237083"/>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Rate providers and earn loyalty rewards</a:t>
            </a:r>
            <a:endParaRPr sz="1550">
              <a:solidFill>
                <a:schemeClr val="dk1"/>
              </a:solidFill>
              <a:latin typeface="Calibri"/>
              <a:ea typeface="Calibri"/>
              <a:cs typeface="Calibri"/>
              <a:sym typeface="Calibri"/>
            </a:endParaRPr>
          </a:p>
        </p:txBody>
      </p:sp>
      <p:sp>
        <p:nvSpPr>
          <p:cNvPr id="128" name="Google Shape;128;p4"/>
          <p:cNvSpPr/>
          <p:nvPr/>
        </p:nvSpPr>
        <p:spPr>
          <a:xfrm>
            <a:off x="7564874" y="3180755"/>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For Service Providers</a:t>
            </a:r>
            <a:endParaRPr sz="1950">
              <a:solidFill>
                <a:schemeClr val="dk1"/>
              </a:solidFill>
              <a:latin typeface="Calibri"/>
              <a:ea typeface="Calibri"/>
              <a:cs typeface="Calibri"/>
              <a:sym typeface="Calibri"/>
            </a:endParaRPr>
          </a:p>
        </p:txBody>
      </p:sp>
      <p:sp>
        <p:nvSpPr>
          <p:cNvPr id="129" name="Google Shape;129;p4"/>
          <p:cNvSpPr/>
          <p:nvPr/>
        </p:nvSpPr>
        <p:spPr>
          <a:xfrm>
            <a:off x="7564874" y="3689271"/>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Showcase services with detailed listings and pricing</a:t>
            </a:r>
            <a:endParaRPr sz="1550">
              <a:solidFill>
                <a:schemeClr val="dk1"/>
              </a:solidFill>
              <a:latin typeface="Calibri"/>
              <a:ea typeface="Calibri"/>
              <a:cs typeface="Calibri"/>
              <a:sym typeface="Calibri"/>
            </a:endParaRPr>
          </a:p>
        </p:txBody>
      </p:sp>
      <p:sp>
        <p:nvSpPr>
          <p:cNvPr id="130" name="Google Shape;130;p4"/>
          <p:cNvSpPr/>
          <p:nvPr/>
        </p:nvSpPr>
        <p:spPr>
          <a:xfrm>
            <a:off x="7564874" y="4076224"/>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Manage bookings and availability efficiently</a:t>
            </a:r>
            <a:endParaRPr sz="1550">
              <a:solidFill>
                <a:schemeClr val="dk1"/>
              </a:solidFill>
              <a:latin typeface="Calibri"/>
              <a:ea typeface="Calibri"/>
              <a:cs typeface="Calibri"/>
              <a:sym typeface="Calibri"/>
            </a:endParaRPr>
          </a:p>
        </p:txBody>
      </p:sp>
      <p:sp>
        <p:nvSpPr>
          <p:cNvPr id="131" name="Google Shape;131;p4"/>
          <p:cNvSpPr/>
          <p:nvPr/>
        </p:nvSpPr>
        <p:spPr>
          <a:xfrm>
            <a:off x="7564874" y="4463177"/>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Receive secure payments and track earnings</a:t>
            </a:r>
            <a:endParaRPr sz="1550">
              <a:solidFill>
                <a:schemeClr val="dk1"/>
              </a:solidFill>
              <a:latin typeface="Calibri"/>
              <a:ea typeface="Calibri"/>
              <a:cs typeface="Calibri"/>
              <a:sym typeface="Calibri"/>
            </a:endParaRPr>
          </a:p>
        </p:txBody>
      </p:sp>
      <p:sp>
        <p:nvSpPr>
          <p:cNvPr id="132" name="Google Shape;132;p4"/>
          <p:cNvSpPr/>
          <p:nvPr/>
        </p:nvSpPr>
        <p:spPr>
          <a:xfrm>
            <a:off x="7564874" y="4850130"/>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Access analytics to optimize business decisions</a:t>
            </a:r>
            <a:endParaRPr sz="1550">
              <a:solidFill>
                <a:schemeClr val="dk1"/>
              </a:solidFill>
              <a:latin typeface="Calibri"/>
              <a:ea typeface="Calibri"/>
              <a:cs typeface="Calibri"/>
              <a:sym typeface="Calibri"/>
            </a:endParaRPr>
          </a:p>
        </p:txBody>
      </p:sp>
      <p:sp>
        <p:nvSpPr>
          <p:cNvPr id="133" name="Google Shape;133;p4"/>
          <p:cNvSpPr/>
          <p:nvPr/>
        </p:nvSpPr>
        <p:spPr>
          <a:xfrm>
            <a:off x="7564874" y="5237083"/>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a:solidFill>
                  <a:srgbClr val="161613"/>
                </a:solidFill>
                <a:latin typeface="Inter"/>
                <a:ea typeface="Inter"/>
                <a:cs typeface="Inter"/>
                <a:sym typeface="Inter"/>
              </a:rPr>
              <a:t>Build trust through verified profiles and reviews</a:t>
            </a:r>
            <a:endParaRPr sz="1550">
              <a:solidFill>
                <a:schemeClr val="dk1"/>
              </a:solidFill>
              <a:latin typeface="Calibri"/>
              <a:ea typeface="Calibri"/>
              <a:cs typeface="Calibri"/>
              <a:sym typeface="Calibri"/>
            </a:endParaRPr>
          </a:p>
        </p:txBody>
      </p:sp>
      <p:sp>
        <p:nvSpPr>
          <p:cNvPr id="134" name="Google Shape;134;p4"/>
          <p:cNvSpPr/>
          <p:nvPr/>
        </p:nvSpPr>
        <p:spPr>
          <a:xfrm>
            <a:off x="793790" y="5847278"/>
            <a:ext cx="13042821"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Fixly bridges the gap by providing a unified platform where trust, transparency, and convenience meet professional services.</a:t>
            </a:r>
            <a:endParaRPr sz="1550">
              <a:solidFill>
                <a:schemeClr val="dk1"/>
              </a:solidFill>
              <a:latin typeface="Calibri"/>
              <a:ea typeface="Calibri"/>
              <a:cs typeface="Calibri"/>
              <a:sym typeface="Calibri"/>
            </a:endParaRPr>
          </a:p>
        </p:txBody>
      </p:sp>
      <p:sp>
        <p:nvSpPr>
          <p:cNvPr id="135" name="Google Shape;135;p4"/>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p:nvPr/>
        </p:nvSpPr>
        <p:spPr>
          <a:xfrm>
            <a:off x="793790" y="1728549"/>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Who Uses Fixly?</a:t>
            </a:r>
            <a:endParaRPr sz="3900">
              <a:solidFill>
                <a:schemeClr val="dk1"/>
              </a:solidFill>
              <a:latin typeface="Calibri"/>
              <a:ea typeface="Calibri"/>
              <a:cs typeface="Calibri"/>
              <a:sym typeface="Calibri"/>
            </a:endParaRPr>
          </a:p>
        </p:txBody>
      </p:sp>
      <p:sp>
        <p:nvSpPr>
          <p:cNvPr id="142" name="Google Shape;142;p5"/>
          <p:cNvSpPr/>
          <p:nvPr/>
        </p:nvSpPr>
        <p:spPr>
          <a:xfrm>
            <a:off x="793790" y="2745462"/>
            <a:ext cx="6422231" cy="1778556"/>
          </a:xfrm>
          <a:prstGeom prst="roundRect">
            <a:avLst>
              <a:gd name="adj" fmla="val 1674"/>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992148" y="2943820"/>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Households</a:t>
            </a:r>
            <a:endParaRPr sz="1950">
              <a:solidFill>
                <a:schemeClr val="dk1"/>
              </a:solidFill>
              <a:latin typeface="Calibri"/>
              <a:ea typeface="Calibri"/>
              <a:cs typeface="Calibri"/>
              <a:sym typeface="Calibri"/>
            </a:endParaRPr>
          </a:p>
        </p:txBody>
      </p:sp>
      <p:sp>
        <p:nvSpPr>
          <p:cNvPr id="144" name="Google Shape;144;p5"/>
          <p:cNvSpPr/>
          <p:nvPr/>
        </p:nvSpPr>
        <p:spPr>
          <a:xfrm>
            <a:off x="992148" y="3373041"/>
            <a:ext cx="6025515"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Individuals seeking reliable plumbing, electrical, cleaning, and repair services with transparent pricing and verified professionals.</a:t>
            </a:r>
            <a:endParaRPr sz="1550">
              <a:solidFill>
                <a:schemeClr val="dk1"/>
              </a:solidFill>
              <a:latin typeface="Calibri"/>
              <a:ea typeface="Calibri"/>
              <a:cs typeface="Calibri"/>
              <a:sym typeface="Calibri"/>
            </a:endParaRPr>
          </a:p>
        </p:txBody>
      </p:sp>
      <p:sp>
        <p:nvSpPr>
          <p:cNvPr id="145" name="Google Shape;145;p5"/>
          <p:cNvSpPr/>
          <p:nvPr/>
        </p:nvSpPr>
        <p:spPr>
          <a:xfrm>
            <a:off x="7414379" y="2745462"/>
            <a:ext cx="6422231" cy="1778556"/>
          </a:xfrm>
          <a:prstGeom prst="roundRect">
            <a:avLst>
              <a:gd name="adj" fmla="val 1674"/>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7612737" y="2943820"/>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Businesses</a:t>
            </a:r>
            <a:endParaRPr sz="1950">
              <a:solidFill>
                <a:schemeClr val="dk1"/>
              </a:solidFill>
              <a:latin typeface="Calibri"/>
              <a:ea typeface="Calibri"/>
              <a:cs typeface="Calibri"/>
              <a:sym typeface="Calibri"/>
            </a:endParaRPr>
          </a:p>
        </p:txBody>
      </p:sp>
      <p:sp>
        <p:nvSpPr>
          <p:cNvPr id="147" name="Google Shape;147;p5"/>
          <p:cNvSpPr/>
          <p:nvPr/>
        </p:nvSpPr>
        <p:spPr>
          <a:xfrm>
            <a:off x="7612737" y="3373041"/>
            <a:ext cx="6025515"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Companies needing regular maintenance, specialized support, or commercial services with flexible scheduling and payment options.</a:t>
            </a:r>
            <a:endParaRPr sz="1550">
              <a:solidFill>
                <a:schemeClr val="dk1"/>
              </a:solidFill>
              <a:latin typeface="Calibri"/>
              <a:ea typeface="Calibri"/>
              <a:cs typeface="Calibri"/>
              <a:sym typeface="Calibri"/>
            </a:endParaRPr>
          </a:p>
        </p:txBody>
      </p:sp>
      <p:sp>
        <p:nvSpPr>
          <p:cNvPr id="148" name="Google Shape;148;p5"/>
          <p:cNvSpPr/>
          <p:nvPr/>
        </p:nvSpPr>
        <p:spPr>
          <a:xfrm>
            <a:off x="793790" y="4722376"/>
            <a:ext cx="6422231" cy="1778556"/>
          </a:xfrm>
          <a:prstGeom prst="roundRect">
            <a:avLst>
              <a:gd name="adj" fmla="val 1674"/>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992148" y="4920734"/>
            <a:ext cx="2894052"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dirty="0">
                <a:solidFill>
                  <a:srgbClr val="161613"/>
                </a:solidFill>
                <a:latin typeface="DM Sans Medium"/>
                <a:ea typeface="DM Sans Medium"/>
                <a:cs typeface="DM Sans Medium"/>
                <a:sym typeface="DM Sans Medium"/>
              </a:rPr>
              <a:t>Service Professionals</a:t>
            </a:r>
            <a:endParaRPr sz="1950" dirty="0">
              <a:solidFill>
                <a:schemeClr val="dk1"/>
              </a:solidFill>
              <a:latin typeface="Calibri"/>
              <a:ea typeface="Calibri"/>
              <a:cs typeface="Calibri"/>
              <a:sym typeface="Calibri"/>
            </a:endParaRPr>
          </a:p>
        </p:txBody>
      </p:sp>
      <p:sp>
        <p:nvSpPr>
          <p:cNvPr id="150" name="Google Shape;150;p5"/>
          <p:cNvSpPr/>
          <p:nvPr/>
        </p:nvSpPr>
        <p:spPr>
          <a:xfrm>
            <a:off x="992148" y="5349954"/>
            <a:ext cx="6025515"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Skilled individuals and small businesses offering specialized services who want a platform to gain visibility and manage clients efficiently.</a:t>
            </a:r>
            <a:endParaRPr sz="1550">
              <a:solidFill>
                <a:schemeClr val="dk1"/>
              </a:solidFill>
              <a:latin typeface="Calibri"/>
              <a:ea typeface="Calibri"/>
              <a:cs typeface="Calibri"/>
              <a:sym typeface="Calibri"/>
            </a:endParaRPr>
          </a:p>
        </p:txBody>
      </p:sp>
      <p:sp>
        <p:nvSpPr>
          <p:cNvPr id="151" name="Google Shape;151;p5"/>
          <p:cNvSpPr/>
          <p:nvPr/>
        </p:nvSpPr>
        <p:spPr>
          <a:xfrm>
            <a:off x="7414379" y="4722376"/>
            <a:ext cx="6422231" cy="1778556"/>
          </a:xfrm>
          <a:prstGeom prst="roundRect">
            <a:avLst>
              <a:gd name="adj" fmla="val 1674"/>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7612737" y="4920734"/>
            <a:ext cx="3085743"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dirty="0">
                <a:solidFill>
                  <a:srgbClr val="161613"/>
                </a:solidFill>
                <a:latin typeface="DM Sans Medium"/>
                <a:ea typeface="DM Sans Medium"/>
                <a:cs typeface="DM Sans Medium"/>
                <a:sym typeface="DM Sans Medium"/>
              </a:rPr>
              <a:t>Platform Administrators</a:t>
            </a:r>
            <a:endParaRPr sz="1950" dirty="0">
              <a:solidFill>
                <a:schemeClr val="dk1"/>
              </a:solidFill>
              <a:latin typeface="Calibri"/>
              <a:ea typeface="Calibri"/>
              <a:cs typeface="Calibri"/>
              <a:sym typeface="Calibri"/>
            </a:endParaRPr>
          </a:p>
        </p:txBody>
      </p:sp>
      <p:sp>
        <p:nvSpPr>
          <p:cNvPr id="153" name="Google Shape;153;p5"/>
          <p:cNvSpPr/>
          <p:nvPr/>
        </p:nvSpPr>
        <p:spPr>
          <a:xfrm>
            <a:off x="7612737" y="5349954"/>
            <a:ext cx="6025515"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Fixly team members managing users, disputes, quality standards, and platform health to ensure a trustworthy ecosystem.</a:t>
            </a:r>
            <a:endParaRPr sz="1550">
              <a:solidFill>
                <a:schemeClr val="dk1"/>
              </a:solidFill>
              <a:latin typeface="Calibri"/>
              <a:ea typeface="Calibri"/>
              <a:cs typeface="Calibri"/>
              <a:sym typeface="Calibri"/>
            </a:endParaRPr>
          </a:p>
        </p:txBody>
      </p:sp>
      <p:sp>
        <p:nvSpPr>
          <p:cNvPr id="154" name="Google Shape;154;p5"/>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p:nvPr/>
        </p:nvSpPr>
        <p:spPr>
          <a:xfrm>
            <a:off x="759372" y="658425"/>
            <a:ext cx="8913900" cy="534000"/>
          </a:xfrm>
          <a:prstGeom prst="rect">
            <a:avLst/>
          </a:prstGeom>
          <a:noFill/>
          <a:ln>
            <a:noFill/>
          </a:ln>
        </p:spPr>
        <p:txBody>
          <a:bodyPr spcFirstLastPara="1" wrap="square" lIns="0" tIns="0" rIns="0" bIns="0" anchor="t" anchorCtr="0">
            <a:noAutofit/>
          </a:bodyPr>
          <a:lstStyle/>
          <a:p>
            <a:pPr marL="0" marR="0" lvl="0" indent="0" algn="l" rtl="0">
              <a:lnSpc>
                <a:spcPct val="125373"/>
              </a:lnSpc>
              <a:spcBef>
                <a:spcPts val="0"/>
              </a:spcBef>
              <a:spcAft>
                <a:spcPts val="0"/>
              </a:spcAft>
              <a:buClr>
                <a:srgbClr val="161613"/>
              </a:buClr>
              <a:buSzPts val="3350"/>
              <a:buFont typeface="DM Sans Medium"/>
              <a:buNone/>
            </a:pPr>
            <a:r>
              <a:rPr lang="en-US" sz="3350">
                <a:solidFill>
                  <a:srgbClr val="161613"/>
                </a:solidFill>
                <a:latin typeface="DM Sans Medium"/>
                <a:ea typeface="DM Sans Medium"/>
                <a:cs typeface="DM Sans Medium"/>
                <a:sym typeface="DM Sans Medium"/>
              </a:rPr>
              <a:t>Core Features &amp; Capabilities</a:t>
            </a:r>
            <a:endParaRPr sz="3350">
              <a:solidFill>
                <a:schemeClr val="dk1"/>
              </a:solidFill>
              <a:latin typeface="Calibri"/>
              <a:ea typeface="Calibri"/>
              <a:cs typeface="Calibri"/>
              <a:sym typeface="Calibri"/>
            </a:endParaRPr>
          </a:p>
        </p:txBody>
      </p:sp>
      <p:sp>
        <p:nvSpPr>
          <p:cNvPr id="161" name="Google Shape;161;p6"/>
          <p:cNvSpPr/>
          <p:nvPr/>
        </p:nvSpPr>
        <p:spPr>
          <a:xfrm>
            <a:off x="759381" y="1534120"/>
            <a:ext cx="170855" cy="213479"/>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DM Sans Light"/>
              <a:buNone/>
            </a:pPr>
            <a:r>
              <a:rPr lang="en-US" sz="1300">
                <a:solidFill>
                  <a:srgbClr val="161613"/>
                </a:solidFill>
                <a:latin typeface="DM Sans Light"/>
                <a:ea typeface="DM Sans Light"/>
                <a:cs typeface="DM Sans Light"/>
                <a:sym typeface="DM Sans Light"/>
              </a:rPr>
              <a:t>01</a:t>
            </a:r>
            <a:endParaRPr sz="1300">
              <a:solidFill>
                <a:schemeClr val="dk1"/>
              </a:solidFill>
              <a:latin typeface="Calibri"/>
              <a:ea typeface="Calibri"/>
              <a:cs typeface="Calibri"/>
              <a:sym typeface="Calibri"/>
            </a:endParaRPr>
          </a:p>
        </p:txBody>
      </p:sp>
      <p:sp>
        <p:nvSpPr>
          <p:cNvPr id="162" name="Google Shape;162;p6"/>
          <p:cNvSpPr/>
          <p:nvPr/>
        </p:nvSpPr>
        <p:spPr>
          <a:xfrm>
            <a:off x="759381" y="1801535"/>
            <a:ext cx="6470332" cy="22860"/>
          </a:xfrm>
          <a:prstGeom prst="rect">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a:off x="759381" y="1932623"/>
            <a:ext cx="2261830" cy="266938"/>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161613"/>
              </a:buClr>
              <a:buSzPts val="1650"/>
              <a:buFont typeface="DM Sans Medium"/>
              <a:buNone/>
            </a:pPr>
            <a:r>
              <a:rPr lang="en-US" sz="1650">
                <a:solidFill>
                  <a:srgbClr val="161613"/>
                </a:solidFill>
                <a:latin typeface="DM Sans Medium"/>
                <a:ea typeface="DM Sans Medium"/>
                <a:cs typeface="DM Sans Medium"/>
                <a:sym typeface="DM Sans Medium"/>
              </a:rPr>
              <a:t>Smart Booking System</a:t>
            </a:r>
            <a:endParaRPr sz="1650">
              <a:solidFill>
                <a:schemeClr val="dk1"/>
              </a:solidFill>
              <a:latin typeface="Calibri"/>
              <a:ea typeface="Calibri"/>
              <a:cs typeface="Calibri"/>
              <a:sym typeface="Calibri"/>
            </a:endParaRPr>
          </a:p>
        </p:txBody>
      </p:sp>
      <p:sp>
        <p:nvSpPr>
          <p:cNvPr id="164" name="Google Shape;164;p6"/>
          <p:cNvSpPr/>
          <p:nvPr/>
        </p:nvSpPr>
        <p:spPr>
          <a:xfrm>
            <a:off x="759381" y="2302073"/>
            <a:ext cx="6470332" cy="109347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Customers browse providers by category and location, select time slots, and confirm bookings instantly. Providers receive notifications and accept or reject based on availability. Both parties stay updated with real-time status changes and automated reminders.</a:t>
            </a:r>
            <a:endParaRPr sz="1300">
              <a:solidFill>
                <a:schemeClr val="dk1"/>
              </a:solidFill>
              <a:latin typeface="Calibri"/>
              <a:ea typeface="Calibri"/>
              <a:cs typeface="Calibri"/>
              <a:sym typeface="Calibri"/>
            </a:endParaRPr>
          </a:p>
        </p:txBody>
      </p:sp>
      <p:sp>
        <p:nvSpPr>
          <p:cNvPr id="165" name="Google Shape;165;p6"/>
          <p:cNvSpPr/>
          <p:nvPr/>
        </p:nvSpPr>
        <p:spPr>
          <a:xfrm>
            <a:off x="7400581" y="1534124"/>
            <a:ext cx="308100" cy="21360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DM Sans Light"/>
              <a:buNone/>
            </a:pPr>
            <a:r>
              <a:rPr lang="en-US" sz="1300">
                <a:solidFill>
                  <a:srgbClr val="161613"/>
                </a:solidFill>
                <a:latin typeface="DM Sans Light"/>
                <a:ea typeface="DM Sans Light"/>
                <a:cs typeface="DM Sans Light"/>
                <a:sym typeface="DM Sans Light"/>
              </a:rPr>
              <a:t>02</a:t>
            </a:r>
            <a:endParaRPr sz="1300">
              <a:solidFill>
                <a:schemeClr val="dk1"/>
              </a:solidFill>
              <a:latin typeface="Calibri"/>
              <a:ea typeface="Calibri"/>
              <a:cs typeface="Calibri"/>
              <a:sym typeface="Calibri"/>
            </a:endParaRPr>
          </a:p>
        </p:txBody>
      </p:sp>
      <p:sp>
        <p:nvSpPr>
          <p:cNvPr id="166" name="Google Shape;166;p6"/>
          <p:cNvSpPr/>
          <p:nvPr/>
        </p:nvSpPr>
        <p:spPr>
          <a:xfrm>
            <a:off x="7400568" y="1801535"/>
            <a:ext cx="6470452" cy="22860"/>
          </a:xfrm>
          <a:prstGeom prst="rect">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a:off x="7400568" y="1932623"/>
            <a:ext cx="2795588" cy="266938"/>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161613"/>
              </a:buClr>
              <a:buSzPts val="1650"/>
              <a:buFont typeface="DM Sans Medium"/>
              <a:buNone/>
            </a:pPr>
            <a:r>
              <a:rPr lang="en-US" sz="1650">
                <a:solidFill>
                  <a:srgbClr val="161613"/>
                </a:solidFill>
                <a:latin typeface="DM Sans Medium"/>
                <a:ea typeface="DM Sans Medium"/>
                <a:cs typeface="DM Sans Medium"/>
                <a:sym typeface="DM Sans Medium"/>
              </a:rPr>
              <a:t>Secure Payment Processing</a:t>
            </a:r>
            <a:endParaRPr sz="1650">
              <a:solidFill>
                <a:schemeClr val="dk1"/>
              </a:solidFill>
              <a:latin typeface="Calibri"/>
              <a:ea typeface="Calibri"/>
              <a:cs typeface="Calibri"/>
              <a:sym typeface="Calibri"/>
            </a:endParaRPr>
          </a:p>
        </p:txBody>
      </p:sp>
      <p:sp>
        <p:nvSpPr>
          <p:cNvPr id="168" name="Google Shape;168;p6"/>
          <p:cNvSpPr/>
          <p:nvPr/>
        </p:nvSpPr>
        <p:spPr>
          <a:xfrm>
            <a:off x="7400568" y="2302073"/>
            <a:ext cx="6470452" cy="109347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Razorpay integration handles multiple payment methods: UPI, credit/debit cards, and digital wallets. Automatic commission calculations ensure transparency. Payment receipts and full transaction history are available to both parties for complete traceability.</a:t>
            </a:r>
            <a:endParaRPr sz="1300">
              <a:solidFill>
                <a:schemeClr val="dk1"/>
              </a:solidFill>
              <a:latin typeface="Calibri"/>
              <a:ea typeface="Calibri"/>
              <a:cs typeface="Calibri"/>
              <a:sym typeface="Calibri"/>
            </a:endParaRPr>
          </a:p>
        </p:txBody>
      </p:sp>
      <p:sp>
        <p:nvSpPr>
          <p:cNvPr id="169" name="Google Shape;169;p6"/>
          <p:cNvSpPr/>
          <p:nvPr/>
        </p:nvSpPr>
        <p:spPr>
          <a:xfrm>
            <a:off x="759364" y="3694500"/>
            <a:ext cx="497700" cy="21360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DM Sans Light"/>
              <a:buNone/>
            </a:pPr>
            <a:r>
              <a:rPr lang="en-US" sz="1300">
                <a:solidFill>
                  <a:srgbClr val="161613"/>
                </a:solidFill>
                <a:latin typeface="DM Sans Light"/>
                <a:ea typeface="DM Sans Light"/>
                <a:cs typeface="DM Sans Light"/>
                <a:sym typeface="DM Sans Light"/>
              </a:rPr>
              <a:t>03</a:t>
            </a:r>
            <a:endParaRPr sz="1300">
              <a:solidFill>
                <a:schemeClr val="dk1"/>
              </a:solidFill>
              <a:latin typeface="Calibri"/>
              <a:ea typeface="Calibri"/>
              <a:cs typeface="Calibri"/>
              <a:sym typeface="Calibri"/>
            </a:endParaRPr>
          </a:p>
        </p:txBody>
      </p:sp>
      <p:sp>
        <p:nvSpPr>
          <p:cNvPr id="170" name="Google Shape;170;p6"/>
          <p:cNvSpPr/>
          <p:nvPr/>
        </p:nvSpPr>
        <p:spPr>
          <a:xfrm>
            <a:off x="759381" y="3961924"/>
            <a:ext cx="6470332" cy="22860"/>
          </a:xfrm>
          <a:prstGeom prst="rect">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6"/>
          <p:cNvSpPr/>
          <p:nvPr/>
        </p:nvSpPr>
        <p:spPr>
          <a:xfrm>
            <a:off x="759381" y="4093012"/>
            <a:ext cx="2135862" cy="266938"/>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161613"/>
              </a:buClr>
              <a:buSzPts val="1650"/>
              <a:buFont typeface="DM Sans Medium"/>
              <a:buNone/>
            </a:pPr>
            <a:r>
              <a:rPr lang="en-US" sz="1650">
                <a:solidFill>
                  <a:srgbClr val="161613"/>
                </a:solidFill>
                <a:latin typeface="DM Sans Medium"/>
                <a:ea typeface="DM Sans Medium"/>
                <a:cs typeface="DM Sans Medium"/>
                <a:sym typeface="DM Sans Medium"/>
              </a:rPr>
              <a:t>Trust &amp; Verification</a:t>
            </a:r>
            <a:endParaRPr sz="1650">
              <a:solidFill>
                <a:schemeClr val="dk1"/>
              </a:solidFill>
              <a:latin typeface="Calibri"/>
              <a:ea typeface="Calibri"/>
              <a:cs typeface="Calibri"/>
              <a:sym typeface="Calibri"/>
            </a:endParaRPr>
          </a:p>
        </p:txBody>
      </p:sp>
      <p:sp>
        <p:nvSpPr>
          <p:cNvPr id="172" name="Google Shape;172;p6"/>
          <p:cNvSpPr/>
          <p:nvPr/>
        </p:nvSpPr>
        <p:spPr>
          <a:xfrm>
            <a:off x="759381" y="4462463"/>
            <a:ext cx="6470332" cy="109347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Providers undergo identity and document verification before listing services. Verified badges build customer confidence. Automated rating systems and review monitoring prevent fraud while highlighting top-performing professionals on the platform.</a:t>
            </a:r>
            <a:endParaRPr sz="1300">
              <a:solidFill>
                <a:schemeClr val="dk1"/>
              </a:solidFill>
              <a:latin typeface="Calibri"/>
              <a:ea typeface="Calibri"/>
              <a:cs typeface="Calibri"/>
              <a:sym typeface="Calibri"/>
            </a:endParaRPr>
          </a:p>
        </p:txBody>
      </p:sp>
      <p:sp>
        <p:nvSpPr>
          <p:cNvPr id="173" name="Google Shape;173;p6"/>
          <p:cNvSpPr/>
          <p:nvPr/>
        </p:nvSpPr>
        <p:spPr>
          <a:xfrm>
            <a:off x="7400583" y="3694501"/>
            <a:ext cx="308100" cy="21360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DM Sans Light"/>
              <a:buNone/>
            </a:pPr>
            <a:r>
              <a:rPr lang="en-US" sz="1300">
                <a:solidFill>
                  <a:srgbClr val="161613"/>
                </a:solidFill>
                <a:latin typeface="DM Sans Light"/>
                <a:ea typeface="DM Sans Light"/>
                <a:cs typeface="DM Sans Light"/>
                <a:sym typeface="DM Sans Light"/>
              </a:rPr>
              <a:t>04</a:t>
            </a:r>
            <a:endParaRPr sz="1300">
              <a:solidFill>
                <a:schemeClr val="dk1"/>
              </a:solidFill>
              <a:latin typeface="Calibri"/>
              <a:ea typeface="Calibri"/>
              <a:cs typeface="Calibri"/>
              <a:sym typeface="Calibri"/>
            </a:endParaRPr>
          </a:p>
        </p:txBody>
      </p:sp>
      <p:sp>
        <p:nvSpPr>
          <p:cNvPr id="174" name="Google Shape;174;p6"/>
          <p:cNvSpPr/>
          <p:nvPr/>
        </p:nvSpPr>
        <p:spPr>
          <a:xfrm>
            <a:off x="7400568" y="3961924"/>
            <a:ext cx="6470452" cy="22860"/>
          </a:xfrm>
          <a:prstGeom prst="rect">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p:nvPr/>
        </p:nvSpPr>
        <p:spPr>
          <a:xfrm>
            <a:off x="7400568" y="4093012"/>
            <a:ext cx="2678311" cy="266938"/>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161613"/>
              </a:buClr>
              <a:buSzPts val="1650"/>
              <a:buFont typeface="DM Sans Medium"/>
              <a:buNone/>
            </a:pPr>
            <a:r>
              <a:rPr lang="en-US" sz="1650">
                <a:solidFill>
                  <a:srgbClr val="161613"/>
                </a:solidFill>
                <a:latin typeface="DM Sans Medium"/>
                <a:ea typeface="DM Sans Medium"/>
                <a:cs typeface="DM Sans Medium"/>
                <a:sym typeface="DM Sans Medium"/>
              </a:rPr>
              <a:t>Real-Time Communication</a:t>
            </a:r>
            <a:endParaRPr sz="1650">
              <a:solidFill>
                <a:schemeClr val="dk1"/>
              </a:solidFill>
              <a:latin typeface="Calibri"/>
              <a:ea typeface="Calibri"/>
              <a:cs typeface="Calibri"/>
              <a:sym typeface="Calibri"/>
            </a:endParaRPr>
          </a:p>
        </p:txBody>
      </p:sp>
      <p:sp>
        <p:nvSpPr>
          <p:cNvPr id="176" name="Google Shape;176;p6"/>
          <p:cNvSpPr/>
          <p:nvPr/>
        </p:nvSpPr>
        <p:spPr>
          <a:xfrm>
            <a:off x="7400568" y="4462463"/>
            <a:ext cx="6470452" cy="820103"/>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Direct messaging between customers and providers enables quick coordination and problem-solving. Email and in-app notifications keep users informed about bookings, payments, and status updates without delays or confusion.</a:t>
            </a:r>
            <a:endParaRPr sz="1300">
              <a:solidFill>
                <a:schemeClr val="dk1"/>
              </a:solidFill>
              <a:latin typeface="Calibri"/>
              <a:ea typeface="Calibri"/>
              <a:cs typeface="Calibri"/>
              <a:sym typeface="Calibri"/>
            </a:endParaRPr>
          </a:p>
        </p:txBody>
      </p:sp>
      <p:sp>
        <p:nvSpPr>
          <p:cNvPr id="177" name="Google Shape;177;p6"/>
          <p:cNvSpPr/>
          <p:nvPr/>
        </p:nvSpPr>
        <p:spPr>
          <a:xfrm>
            <a:off x="759368" y="5854901"/>
            <a:ext cx="308100" cy="26700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DM Sans Light"/>
              <a:buNone/>
            </a:pPr>
            <a:r>
              <a:rPr lang="en-US" sz="1300">
                <a:solidFill>
                  <a:srgbClr val="161613"/>
                </a:solidFill>
                <a:latin typeface="DM Sans Light"/>
                <a:ea typeface="DM Sans Light"/>
                <a:cs typeface="DM Sans Light"/>
                <a:sym typeface="DM Sans Light"/>
              </a:rPr>
              <a:t>05</a:t>
            </a:r>
            <a:endParaRPr sz="1300">
              <a:solidFill>
                <a:schemeClr val="dk1"/>
              </a:solidFill>
              <a:latin typeface="Calibri"/>
              <a:ea typeface="Calibri"/>
              <a:cs typeface="Calibri"/>
              <a:sym typeface="Calibri"/>
            </a:endParaRPr>
          </a:p>
        </p:txBody>
      </p:sp>
      <p:sp>
        <p:nvSpPr>
          <p:cNvPr id="178" name="Google Shape;178;p6"/>
          <p:cNvSpPr/>
          <p:nvPr/>
        </p:nvSpPr>
        <p:spPr>
          <a:xfrm>
            <a:off x="759381" y="6122313"/>
            <a:ext cx="6470332" cy="22860"/>
          </a:xfrm>
          <a:prstGeom prst="rect">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6"/>
          <p:cNvSpPr/>
          <p:nvPr/>
        </p:nvSpPr>
        <p:spPr>
          <a:xfrm>
            <a:off x="759381" y="6253401"/>
            <a:ext cx="2135862" cy="266938"/>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161613"/>
              </a:buClr>
              <a:buSzPts val="1650"/>
              <a:buFont typeface="DM Sans Medium"/>
              <a:buNone/>
            </a:pPr>
            <a:r>
              <a:rPr lang="en-US" sz="1650">
                <a:solidFill>
                  <a:srgbClr val="161613"/>
                </a:solidFill>
                <a:latin typeface="DM Sans Medium"/>
                <a:ea typeface="DM Sans Medium"/>
                <a:cs typeface="DM Sans Medium"/>
                <a:sym typeface="DM Sans Medium"/>
              </a:rPr>
              <a:t>Loyalty &amp; Rewards</a:t>
            </a:r>
            <a:endParaRPr sz="1650">
              <a:solidFill>
                <a:schemeClr val="dk1"/>
              </a:solidFill>
              <a:latin typeface="Calibri"/>
              <a:ea typeface="Calibri"/>
              <a:cs typeface="Calibri"/>
              <a:sym typeface="Calibri"/>
            </a:endParaRPr>
          </a:p>
        </p:txBody>
      </p:sp>
      <p:sp>
        <p:nvSpPr>
          <p:cNvPr id="180" name="Google Shape;180;p6"/>
          <p:cNvSpPr/>
          <p:nvPr/>
        </p:nvSpPr>
        <p:spPr>
          <a:xfrm>
            <a:off x="759381" y="6622852"/>
            <a:ext cx="6470332" cy="820103"/>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Customers earn points through bookings, referrals, and positive reviews. Points are redeemable for discounts on future services, encouraging repeat business and long-term platform engagement.</a:t>
            </a:r>
            <a:endParaRPr sz="1300">
              <a:solidFill>
                <a:schemeClr val="dk1"/>
              </a:solidFill>
              <a:latin typeface="Calibri"/>
              <a:ea typeface="Calibri"/>
              <a:cs typeface="Calibri"/>
              <a:sym typeface="Calibri"/>
            </a:endParaRPr>
          </a:p>
        </p:txBody>
      </p:sp>
      <p:sp>
        <p:nvSpPr>
          <p:cNvPr id="181" name="Google Shape;181;p6"/>
          <p:cNvSpPr/>
          <p:nvPr/>
        </p:nvSpPr>
        <p:spPr>
          <a:xfrm>
            <a:off x="7400587" y="5854899"/>
            <a:ext cx="497700" cy="156900"/>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DM Sans Light"/>
              <a:buNone/>
            </a:pPr>
            <a:r>
              <a:rPr lang="en-US" sz="1300">
                <a:solidFill>
                  <a:srgbClr val="161613"/>
                </a:solidFill>
                <a:latin typeface="DM Sans Light"/>
                <a:ea typeface="DM Sans Light"/>
                <a:cs typeface="DM Sans Light"/>
                <a:sym typeface="DM Sans Light"/>
              </a:rPr>
              <a:t>06</a:t>
            </a:r>
            <a:endParaRPr sz="1300">
              <a:solidFill>
                <a:schemeClr val="dk1"/>
              </a:solidFill>
              <a:latin typeface="Calibri"/>
              <a:ea typeface="Calibri"/>
              <a:cs typeface="Calibri"/>
              <a:sym typeface="Calibri"/>
            </a:endParaRPr>
          </a:p>
        </p:txBody>
      </p:sp>
      <p:sp>
        <p:nvSpPr>
          <p:cNvPr id="182" name="Google Shape;182;p6"/>
          <p:cNvSpPr/>
          <p:nvPr/>
        </p:nvSpPr>
        <p:spPr>
          <a:xfrm>
            <a:off x="7400568" y="6122313"/>
            <a:ext cx="6470452" cy="22860"/>
          </a:xfrm>
          <a:prstGeom prst="rect">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a:off x="7400568" y="6253401"/>
            <a:ext cx="2135862" cy="266938"/>
          </a:xfrm>
          <a:prstGeom prst="rect">
            <a:avLst/>
          </a:prstGeom>
          <a:noFill/>
          <a:ln>
            <a:noFill/>
          </a:ln>
        </p:spPr>
        <p:txBody>
          <a:bodyPr spcFirstLastPara="1" wrap="square" lIns="0" tIns="0" rIns="0" bIns="0" anchor="t" anchorCtr="0">
            <a:noAutofit/>
          </a:bodyPr>
          <a:lstStyle/>
          <a:p>
            <a:pPr marL="0" marR="0" lvl="0" indent="0" algn="l" rtl="0">
              <a:lnSpc>
                <a:spcPct val="127272"/>
              </a:lnSpc>
              <a:spcBef>
                <a:spcPts val="0"/>
              </a:spcBef>
              <a:spcAft>
                <a:spcPts val="0"/>
              </a:spcAft>
              <a:buClr>
                <a:srgbClr val="161613"/>
              </a:buClr>
              <a:buSzPts val="1650"/>
              <a:buFont typeface="DM Sans Medium"/>
              <a:buNone/>
            </a:pPr>
            <a:r>
              <a:rPr lang="en-US" sz="1650">
                <a:solidFill>
                  <a:srgbClr val="161613"/>
                </a:solidFill>
                <a:latin typeface="DM Sans Medium"/>
                <a:ea typeface="DM Sans Medium"/>
                <a:cs typeface="DM Sans Medium"/>
                <a:sym typeface="DM Sans Medium"/>
              </a:rPr>
              <a:t>Business Analytics</a:t>
            </a:r>
            <a:endParaRPr sz="1650">
              <a:solidFill>
                <a:schemeClr val="dk1"/>
              </a:solidFill>
              <a:latin typeface="Calibri"/>
              <a:ea typeface="Calibri"/>
              <a:cs typeface="Calibri"/>
              <a:sym typeface="Calibri"/>
            </a:endParaRPr>
          </a:p>
        </p:txBody>
      </p:sp>
      <p:sp>
        <p:nvSpPr>
          <p:cNvPr id="184" name="Google Shape;184;p6"/>
          <p:cNvSpPr/>
          <p:nvPr/>
        </p:nvSpPr>
        <p:spPr>
          <a:xfrm>
            <a:off x="7400568" y="6622852"/>
            <a:ext cx="6470452" cy="820103"/>
          </a:xfrm>
          <a:prstGeom prst="rect">
            <a:avLst/>
          </a:prstGeom>
          <a:noFill/>
          <a:ln>
            <a:noFill/>
          </a:ln>
        </p:spPr>
        <p:txBody>
          <a:bodyPr spcFirstLastPara="1" wrap="square" lIns="0" tIns="0" rIns="0" bIns="0" anchor="t" anchorCtr="0">
            <a:noAutofit/>
          </a:bodyPr>
          <a:lstStyle/>
          <a:p>
            <a:pPr marL="0" marR="0" lvl="0" indent="0" algn="l" rtl="0">
              <a:lnSpc>
                <a:spcPct val="165384"/>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Providers access dashboards showing revenue trends, customer ratings, booking patterns, and growth insights. Administrators monitor platform-wide metrics including total earnings, active users, and system performance.</a:t>
            </a:r>
            <a:endParaRPr sz="1300">
              <a:solidFill>
                <a:schemeClr val="dk1"/>
              </a:solidFill>
              <a:latin typeface="Calibri"/>
              <a:ea typeface="Calibri"/>
              <a:cs typeface="Calibri"/>
              <a:sym typeface="Calibri"/>
            </a:endParaRPr>
          </a:p>
        </p:txBody>
      </p:sp>
      <p:sp>
        <p:nvSpPr>
          <p:cNvPr id="185" name="Google Shape;185;p6"/>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7"/>
          <p:cNvSpPr/>
          <p:nvPr/>
        </p:nvSpPr>
        <p:spPr>
          <a:xfrm>
            <a:off x="793790" y="712113"/>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Technology Stack</a:t>
            </a:r>
            <a:endParaRPr sz="3900">
              <a:solidFill>
                <a:schemeClr val="dk1"/>
              </a:solidFill>
              <a:latin typeface="Calibri"/>
              <a:ea typeface="Calibri"/>
              <a:cs typeface="Calibri"/>
              <a:sym typeface="Calibri"/>
            </a:endParaRPr>
          </a:p>
        </p:txBody>
      </p:sp>
      <p:sp>
        <p:nvSpPr>
          <p:cNvPr id="192" name="Google Shape;192;p7"/>
          <p:cNvSpPr/>
          <p:nvPr/>
        </p:nvSpPr>
        <p:spPr>
          <a:xfrm>
            <a:off x="793790" y="1729026"/>
            <a:ext cx="13042821" cy="5788462"/>
          </a:xfrm>
          <a:prstGeom prst="roundRect">
            <a:avLst>
              <a:gd name="adj" fmla="val 514"/>
            </a:avLst>
          </a:prstGeom>
          <a:noFill/>
          <a:ln w="9525" cap="flat" cmpd="sng">
            <a:solidFill>
              <a:srgbClr val="000000">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7"/>
          <p:cNvSpPr/>
          <p:nvPr/>
        </p:nvSpPr>
        <p:spPr>
          <a:xfrm>
            <a:off x="801410" y="1736646"/>
            <a:ext cx="13027581" cy="570905"/>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7"/>
          <p:cNvSpPr/>
          <p:nvPr/>
        </p:nvSpPr>
        <p:spPr>
          <a:xfrm>
            <a:off x="999887" y="1863328"/>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Layer</a:t>
            </a:r>
            <a:endParaRPr sz="1550">
              <a:solidFill>
                <a:schemeClr val="dk1"/>
              </a:solidFill>
              <a:latin typeface="Calibri"/>
              <a:ea typeface="Calibri"/>
              <a:cs typeface="Calibri"/>
              <a:sym typeface="Calibri"/>
            </a:endParaRPr>
          </a:p>
        </p:txBody>
      </p:sp>
      <p:sp>
        <p:nvSpPr>
          <p:cNvPr id="195" name="Google Shape;195;p7"/>
          <p:cNvSpPr/>
          <p:nvPr/>
        </p:nvSpPr>
        <p:spPr>
          <a:xfrm>
            <a:off x="4260533" y="1863328"/>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Technologies</a:t>
            </a:r>
            <a:endParaRPr sz="1550">
              <a:solidFill>
                <a:schemeClr val="dk1"/>
              </a:solidFill>
              <a:latin typeface="Calibri"/>
              <a:ea typeface="Calibri"/>
              <a:cs typeface="Calibri"/>
              <a:sym typeface="Calibri"/>
            </a:endParaRPr>
          </a:p>
        </p:txBody>
      </p:sp>
      <p:sp>
        <p:nvSpPr>
          <p:cNvPr id="196" name="Google Shape;196;p7"/>
          <p:cNvSpPr/>
          <p:nvPr/>
        </p:nvSpPr>
        <p:spPr>
          <a:xfrm>
            <a:off x="801410" y="2307550"/>
            <a:ext cx="13027581" cy="888444"/>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7"/>
          <p:cNvSpPr/>
          <p:nvPr/>
        </p:nvSpPr>
        <p:spPr>
          <a:xfrm>
            <a:off x="999887" y="2434233"/>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Frontend</a:t>
            </a:r>
            <a:endParaRPr sz="1550">
              <a:solidFill>
                <a:schemeClr val="dk1"/>
              </a:solidFill>
              <a:latin typeface="Calibri"/>
              <a:ea typeface="Calibri"/>
              <a:cs typeface="Calibri"/>
              <a:sym typeface="Calibri"/>
            </a:endParaRPr>
          </a:p>
        </p:txBody>
      </p:sp>
      <p:sp>
        <p:nvSpPr>
          <p:cNvPr id="198" name="Google Shape;198;p7"/>
          <p:cNvSpPr/>
          <p:nvPr/>
        </p:nvSpPr>
        <p:spPr>
          <a:xfrm>
            <a:off x="4260533" y="2434233"/>
            <a:ext cx="9370100"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ReactJS, HTML5, Tailwind CSS, JavaScript - delivering responsive, intuitive user interfaces across all devices</a:t>
            </a:r>
            <a:endParaRPr sz="1550">
              <a:solidFill>
                <a:schemeClr val="dk1"/>
              </a:solidFill>
              <a:latin typeface="Calibri"/>
              <a:ea typeface="Calibri"/>
              <a:cs typeface="Calibri"/>
              <a:sym typeface="Calibri"/>
            </a:endParaRPr>
          </a:p>
        </p:txBody>
      </p:sp>
      <p:sp>
        <p:nvSpPr>
          <p:cNvPr id="199" name="Google Shape;199;p7"/>
          <p:cNvSpPr/>
          <p:nvPr/>
        </p:nvSpPr>
        <p:spPr>
          <a:xfrm>
            <a:off x="801410" y="3195995"/>
            <a:ext cx="13027581" cy="570905"/>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999887" y="3322677"/>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Backend</a:t>
            </a:r>
            <a:endParaRPr sz="1550">
              <a:solidFill>
                <a:schemeClr val="dk1"/>
              </a:solidFill>
              <a:latin typeface="Calibri"/>
              <a:ea typeface="Calibri"/>
              <a:cs typeface="Calibri"/>
              <a:sym typeface="Calibri"/>
            </a:endParaRPr>
          </a:p>
        </p:txBody>
      </p:sp>
      <p:sp>
        <p:nvSpPr>
          <p:cNvPr id="201" name="Google Shape;201;p7"/>
          <p:cNvSpPr/>
          <p:nvPr/>
        </p:nvSpPr>
        <p:spPr>
          <a:xfrm>
            <a:off x="4260533" y="3322677"/>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Node.js with </a:t>
            </a:r>
            <a:r>
              <a:rPr lang="en-US" sz="1550">
                <a:solidFill>
                  <a:schemeClr val="dk1"/>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Express.j</a:t>
            </a:r>
            <a:r>
              <a:rPr lang="en-US" sz="1550">
                <a:solidFill>
                  <a:schemeClr val="dk1"/>
                </a:solidFill>
                <a:latin typeface="Inter"/>
                <a:ea typeface="Inter"/>
                <a:cs typeface="Inter"/>
                <a:sym typeface="Inter"/>
              </a:rPr>
              <a:t>s</a:t>
            </a:r>
            <a:r>
              <a:rPr lang="en-US" sz="1550">
                <a:solidFill>
                  <a:srgbClr val="161613"/>
                </a:solidFill>
                <a:latin typeface="Inter"/>
                <a:ea typeface="Inter"/>
                <a:cs typeface="Inter"/>
                <a:sym typeface="Inter"/>
              </a:rPr>
              <a:t> - handling real-time data processing and scalable server operations</a:t>
            </a:r>
            <a:endParaRPr sz="1550">
              <a:solidFill>
                <a:schemeClr val="dk1"/>
              </a:solidFill>
              <a:latin typeface="Calibri"/>
              <a:ea typeface="Calibri"/>
              <a:cs typeface="Calibri"/>
              <a:sym typeface="Calibri"/>
            </a:endParaRPr>
          </a:p>
        </p:txBody>
      </p:sp>
      <p:sp>
        <p:nvSpPr>
          <p:cNvPr id="202" name="Google Shape;202;p7"/>
          <p:cNvSpPr/>
          <p:nvPr/>
        </p:nvSpPr>
        <p:spPr>
          <a:xfrm>
            <a:off x="801410" y="3766899"/>
            <a:ext cx="13027581" cy="570905"/>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999887" y="3893582"/>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Database</a:t>
            </a:r>
            <a:endParaRPr sz="1550">
              <a:solidFill>
                <a:schemeClr val="dk1"/>
              </a:solidFill>
              <a:latin typeface="Calibri"/>
              <a:ea typeface="Calibri"/>
              <a:cs typeface="Calibri"/>
              <a:sym typeface="Calibri"/>
            </a:endParaRPr>
          </a:p>
        </p:txBody>
      </p:sp>
      <p:sp>
        <p:nvSpPr>
          <p:cNvPr id="204" name="Google Shape;204;p7"/>
          <p:cNvSpPr/>
          <p:nvPr/>
        </p:nvSpPr>
        <p:spPr>
          <a:xfrm>
            <a:off x="4260533" y="3893582"/>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MongoDB - flexible NoSQL database optimized for document-based data with horizontal scaling</a:t>
            </a:r>
            <a:endParaRPr sz="1550">
              <a:solidFill>
                <a:schemeClr val="dk1"/>
              </a:solidFill>
              <a:latin typeface="Calibri"/>
              <a:ea typeface="Calibri"/>
              <a:cs typeface="Calibri"/>
              <a:sym typeface="Calibri"/>
            </a:endParaRPr>
          </a:p>
        </p:txBody>
      </p:sp>
      <p:sp>
        <p:nvSpPr>
          <p:cNvPr id="205" name="Google Shape;205;p7"/>
          <p:cNvSpPr/>
          <p:nvPr/>
        </p:nvSpPr>
        <p:spPr>
          <a:xfrm>
            <a:off x="801410" y="4337804"/>
            <a:ext cx="13027581" cy="570905"/>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999887" y="4464487"/>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Media Storage</a:t>
            </a:r>
            <a:endParaRPr sz="1550">
              <a:solidFill>
                <a:schemeClr val="dk1"/>
              </a:solidFill>
              <a:latin typeface="Calibri"/>
              <a:ea typeface="Calibri"/>
              <a:cs typeface="Calibri"/>
              <a:sym typeface="Calibri"/>
            </a:endParaRPr>
          </a:p>
        </p:txBody>
      </p:sp>
      <p:sp>
        <p:nvSpPr>
          <p:cNvPr id="207" name="Google Shape;207;p7"/>
          <p:cNvSpPr/>
          <p:nvPr/>
        </p:nvSpPr>
        <p:spPr>
          <a:xfrm>
            <a:off x="4260533" y="4464487"/>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Cloudinary - cloud-based image and file storage for profiles, service photos, and documents</a:t>
            </a:r>
            <a:endParaRPr sz="1550">
              <a:solidFill>
                <a:schemeClr val="dk1"/>
              </a:solidFill>
              <a:latin typeface="Calibri"/>
              <a:ea typeface="Calibri"/>
              <a:cs typeface="Calibri"/>
              <a:sym typeface="Calibri"/>
            </a:endParaRPr>
          </a:p>
        </p:txBody>
      </p:sp>
      <p:sp>
        <p:nvSpPr>
          <p:cNvPr id="208" name="Google Shape;208;p7"/>
          <p:cNvSpPr/>
          <p:nvPr/>
        </p:nvSpPr>
        <p:spPr>
          <a:xfrm>
            <a:off x="801410" y="4908709"/>
            <a:ext cx="13027581" cy="570905"/>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999887" y="5035391"/>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Authentication</a:t>
            </a:r>
            <a:endParaRPr sz="1550">
              <a:solidFill>
                <a:schemeClr val="dk1"/>
              </a:solidFill>
              <a:latin typeface="Calibri"/>
              <a:ea typeface="Calibri"/>
              <a:cs typeface="Calibri"/>
              <a:sym typeface="Calibri"/>
            </a:endParaRPr>
          </a:p>
        </p:txBody>
      </p:sp>
      <p:sp>
        <p:nvSpPr>
          <p:cNvPr id="210" name="Google Shape;210;p7"/>
          <p:cNvSpPr/>
          <p:nvPr/>
        </p:nvSpPr>
        <p:spPr>
          <a:xfrm>
            <a:off x="4260533" y="5035391"/>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JWT-based authentication - secure, stateless sessions with role-based access control</a:t>
            </a:r>
            <a:endParaRPr sz="1550">
              <a:solidFill>
                <a:schemeClr val="dk1"/>
              </a:solidFill>
              <a:latin typeface="Calibri"/>
              <a:ea typeface="Calibri"/>
              <a:cs typeface="Calibri"/>
              <a:sym typeface="Calibri"/>
            </a:endParaRPr>
          </a:p>
        </p:txBody>
      </p:sp>
      <p:sp>
        <p:nvSpPr>
          <p:cNvPr id="211" name="Google Shape;211;p7"/>
          <p:cNvSpPr/>
          <p:nvPr/>
        </p:nvSpPr>
        <p:spPr>
          <a:xfrm>
            <a:off x="801410" y="5479613"/>
            <a:ext cx="13027581" cy="570905"/>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999887" y="5606296"/>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Payments</a:t>
            </a:r>
            <a:endParaRPr sz="1550">
              <a:solidFill>
                <a:schemeClr val="dk1"/>
              </a:solidFill>
              <a:latin typeface="Calibri"/>
              <a:ea typeface="Calibri"/>
              <a:cs typeface="Calibri"/>
              <a:sym typeface="Calibri"/>
            </a:endParaRPr>
          </a:p>
        </p:txBody>
      </p:sp>
      <p:sp>
        <p:nvSpPr>
          <p:cNvPr id="213" name="Google Shape;213;p7"/>
          <p:cNvSpPr/>
          <p:nvPr/>
        </p:nvSpPr>
        <p:spPr>
          <a:xfrm>
            <a:off x="4260533" y="5606296"/>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Razorpay - payment gateway supporting multiple payment methods</a:t>
            </a:r>
            <a:endParaRPr sz="1550">
              <a:solidFill>
                <a:schemeClr val="dk1"/>
              </a:solidFill>
              <a:latin typeface="Calibri"/>
              <a:ea typeface="Calibri"/>
              <a:cs typeface="Calibri"/>
              <a:sym typeface="Calibri"/>
            </a:endParaRPr>
          </a:p>
        </p:txBody>
      </p:sp>
      <p:sp>
        <p:nvSpPr>
          <p:cNvPr id="214" name="Google Shape;214;p7"/>
          <p:cNvSpPr/>
          <p:nvPr/>
        </p:nvSpPr>
        <p:spPr>
          <a:xfrm>
            <a:off x="801410" y="6050518"/>
            <a:ext cx="13027581" cy="888444"/>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999887" y="6177201"/>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Hosting</a:t>
            </a:r>
            <a:endParaRPr sz="1550">
              <a:solidFill>
                <a:schemeClr val="dk1"/>
              </a:solidFill>
              <a:latin typeface="Calibri"/>
              <a:ea typeface="Calibri"/>
              <a:cs typeface="Calibri"/>
              <a:sym typeface="Calibri"/>
            </a:endParaRPr>
          </a:p>
        </p:txBody>
      </p:sp>
      <p:sp>
        <p:nvSpPr>
          <p:cNvPr id="216" name="Google Shape;216;p7"/>
          <p:cNvSpPr/>
          <p:nvPr/>
        </p:nvSpPr>
        <p:spPr>
          <a:xfrm>
            <a:off x="4260533" y="6177201"/>
            <a:ext cx="9370100"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Vercel (frontend) &amp; Render (backend) - cloud-based platforms enabling easy scaling and 99.5% uptime</a:t>
            </a:r>
            <a:endParaRPr sz="1550">
              <a:solidFill>
                <a:schemeClr val="dk1"/>
              </a:solidFill>
              <a:latin typeface="Calibri"/>
              <a:ea typeface="Calibri"/>
              <a:cs typeface="Calibri"/>
              <a:sym typeface="Calibri"/>
            </a:endParaRPr>
          </a:p>
        </p:txBody>
      </p:sp>
      <p:sp>
        <p:nvSpPr>
          <p:cNvPr id="217" name="Google Shape;217;p7"/>
          <p:cNvSpPr/>
          <p:nvPr/>
        </p:nvSpPr>
        <p:spPr>
          <a:xfrm>
            <a:off x="801410" y="6938963"/>
            <a:ext cx="13027581" cy="570905"/>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999887" y="7065645"/>
            <a:ext cx="2856309"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1">
                <a:solidFill>
                  <a:srgbClr val="161613"/>
                </a:solidFill>
                <a:latin typeface="Inter"/>
                <a:ea typeface="Inter"/>
                <a:cs typeface="Inter"/>
                <a:sym typeface="Inter"/>
              </a:rPr>
              <a:t>Version Control</a:t>
            </a:r>
            <a:endParaRPr sz="1550">
              <a:solidFill>
                <a:schemeClr val="dk1"/>
              </a:solidFill>
              <a:latin typeface="Calibri"/>
              <a:ea typeface="Calibri"/>
              <a:cs typeface="Calibri"/>
              <a:sym typeface="Calibri"/>
            </a:endParaRPr>
          </a:p>
        </p:txBody>
      </p:sp>
      <p:sp>
        <p:nvSpPr>
          <p:cNvPr id="219" name="Google Shape;219;p7"/>
          <p:cNvSpPr/>
          <p:nvPr/>
        </p:nvSpPr>
        <p:spPr>
          <a:xfrm>
            <a:off x="4260533" y="7065645"/>
            <a:ext cx="9370100"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Git &amp; GitHub - collaborative development and code management with full deployment pipeline</a:t>
            </a:r>
            <a:endParaRPr sz="1550">
              <a:solidFill>
                <a:schemeClr val="dk1"/>
              </a:solidFill>
              <a:latin typeface="Calibri"/>
              <a:ea typeface="Calibri"/>
              <a:cs typeface="Calibri"/>
              <a:sym typeface="Calibri"/>
            </a:endParaRPr>
          </a:p>
        </p:txBody>
      </p:sp>
      <p:sp>
        <p:nvSpPr>
          <p:cNvPr id="220" name="Google Shape;220;p7"/>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8"/>
          <p:cNvSpPr/>
          <p:nvPr/>
        </p:nvSpPr>
        <p:spPr>
          <a:xfrm>
            <a:off x="793790" y="623768"/>
            <a:ext cx="3969425" cy="49613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61613"/>
              </a:buClr>
              <a:buSzPts val="3100"/>
              <a:buFont typeface="DM Sans Medium"/>
              <a:buNone/>
            </a:pPr>
            <a:r>
              <a:rPr lang="en-US" sz="3100">
                <a:solidFill>
                  <a:srgbClr val="161613"/>
                </a:solidFill>
                <a:latin typeface="DM Sans Medium"/>
                <a:ea typeface="DM Sans Medium"/>
                <a:cs typeface="DM Sans Medium"/>
                <a:sym typeface="DM Sans Medium"/>
              </a:rPr>
              <a:t>User Stories</a:t>
            </a:r>
            <a:endParaRPr sz="3100">
              <a:solidFill>
                <a:schemeClr val="dk1"/>
              </a:solidFill>
              <a:latin typeface="Calibri"/>
              <a:ea typeface="Calibri"/>
              <a:cs typeface="Calibri"/>
              <a:sym typeface="Calibri"/>
            </a:endParaRPr>
          </a:p>
        </p:txBody>
      </p:sp>
      <p:sp>
        <p:nvSpPr>
          <p:cNvPr id="227" name="Google Shape;227;p8"/>
          <p:cNvSpPr/>
          <p:nvPr/>
        </p:nvSpPr>
        <p:spPr>
          <a:xfrm>
            <a:off x="793790" y="1437442"/>
            <a:ext cx="4241721" cy="3104078"/>
          </a:xfrm>
          <a:prstGeom prst="roundRect">
            <a:avLst>
              <a:gd name="adj" fmla="val 767"/>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975360" y="1619012"/>
            <a:ext cx="1984653" cy="248007"/>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61613"/>
              </a:buClr>
              <a:buSzPts val="1550"/>
              <a:buFont typeface="DM Sans Medium"/>
              <a:buNone/>
            </a:pPr>
            <a:r>
              <a:rPr lang="en-US" sz="1550">
                <a:solidFill>
                  <a:srgbClr val="161613"/>
                </a:solidFill>
                <a:latin typeface="DM Sans Medium"/>
                <a:ea typeface="DM Sans Medium"/>
                <a:cs typeface="DM Sans Medium"/>
                <a:sym typeface="DM Sans Medium"/>
              </a:rPr>
              <a:t>User Management</a:t>
            </a:r>
            <a:endParaRPr sz="1550">
              <a:solidFill>
                <a:schemeClr val="dk1"/>
              </a:solidFill>
              <a:latin typeface="Calibri"/>
              <a:ea typeface="Calibri"/>
              <a:cs typeface="Calibri"/>
              <a:sym typeface="Calibri"/>
            </a:endParaRPr>
          </a:p>
        </p:txBody>
      </p:sp>
      <p:sp>
        <p:nvSpPr>
          <p:cNvPr id="229" name="Google Shape;229;p8"/>
          <p:cNvSpPr/>
          <p:nvPr/>
        </p:nvSpPr>
        <p:spPr>
          <a:xfrm>
            <a:off x="975360" y="1962269"/>
            <a:ext cx="3878580" cy="762238"/>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be able to create and manage my profile so I can personalize my experience.</a:t>
            </a:r>
            <a:endParaRPr sz="1250">
              <a:solidFill>
                <a:schemeClr val="dk1"/>
              </a:solidFill>
              <a:latin typeface="Calibri"/>
              <a:ea typeface="Calibri"/>
              <a:cs typeface="Calibri"/>
              <a:sym typeface="Calibri"/>
            </a:endParaRPr>
          </a:p>
        </p:txBody>
      </p:sp>
      <p:sp>
        <p:nvSpPr>
          <p:cNvPr id="230" name="Google Shape;230;p8"/>
          <p:cNvSpPr/>
          <p:nvPr/>
        </p:nvSpPr>
        <p:spPr>
          <a:xfrm>
            <a:off x="975360" y="2779990"/>
            <a:ext cx="3878580"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securely log in and out so my data is protected.</a:t>
            </a:r>
            <a:endParaRPr sz="1250">
              <a:solidFill>
                <a:schemeClr val="dk1"/>
              </a:solidFill>
              <a:latin typeface="Calibri"/>
              <a:ea typeface="Calibri"/>
              <a:cs typeface="Calibri"/>
              <a:sym typeface="Calibri"/>
            </a:endParaRPr>
          </a:p>
        </p:txBody>
      </p:sp>
      <p:sp>
        <p:nvSpPr>
          <p:cNvPr id="231" name="Google Shape;231;p8"/>
          <p:cNvSpPr/>
          <p:nvPr/>
        </p:nvSpPr>
        <p:spPr>
          <a:xfrm>
            <a:off x="975360" y="3343632"/>
            <a:ext cx="3878580"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view my past bookings and services so I can keep track of my history.</a:t>
            </a:r>
            <a:endParaRPr sz="1250">
              <a:solidFill>
                <a:schemeClr val="dk1"/>
              </a:solidFill>
              <a:latin typeface="Calibri"/>
              <a:ea typeface="Calibri"/>
              <a:cs typeface="Calibri"/>
              <a:sym typeface="Calibri"/>
            </a:endParaRPr>
          </a:p>
        </p:txBody>
      </p:sp>
      <p:sp>
        <p:nvSpPr>
          <p:cNvPr id="232" name="Google Shape;232;p8"/>
          <p:cNvSpPr/>
          <p:nvPr/>
        </p:nvSpPr>
        <p:spPr>
          <a:xfrm>
            <a:off x="5194221" y="1437442"/>
            <a:ext cx="4241840" cy="3104078"/>
          </a:xfrm>
          <a:prstGeom prst="roundRect">
            <a:avLst>
              <a:gd name="adj" fmla="val 767"/>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5375791" y="1619012"/>
            <a:ext cx="2795349" cy="248007"/>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61613"/>
              </a:buClr>
              <a:buSzPts val="1550"/>
              <a:buFont typeface="DM Sans Medium"/>
              <a:buNone/>
            </a:pPr>
            <a:r>
              <a:rPr lang="en-US" sz="1550">
                <a:solidFill>
                  <a:srgbClr val="161613"/>
                </a:solidFill>
                <a:latin typeface="DM Sans Medium"/>
                <a:ea typeface="DM Sans Medium"/>
                <a:cs typeface="DM Sans Medium"/>
                <a:sym typeface="DM Sans Medium"/>
              </a:rPr>
              <a:t>Service Provider Management</a:t>
            </a:r>
            <a:endParaRPr sz="1550">
              <a:solidFill>
                <a:schemeClr val="dk1"/>
              </a:solidFill>
              <a:latin typeface="Calibri"/>
              <a:ea typeface="Calibri"/>
              <a:cs typeface="Calibri"/>
              <a:sym typeface="Calibri"/>
            </a:endParaRPr>
          </a:p>
        </p:txBody>
      </p:sp>
      <p:sp>
        <p:nvSpPr>
          <p:cNvPr id="234" name="Google Shape;234;p8"/>
          <p:cNvSpPr/>
          <p:nvPr/>
        </p:nvSpPr>
        <p:spPr>
          <a:xfrm>
            <a:off x="5375791" y="1962269"/>
            <a:ext cx="3878699" cy="762238"/>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service provider, I want to create and manage my service listings so I can attract clients.</a:t>
            </a:r>
            <a:endParaRPr sz="1250">
              <a:solidFill>
                <a:schemeClr val="dk1"/>
              </a:solidFill>
              <a:latin typeface="Calibri"/>
              <a:ea typeface="Calibri"/>
              <a:cs typeface="Calibri"/>
              <a:sym typeface="Calibri"/>
            </a:endParaRPr>
          </a:p>
        </p:txBody>
      </p:sp>
      <p:sp>
        <p:nvSpPr>
          <p:cNvPr id="235" name="Google Shape;235;p8"/>
          <p:cNvSpPr/>
          <p:nvPr/>
        </p:nvSpPr>
        <p:spPr>
          <a:xfrm>
            <a:off x="5375791" y="2779990"/>
            <a:ext cx="3878699"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service provider, I want to update my availability so clients can book me accurately.</a:t>
            </a:r>
            <a:endParaRPr sz="1250">
              <a:solidFill>
                <a:schemeClr val="dk1"/>
              </a:solidFill>
              <a:latin typeface="Calibri"/>
              <a:ea typeface="Calibri"/>
              <a:cs typeface="Calibri"/>
              <a:sym typeface="Calibri"/>
            </a:endParaRPr>
          </a:p>
        </p:txBody>
      </p:sp>
      <p:sp>
        <p:nvSpPr>
          <p:cNvPr id="236" name="Google Shape;236;p8"/>
          <p:cNvSpPr/>
          <p:nvPr/>
        </p:nvSpPr>
        <p:spPr>
          <a:xfrm>
            <a:off x="5375791" y="3343632"/>
            <a:ext cx="3878699" cy="762238"/>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service provider, I want to view my earnings and manage my payouts so I can track my income.</a:t>
            </a:r>
            <a:endParaRPr sz="1250">
              <a:solidFill>
                <a:schemeClr val="dk1"/>
              </a:solidFill>
              <a:latin typeface="Calibri"/>
              <a:ea typeface="Calibri"/>
              <a:cs typeface="Calibri"/>
              <a:sym typeface="Calibri"/>
            </a:endParaRPr>
          </a:p>
        </p:txBody>
      </p:sp>
      <p:sp>
        <p:nvSpPr>
          <p:cNvPr id="237" name="Google Shape;237;p8"/>
          <p:cNvSpPr/>
          <p:nvPr/>
        </p:nvSpPr>
        <p:spPr>
          <a:xfrm>
            <a:off x="9594771" y="1437442"/>
            <a:ext cx="4241721" cy="3104078"/>
          </a:xfrm>
          <a:prstGeom prst="roundRect">
            <a:avLst>
              <a:gd name="adj" fmla="val 767"/>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9776341" y="1619012"/>
            <a:ext cx="1984653" cy="248007"/>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61613"/>
              </a:buClr>
              <a:buSzPts val="1550"/>
              <a:buFont typeface="DM Sans Medium"/>
              <a:buNone/>
            </a:pPr>
            <a:r>
              <a:rPr lang="en-US" sz="1550">
                <a:solidFill>
                  <a:srgbClr val="161613"/>
                </a:solidFill>
                <a:latin typeface="DM Sans Medium"/>
                <a:ea typeface="DM Sans Medium"/>
                <a:cs typeface="DM Sans Medium"/>
                <a:sym typeface="DM Sans Medium"/>
              </a:rPr>
              <a:t>Service Management</a:t>
            </a:r>
            <a:endParaRPr sz="1550">
              <a:solidFill>
                <a:schemeClr val="dk1"/>
              </a:solidFill>
              <a:latin typeface="Calibri"/>
              <a:ea typeface="Calibri"/>
              <a:cs typeface="Calibri"/>
              <a:sym typeface="Calibri"/>
            </a:endParaRPr>
          </a:p>
        </p:txBody>
      </p:sp>
      <p:sp>
        <p:nvSpPr>
          <p:cNvPr id="239" name="Google Shape;239;p8"/>
          <p:cNvSpPr/>
          <p:nvPr/>
        </p:nvSpPr>
        <p:spPr>
          <a:xfrm>
            <a:off x="9776341" y="1962269"/>
            <a:ext cx="3878580" cy="762238"/>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browse available services by category or keywords so I can easily find what I need.</a:t>
            </a:r>
            <a:endParaRPr sz="1250">
              <a:solidFill>
                <a:schemeClr val="dk1"/>
              </a:solidFill>
              <a:latin typeface="Calibri"/>
              <a:ea typeface="Calibri"/>
              <a:cs typeface="Calibri"/>
              <a:sym typeface="Calibri"/>
            </a:endParaRPr>
          </a:p>
        </p:txBody>
      </p:sp>
      <p:sp>
        <p:nvSpPr>
          <p:cNvPr id="240" name="Google Shape;240;p8"/>
          <p:cNvSpPr/>
          <p:nvPr/>
        </p:nvSpPr>
        <p:spPr>
          <a:xfrm>
            <a:off x="9776341" y="2779990"/>
            <a:ext cx="3878580" cy="762238"/>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view detailed service descriptions and pricing so I can make informed decisions.</a:t>
            </a:r>
            <a:endParaRPr sz="1250">
              <a:solidFill>
                <a:schemeClr val="dk1"/>
              </a:solidFill>
              <a:latin typeface="Calibri"/>
              <a:ea typeface="Calibri"/>
              <a:cs typeface="Calibri"/>
              <a:sym typeface="Calibri"/>
            </a:endParaRPr>
          </a:p>
        </p:txBody>
      </p:sp>
      <p:sp>
        <p:nvSpPr>
          <p:cNvPr id="241" name="Google Shape;241;p8"/>
          <p:cNvSpPr/>
          <p:nvPr/>
        </p:nvSpPr>
        <p:spPr>
          <a:xfrm>
            <a:off x="9776341" y="3597712"/>
            <a:ext cx="3878580" cy="762238"/>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filter services by location and ratings so I can find local and reliable providers.</a:t>
            </a:r>
            <a:endParaRPr sz="1250">
              <a:solidFill>
                <a:schemeClr val="dk1"/>
              </a:solidFill>
              <a:latin typeface="Calibri"/>
              <a:ea typeface="Calibri"/>
              <a:cs typeface="Calibri"/>
              <a:sym typeface="Calibri"/>
            </a:endParaRPr>
          </a:p>
        </p:txBody>
      </p:sp>
      <p:sp>
        <p:nvSpPr>
          <p:cNvPr id="242" name="Google Shape;242;p8"/>
          <p:cNvSpPr/>
          <p:nvPr/>
        </p:nvSpPr>
        <p:spPr>
          <a:xfrm>
            <a:off x="793790" y="4700230"/>
            <a:ext cx="6441996" cy="2905482"/>
          </a:xfrm>
          <a:prstGeom prst="roundRect">
            <a:avLst>
              <a:gd name="adj" fmla="val 820"/>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975360" y="4881801"/>
            <a:ext cx="2016323" cy="248007"/>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61613"/>
              </a:buClr>
              <a:buSzPts val="1550"/>
              <a:buFont typeface="DM Sans Medium"/>
              <a:buNone/>
            </a:pPr>
            <a:r>
              <a:rPr lang="en-US" sz="1550">
                <a:solidFill>
                  <a:srgbClr val="161613"/>
                </a:solidFill>
                <a:latin typeface="DM Sans Medium"/>
                <a:ea typeface="DM Sans Medium"/>
                <a:cs typeface="DM Sans Medium"/>
                <a:sym typeface="DM Sans Medium"/>
              </a:rPr>
              <a:t>Booking Management</a:t>
            </a:r>
            <a:endParaRPr sz="1550">
              <a:solidFill>
                <a:schemeClr val="dk1"/>
              </a:solidFill>
              <a:latin typeface="Calibri"/>
              <a:ea typeface="Calibri"/>
              <a:cs typeface="Calibri"/>
              <a:sym typeface="Calibri"/>
            </a:endParaRPr>
          </a:p>
        </p:txBody>
      </p:sp>
      <p:sp>
        <p:nvSpPr>
          <p:cNvPr id="244" name="Google Shape;244;p8"/>
          <p:cNvSpPr/>
          <p:nvPr/>
        </p:nvSpPr>
        <p:spPr>
          <a:xfrm>
            <a:off x="975360" y="5225058"/>
            <a:ext cx="6078855"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book a service directly through the platform so it is convenient.</a:t>
            </a:r>
            <a:endParaRPr sz="1250">
              <a:solidFill>
                <a:schemeClr val="dk1"/>
              </a:solidFill>
              <a:latin typeface="Calibri"/>
              <a:ea typeface="Calibri"/>
              <a:cs typeface="Calibri"/>
              <a:sym typeface="Calibri"/>
            </a:endParaRPr>
          </a:p>
        </p:txBody>
      </p:sp>
      <p:sp>
        <p:nvSpPr>
          <p:cNvPr id="245" name="Google Shape;245;p8"/>
          <p:cNvSpPr/>
          <p:nvPr/>
        </p:nvSpPr>
        <p:spPr>
          <a:xfrm>
            <a:off x="975360" y="5788700"/>
            <a:ext cx="6078855"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receive booking confirmations and reminders so I don't miss appointments.</a:t>
            </a:r>
            <a:endParaRPr sz="1250">
              <a:solidFill>
                <a:schemeClr val="dk1"/>
              </a:solidFill>
              <a:latin typeface="Calibri"/>
              <a:ea typeface="Calibri"/>
              <a:cs typeface="Calibri"/>
              <a:sym typeface="Calibri"/>
            </a:endParaRPr>
          </a:p>
        </p:txBody>
      </p:sp>
      <p:sp>
        <p:nvSpPr>
          <p:cNvPr id="246" name="Google Shape;246;p8"/>
          <p:cNvSpPr/>
          <p:nvPr/>
        </p:nvSpPr>
        <p:spPr>
          <a:xfrm>
            <a:off x="975360" y="6352342"/>
            <a:ext cx="6078855"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service provider, I want to accept or decline booking requests so I can manage my schedule.</a:t>
            </a:r>
            <a:endParaRPr sz="1250">
              <a:solidFill>
                <a:schemeClr val="dk1"/>
              </a:solidFill>
              <a:latin typeface="Calibri"/>
              <a:ea typeface="Calibri"/>
              <a:cs typeface="Calibri"/>
              <a:sym typeface="Calibri"/>
            </a:endParaRPr>
          </a:p>
        </p:txBody>
      </p:sp>
      <p:sp>
        <p:nvSpPr>
          <p:cNvPr id="247" name="Google Shape;247;p8"/>
          <p:cNvSpPr/>
          <p:nvPr/>
        </p:nvSpPr>
        <p:spPr>
          <a:xfrm>
            <a:off x="975360" y="6915983"/>
            <a:ext cx="6078855"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service provider, I want to send invoices and receive payments through the platform so transactions are smooth.</a:t>
            </a:r>
            <a:endParaRPr sz="1250">
              <a:solidFill>
                <a:schemeClr val="dk1"/>
              </a:solidFill>
              <a:latin typeface="Calibri"/>
              <a:ea typeface="Calibri"/>
              <a:cs typeface="Calibri"/>
              <a:sym typeface="Calibri"/>
            </a:endParaRPr>
          </a:p>
        </p:txBody>
      </p:sp>
      <p:sp>
        <p:nvSpPr>
          <p:cNvPr id="248" name="Google Shape;248;p8"/>
          <p:cNvSpPr/>
          <p:nvPr/>
        </p:nvSpPr>
        <p:spPr>
          <a:xfrm>
            <a:off x="7394496" y="4700230"/>
            <a:ext cx="6441996" cy="2905482"/>
          </a:xfrm>
          <a:prstGeom prst="roundRect">
            <a:avLst>
              <a:gd name="adj" fmla="val 820"/>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7576066" y="4881801"/>
            <a:ext cx="1984653" cy="248007"/>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61613"/>
              </a:buClr>
              <a:buSzPts val="1550"/>
              <a:buFont typeface="DM Sans Medium"/>
              <a:buNone/>
            </a:pPr>
            <a:r>
              <a:rPr lang="en-US" sz="1550">
                <a:solidFill>
                  <a:srgbClr val="161613"/>
                </a:solidFill>
                <a:latin typeface="DM Sans Medium"/>
                <a:ea typeface="DM Sans Medium"/>
                <a:cs typeface="DM Sans Medium"/>
                <a:sym typeface="DM Sans Medium"/>
              </a:rPr>
              <a:t>Review &amp; Rating</a:t>
            </a:r>
            <a:endParaRPr sz="1550">
              <a:solidFill>
                <a:schemeClr val="dk1"/>
              </a:solidFill>
              <a:latin typeface="Calibri"/>
              <a:ea typeface="Calibri"/>
              <a:cs typeface="Calibri"/>
              <a:sym typeface="Calibri"/>
            </a:endParaRPr>
          </a:p>
        </p:txBody>
      </p:sp>
      <p:sp>
        <p:nvSpPr>
          <p:cNvPr id="250" name="Google Shape;250;p8"/>
          <p:cNvSpPr/>
          <p:nvPr/>
        </p:nvSpPr>
        <p:spPr>
          <a:xfrm>
            <a:off x="7576066" y="5225058"/>
            <a:ext cx="6078855"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user, I want to leave reviews and ratings for services so I can share my experience.</a:t>
            </a:r>
            <a:endParaRPr sz="1250">
              <a:solidFill>
                <a:schemeClr val="dk1"/>
              </a:solidFill>
              <a:latin typeface="Calibri"/>
              <a:ea typeface="Calibri"/>
              <a:cs typeface="Calibri"/>
              <a:sym typeface="Calibri"/>
            </a:endParaRPr>
          </a:p>
        </p:txBody>
      </p:sp>
      <p:sp>
        <p:nvSpPr>
          <p:cNvPr id="251" name="Google Shape;251;p8"/>
          <p:cNvSpPr/>
          <p:nvPr/>
        </p:nvSpPr>
        <p:spPr>
          <a:xfrm>
            <a:off x="7576066" y="5788700"/>
            <a:ext cx="6078855" cy="508159"/>
          </a:xfrm>
          <a:prstGeom prst="rect">
            <a:avLst/>
          </a:prstGeom>
          <a:noFill/>
          <a:ln>
            <a:noFill/>
          </a:ln>
        </p:spPr>
        <p:txBody>
          <a:bodyPr spcFirstLastPara="1" wrap="square" lIns="0" tIns="0" rIns="0" bIns="0" anchor="t" anchorCtr="0">
            <a:noAutofit/>
          </a:bodyPr>
          <a:lstStyle/>
          <a:p>
            <a:pPr marL="342900" marR="0" lvl="0" indent="-342900" algn="l" rtl="0">
              <a:lnSpc>
                <a:spcPct val="160000"/>
              </a:lnSpc>
              <a:spcBef>
                <a:spcPts val="0"/>
              </a:spcBef>
              <a:spcAft>
                <a:spcPts val="0"/>
              </a:spcAft>
              <a:buClr>
                <a:srgbClr val="161613"/>
              </a:buClr>
              <a:buSzPts val="1250"/>
              <a:buFont typeface="Inter"/>
              <a:buChar char="•"/>
            </a:pPr>
            <a:r>
              <a:rPr lang="en-US" sz="1250">
                <a:solidFill>
                  <a:srgbClr val="161613"/>
                </a:solidFill>
                <a:latin typeface="Inter"/>
                <a:ea typeface="Inter"/>
                <a:cs typeface="Inter"/>
                <a:sym typeface="Inter"/>
              </a:rPr>
              <a:t>As a service provider, I want to view feedback from clients so I can improve my services.</a:t>
            </a:r>
            <a:endParaRPr sz="1250">
              <a:solidFill>
                <a:schemeClr val="dk1"/>
              </a:solidFill>
              <a:latin typeface="Calibri"/>
              <a:ea typeface="Calibri"/>
              <a:cs typeface="Calibri"/>
              <a:sym typeface="Calibri"/>
            </a:endParaRPr>
          </a:p>
        </p:txBody>
      </p:sp>
      <p:sp>
        <p:nvSpPr>
          <p:cNvPr id="252" name="Google Shape;252;p8"/>
          <p:cNvSpPr/>
          <p:nvPr/>
        </p:nvSpPr>
        <p:spPr>
          <a:xfrm>
            <a:off x="12687300" y="7605712"/>
            <a:ext cx="1828800" cy="623888"/>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9"/>
          <p:cNvSpPr/>
          <p:nvPr/>
        </p:nvSpPr>
        <p:spPr>
          <a:xfrm>
            <a:off x="788670" y="542925"/>
            <a:ext cx="5738455" cy="523875"/>
          </a:xfrm>
          <a:prstGeom prst="rect">
            <a:avLst/>
          </a:prstGeom>
          <a:noFill/>
          <a:ln>
            <a:noFill/>
          </a:ln>
        </p:spPr>
        <p:txBody>
          <a:bodyPr spcFirstLastPara="1" wrap="square" lIns="0" tIns="0" rIns="0" bIns="0" anchor="t" anchorCtr="0">
            <a:noAutofit/>
          </a:bodyPr>
          <a:lstStyle/>
          <a:p>
            <a:pPr marL="0" marR="0" lvl="0" indent="0" algn="l" rtl="0">
              <a:lnSpc>
                <a:spcPct val="126153"/>
              </a:lnSpc>
              <a:spcBef>
                <a:spcPts val="0"/>
              </a:spcBef>
              <a:spcAft>
                <a:spcPts val="0"/>
              </a:spcAft>
              <a:buClr>
                <a:srgbClr val="161613"/>
              </a:buClr>
              <a:buSzPts val="3250"/>
              <a:buFont typeface="DM Sans Medium"/>
              <a:buNone/>
            </a:pPr>
            <a:r>
              <a:rPr lang="en-US" sz="3250">
                <a:solidFill>
                  <a:srgbClr val="161613"/>
                </a:solidFill>
                <a:latin typeface="DM Sans Medium"/>
                <a:ea typeface="DM Sans Medium"/>
                <a:cs typeface="DM Sans Medium"/>
                <a:sym typeface="DM Sans Medium"/>
              </a:rPr>
              <a:t>Key Functional Requirements</a:t>
            </a:r>
            <a:endParaRPr sz="3250">
              <a:solidFill>
                <a:schemeClr val="dk1"/>
              </a:solidFill>
              <a:latin typeface="Calibri"/>
              <a:ea typeface="Calibri"/>
              <a:cs typeface="Calibri"/>
              <a:sym typeface="Calibri"/>
            </a:endParaRPr>
          </a:p>
        </p:txBody>
      </p:sp>
      <p:sp>
        <p:nvSpPr>
          <p:cNvPr id="259" name="Google Shape;259;p9"/>
          <p:cNvSpPr/>
          <p:nvPr/>
        </p:nvSpPr>
        <p:spPr>
          <a:xfrm>
            <a:off x="788670" y="1401961"/>
            <a:ext cx="6442710" cy="2284809"/>
          </a:xfrm>
          <a:prstGeom prst="roundRect">
            <a:avLst>
              <a:gd name="adj" fmla="val 4803"/>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9"/>
          <p:cNvSpPr/>
          <p:nvPr/>
        </p:nvSpPr>
        <p:spPr>
          <a:xfrm>
            <a:off x="765810" y="1401961"/>
            <a:ext cx="91440" cy="2284809"/>
          </a:xfrm>
          <a:prstGeom prst="roundRect">
            <a:avLst>
              <a:gd name="adj" fmla="val 27496"/>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9"/>
          <p:cNvSpPr/>
          <p:nvPr/>
        </p:nvSpPr>
        <p:spPr>
          <a:xfrm>
            <a:off x="1047631" y="1592342"/>
            <a:ext cx="2095143" cy="261937"/>
          </a:xfrm>
          <a:prstGeom prst="rect">
            <a:avLst/>
          </a:prstGeom>
          <a:noFill/>
          <a:ln>
            <a:noFill/>
          </a:ln>
        </p:spPr>
        <p:txBody>
          <a:bodyPr spcFirstLastPara="1" wrap="square" lIns="0" tIns="0" rIns="0" bIns="0" anchor="t" anchorCtr="0">
            <a:noAutofit/>
          </a:bodyPr>
          <a:lstStyle/>
          <a:p>
            <a:pPr marL="0" marR="0" lvl="0" indent="0" algn="l" rtl="0">
              <a:lnSpc>
                <a:spcPct val="128125"/>
              </a:lnSpc>
              <a:spcBef>
                <a:spcPts val="0"/>
              </a:spcBef>
              <a:spcAft>
                <a:spcPts val="0"/>
              </a:spcAft>
              <a:buClr>
                <a:srgbClr val="161613"/>
              </a:buClr>
              <a:buSzPts val="1600"/>
              <a:buFont typeface="DM Sans Medium"/>
              <a:buNone/>
            </a:pPr>
            <a:r>
              <a:rPr lang="en-US" sz="1600">
                <a:solidFill>
                  <a:srgbClr val="161613"/>
                </a:solidFill>
                <a:latin typeface="DM Sans Medium"/>
                <a:ea typeface="DM Sans Medium"/>
                <a:cs typeface="DM Sans Medium"/>
                <a:sym typeface="DM Sans Medium"/>
              </a:rPr>
              <a:t>User Management</a:t>
            </a:r>
            <a:endParaRPr sz="1600">
              <a:solidFill>
                <a:schemeClr val="dk1"/>
              </a:solidFill>
              <a:latin typeface="Calibri"/>
              <a:ea typeface="Calibri"/>
              <a:cs typeface="Calibri"/>
              <a:sym typeface="Calibri"/>
            </a:endParaRPr>
          </a:p>
        </p:txBody>
      </p:sp>
      <p:sp>
        <p:nvSpPr>
          <p:cNvPr id="262" name="Google Shape;262;p9"/>
          <p:cNvSpPr/>
          <p:nvPr/>
        </p:nvSpPr>
        <p:spPr>
          <a:xfrm>
            <a:off x="1047631" y="1954768"/>
            <a:ext cx="5993368"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Role-based registration for customers, providers, and admins. </a:t>
            </a:r>
            <a:endParaRPr sz="1300">
              <a:solidFill>
                <a:schemeClr val="dk1"/>
              </a:solidFill>
              <a:latin typeface="Calibri"/>
              <a:ea typeface="Calibri"/>
              <a:cs typeface="Calibri"/>
              <a:sym typeface="Calibri"/>
            </a:endParaRPr>
          </a:p>
        </p:txBody>
      </p:sp>
      <p:sp>
        <p:nvSpPr>
          <p:cNvPr id="263" name="Google Shape;263;p9"/>
          <p:cNvSpPr/>
          <p:nvPr/>
        </p:nvSpPr>
        <p:spPr>
          <a:xfrm>
            <a:off x="1047631" y="2323386"/>
            <a:ext cx="5993368"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JWT-based secure authentication with password recovery. </a:t>
            </a:r>
            <a:endParaRPr sz="1300">
              <a:solidFill>
                <a:schemeClr val="dk1"/>
              </a:solidFill>
              <a:latin typeface="Calibri"/>
              <a:ea typeface="Calibri"/>
              <a:cs typeface="Calibri"/>
              <a:sym typeface="Calibri"/>
            </a:endParaRPr>
          </a:p>
        </p:txBody>
      </p:sp>
      <p:sp>
        <p:nvSpPr>
          <p:cNvPr id="264" name="Google Shape;264;p9"/>
          <p:cNvSpPr/>
          <p:nvPr/>
        </p:nvSpPr>
        <p:spPr>
          <a:xfrm>
            <a:off x="1047631" y="2692003"/>
            <a:ext cx="5993368"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Profile management and permission controls ensure only authorized users access relevant features.</a:t>
            </a:r>
            <a:endParaRPr sz="1300">
              <a:solidFill>
                <a:schemeClr val="dk1"/>
              </a:solidFill>
              <a:latin typeface="Calibri"/>
              <a:ea typeface="Calibri"/>
              <a:cs typeface="Calibri"/>
              <a:sym typeface="Calibri"/>
            </a:endParaRPr>
          </a:p>
        </p:txBody>
      </p:sp>
      <p:sp>
        <p:nvSpPr>
          <p:cNvPr id="265" name="Google Shape;265;p9"/>
          <p:cNvSpPr/>
          <p:nvPr/>
        </p:nvSpPr>
        <p:spPr>
          <a:xfrm>
            <a:off x="7398901" y="1401961"/>
            <a:ext cx="6442829" cy="2284809"/>
          </a:xfrm>
          <a:prstGeom prst="roundRect">
            <a:avLst>
              <a:gd name="adj" fmla="val 4803"/>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9"/>
          <p:cNvSpPr/>
          <p:nvPr/>
        </p:nvSpPr>
        <p:spPr>
          <a:xfrm>
            <a:off x="7376041" y="1401961"/>
            <a:ext cx="91440" cy="2284809"/>
          </a:xfrm>
          <a:prstGeom prst="roundRect">
            <a:avLst>
              <a:gd name="adj" fmla="val 27496"/>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9"/>
          <p:cNvSpPr/>
          <p:nvPr/>
        </p:nvSpPr>
        <p:spPr>
          <a:xfrm>
            <a:off x="7657862" y="1592342"/>
            <a:ext cx="2095143" cy="261937"/>
          </a:xfrm>
          <a:prstGeom prst="rect">
            <a:avLst/>
          </a:prstGeom>
          <a:noFill/>
          <a:ln>
            <a:noFill/>
          </a:ln>
        </p:spPr>
        <p:txBody>
          <a:bodyPr spcFirstLastPara="1" wrap="square" lIns="0" tIns="0" rIns="0" bIns="0" anchor="t" anchorCtr="0">
            <a:noAutofit/>
          </a:bodyPr>
          <a:lstStyle/>
          <a:p>
            <a:pPr marL="0" marR="0" lvl="0" indent="0" algn="l" rtl="0">
              <a:lnSpc>
                <a:spcPct val="128125"/>
              </a:lnSpc>
              <a:spcBef>
                <a:spcPts val="0"/>
              </a:spcBef>
              <a:spcAft>
                <a:spcPts val="0"/>
              </a:spcAft>
              <a:buClr>
                <a:srgbClr val="161613"/>
              </a:buClr>
              <a:buSzPts val="1600"/>
              <a:buFont typeface="DM Sans Medium"/>
              <a:buNone/>
            </a:pPr>
            <a:r>
              <a:rPr lang="en-US" sz="1600">
                <a:solidFill>
                  <a:srgbClr val="161613"/>
                </a:solidFill>
                <a:latin typeface="DM Sans Medium"/>
                <a:ea typeface="DM Sans Medium"/>
                <a:cs typeface="DM Sans Medium"/>
                <a:sym typeface="DM Sans Medium"/>
              </a:rPr>
              <a:t>Service Management</a:t>
            </a:r>
            <a:endParaRPr sz="1600">
              <a:solidFill>
                <a:schemeClr val="dk1"/>
              </a:solidFill>
              <a:latin typeface="Calibri"/>
              <a:ea typeface="Calibri"/>
              <a:cs typeface="Calibri"/>
              <a:sym typeface="Calibri"/>
            </a:endParaRPr>
          </a:p>
        </p:txBody>
      </p:sp>
      <p:sp>
        <p:nvSpPr>
          <p:cNvPr id="268" name="Google Shape;268;p9"/>
          <p:cNvSpPr/>
          <p:nvPr/>
        </p:nvSpPr>
        <p:spPr>
          <a:xfrm>
            <a:off x="7657862" y="1954768"/>
            <a:ext cx="5993487"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Admins create and organize service categories (plumbing, cleaning, electrical, etc.). </a:t>
            </a:r>
            <a:endParaRPr sz="1300">
              <a:solidFill>
                <a:schemeClr val="dk1"/>
              </a:solidFill>
              <a:latin typeface="Calibri"/>
              <a:ea typeface="Calibri"/>
              <a:cs typeface="Calibri"/>
              <a:sym typeface="Calibri"/>
            </a:endParaRPr>
          </a:p>
        </p:txBody>
      </p:sp>
      <p:sp>
        <p:nvSpPr>
          <p:cNvPr id="269" name="Google Shape;269;p9"/>
          <p:cNvSpPr/>
          <p:nvPr/>
        </p:nvSpPr>
        <p:spPr>
          <a:xfrm>
            <a:off x="7657862" y="2591514"/>
            <a:ext cx="5993487"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Providers list services with descriptions, pricing, and availability.</a:t>
            </a:r>
            <a:endParaRPr sz="1300">
              <a:solidFill>
                <a:schemeClr val="dk1"/>
              </a:solidFill>
              <a:latin typeface="Calibri"/>
              <a:ea typeface="Calibri"/>
              <a:cs typeface="Calibri"/>
              <a:sym typeface="Calibri"/>
            </a:endParaRPr>
          </a:p>
        </p:txBody>
      </p:sp>
      <p:sp>
        <p:nvSpPr>
          <p:cNvPr id="270" name="Google Shape;270;p9"/>
          <p:cNvSpPr/>
          <p:nvPr/>
        </p:nvSpPr>
        <p:spPr>
          <a:xfrm>
            <a:off x="7657862" y="2960132"/>
            <a:ext cx="5993487"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Customers search and filter by category, location, and ratings for easy discovery.</a:t>
            </a:r>
            <a:endParaRPr sz="1300">
              <a:solidFill>
                <a:schemeClr val="dk1"/>
              </a:solidFill>
              <a:latin typeface="Calibri"/>
              <a:ea typeface="Calibri"/>
              <a:cs typeface="Calibri"/>
              <a:sym typeface="Calibri"/>
            </a:endParaRPr>
          </a:p>
        </p:txBody>
      </p:sp>
      <p:sp>
        <p:nvSpPr>
          <p:cNvPr id="271" name="Google Shape;271;p9"/>
          <p:cNvSpPr/>
          <p:nvPr/>
        </p:nvSpPr>
        <p:spPr>
          <a:xfrm>
            <a:off x="788670" y="3854291"/>
            <a:ext cx="6442710" cy="2016681"/>
          </a:xfrm>
          <a:prstGeom prst="roundRect">
            <a:avLst>
              <a:gd name="adj" fmla="val 5441"/>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9"/>
          <p:cNvSpPr/>
          <p:nvPr/>
        </p:nvSpPr>
        <p:spPr>
          <a:xfrm>
            <a:off x="765810" y="3854291"/>
            <a:ext cx="91440" cy="2016681"/>
          </a:xfrm>
          <a:prstGeom prst="roundRect">
            <a:avLst>
              <a:gd name="adj" fmla="val 27496"/>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9"/>
          <p:cNvSpPr/>
          <p:nvPr/>
        </p:nvSpPr>
        <p:spPr>
          <a:xfrm>
            <a:off x="1047631" y="4044672"/>
            <a:ext cx="2095143" cy="261937"/>
          </a:xfrm>
          <a:prstGeom prst="rect">
            <a:avLst/>
          </a:prstGeom>
          <a:noFill/>
          <a:ln>
            <a:noFill/>
          </a:ln>
        </p:spPr>
        <p:txBody>
          <a:bodyPr spcFirstLastPara="1" wrap="square" lIns="0" tIns="0" rIns="0" bIns="0" anchor="t" anchorCtr="0">
            <a:noAutofit/>
          </a:bodyPr>
          <a:lstStyle/>
          <a:p>
            <a:pPr marL="0" marR="0" lvl="0" indent="0" algn="l" rtl="0">
              <a:lnSpc>
                <a:spcPct val="128125"/>
              </a:lnSpc>
              <a:spcBef>
                <a:spcPts val="0"/>
              </a:spcBef>
              <a:spcAft>
                <a:spcPts val="0"/>
              </a:spcAft>
              <a:buClr>
                <a:srgbClr val="161613"/>
              </a:buClr>
              <a:buSzPts val="1600"/>
              <a:buFont typeface="DM Sans Medium"/>
              <a:buNone/>
            </a:pPr>
            <a:r>
              <a:rPr lang="en-US" sz="1600">
                <a:solidFill>
                  <a:srgbClr val="161613"/>
                </a:solidFill>
                <a:latin typeface="DM Sans Medium"/>
                <a:ea typeface="DM Sans Medium"/>
                <a:cs typeface="DM Sans Medium"/>
                <a:sym typeface="DM Sans Medium"/>
              </a:rPr>
              <a:t>Booking &amp; Payment</a:t>
            </a:r>
            <a:endParaRPr sz="1600">
              <a:solidFill>
                <a:schemeClr val="dk1"/>
              </a:solidFill>
              <a:latin typeface="Calibri"/>
              <a:ea typeface="Calibri"/>
              <a:cs typeface="Calibri"/>
              <a:sym typeface="Calibri"/>
            </a:endParaRPr>
          </a:p>
        </p:txBody>
      </p:sp>
      <p:sp>
        <p:nvSpPr>
          <p:cNvPr id="274" name="Google Shape;274;p9"/>
          <p:cNvSpPr/>
          <p:nvPr/>
        </p:nvSpPr>
        <p:spPr>
          <a:xfrm>
            <a:off x="1047631" y="4407098"/>
            <a:ext cx="5993368"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Complete booking workflow from selection through completion. </a:t>
            </a:r>
            <a:endParaRPr sz="1300">
              <a:solidFill>
                <a:schemeClr val="dk1"/>
              </a:solidFill>
              <a:latin typeface="Calibri"/>
              <a:ea typeface="Calibri"/>
              <a:cs typeface="Calibri"/>
              <a:sym typeface="Calibri"/>
            </a:endParaRPr>
          </a:p>
        </p:txBody>
      </p:sp>
      <p:sp>
        <p:nvSpPr>
          <p:cNvPr id="275" name="Google Shape;275;p9"/>
          <p:cNvSpPr/>
          <p:nvPr/>
        </p:nvSpPr>
        <p:spPr>
          <a:xfrm>
            <a:off x="1047631" y="4775716"/>
            <a:ext cx="5993368"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Multiple payment methods with automatic commission calculations. </a:t>
            </a:r>
            <a:endParaRPr sz="1300">
              <a:solidFill>
                <a:schemeClr val="dk1"/>
              </a:solidFill>
              <a:latin typeface="Calibri"/>
              <a:ea typeface="Calibri"/>
              <a:cs typeface="Calibri"/>
              <a:sym typeface="Calibri"/>
            </a:endParaRPr>
          </a:p>
        </p:txBody>
      </p:sp>
      <p:sp>
        <p:nvSpPr>
          <p:cNvPr id="276" name="Google Shape;276;p9"/>
          <p:cNvSpPr/>
          <p:nvPr/>
        </p:nvSpPr>
        <p:spPr>
          <a:xfrm>
            <a:off x="1047631" y="5144333"/>
            <a:ext cx="5993368"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Real-time transaction tracking and secure receipt generation for both parties.</a:t>
            </a:r>
            <a:endParaRPr sz="1300">
              <a:solidFill>
                <a:schemeClr val="dk1"/>
              </a:solidFill>
              <a:latin typeface="Calibri"/>
              <a:ea typeface="Calibri"/>
              <a:cs typeface="Calibri"/>
              <a:sym typeface="Calibri"/>
            </a:endParaRPr>
          </a:p>
        </p:txBody>
      </p:sp>
      <p:sp>
        <p:nvSpPr>
          <p:cNvPr id="277" name="Google Shape;277;p9"/>
          <p:cNvSpPr/>
          <p:nvPr/>
        </p:nvSpPr>
        <p:spPr>
          <a:xfrm>
            <a:off x="7398901" y="3854291"/>
            <a:ext cx="6442829" cy="2016681"/>
          </a:xfrm>
          <a:prstGeom prst="roundRect">
            <a:avLst>
              <a:gd name="adj" fmla="val 5441"/>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9"/>
          <p:cNvSpPr/>
          <p:nvPr/>
        </p:nvSpPr>
        <p:spPr>
          <a:xfrm>
            <a:off x="7376041" y="3854291"/>
            <a:ext cx="91440" cy="2016681"/>
          </a:xfrm>
          <a:prstGeom prst="roundRect">
            <a:avLst>
              <a:gd name="adj" fmla="val 27496"/>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9"/>
          <p:cNvSpPr/>
          <p:nvPr/>
        </p:nvSpPr>
        <p:spPr>
          <a:xfrm>
            <a:off x="7657862" y="4044672"/>
            <a:ext cx="2188012" cy="261937"/>
          </a:xfrm>
          <a:prstGeom prst="rect">
            <a:avLst/>
          </a:prstGeom>
          <a:noFill/>
          <a:ln>
            <a:noFill/>
          </a:ln>
        </p:spPr>
        <p:txBody>
          <a:bodyPr spcFirstLastPara="1" wrap="square" lIns="0" tIns="0" rIns="0" bIns="0" anchor="t" anchorCtr="0">
            <a:noAutofit/>
          </a:bodyPr>
          <a:lstStyle/>
          <a:p>
            <a:pPr marL="0" marR="0" lvl="0" indent="0" algn="l" rtl="0">
              <a:lnSpc>
                <a:spcPct val="128125"/>
              </a:lnSpc>
              <a:spcBef>
                <a:spcPts val="0"/>
              </a:spcBef>
              <a:spcAft>
                <a:spcPts val="0"/>
              </a:spcAft>
              <a:buClr>
                <a:srgbClr val="161613"/>
              </a:buClr>
              <a:buSzPts val="1600"/>
              <a:buFont typeface="DM Sans Medium"/>
              <a:buNone/>
            </a:pPr>
            <a:r>
              <a:rPr lang="en-US" sz="1600">
                <a:solidFill>
                  <a:srgbClr val="161613"/>
                </a:solidFill>
                <a:latin typeface="DM Sans Medium"/>
                <a:ea typeface="DM Sans Medium"/>
                <a:cs typeface="DM Sans Medium"/>
                <a:sym typeface="DM Sans Medium"/>
              </a:rPr>
              <a:t>Reviews &amp; Complaints</a:t>
            </a:r>
            <a:endParaRPr sz="1600">
              <a:solidFill>
                <a:schemeClr val="dk1"/>
              </a:solidFill>
              <a:latin typeface="Calibri"/>
              <a:ea typeface="Calibri"/>
              <a:cs typeface="Calibri"/>
              <a:sym typeface="Calibri"/>
            </a:endParaRPr>
          </a:p>
        </p:txBody>
      </p:sp>
      <p:sp>
        <p:nvSpPr>
          <p:cNvPr id="280" name="Google Shape;280;p9"/>
          <p:cNvSpPr/>
          <p:nvPr/>
        </p:nvSpPr>
        <p:spPr>
          <a:xfrm>
            <a:off x="7657862" y="4407098"/>
            <a:ext cx="5993487"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Customers rate and review completed services. </a:t>
            </a:r>
            <a:endParaRPr sz="1300">
              <a:solidFill>
                <a:schemeClr val="dk1"/>
              </a:solidFill>
              <a:latin typeface="Calibri"/>
              <a:ea typeface="Calibri"/>
              <a:cs typeface="Calibri"/>
              <a:sym typeface="Calibri"/>
            </a:endParaRPr>
          </a:p>
        </p:txBody>
      </p:sp>
      <p:sp>
        <p:nvSpPr>
          <p:cNvPr id="281" name="Google Shape;281;p9"/>
          <p:cNvSpPr/>
          <p:nvPr/>
        </p:nvSpPr>
        <p:spPr>
          <a:xfrm>
            <a:off x="7657862" y="4775716"/>
            <a:ext cx="5993487"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Admin monitors reviews to prevent misuse and maintains fairness.</a:t>
            </a:r>
            <a:endParaRPr sz="1300">
              <a:solidFill>
                <a:schemeClr val="dk1"/>
              </a:solidFill>
              <a:latin typeface="Calibri"/>
              <a:ea typeface="Calibri"/>
              <a:cs typeface="Calibri"/>
              <a:sym typeface="Calibri"/>
            </a:endParaRPr>
          </a:p>
        </p:txBody>
      </p:sp>
      <p:sp>
        <p:nvSpPr>
          <p:cNvPr id="282" name="Google Shape;282;p9"/>
          <p:cNvSpPr/>
          <p:nvPr/>
        </p:nvSpPr>
        <p:spPr>
          <a:xfrm>
            <a:off x="7657862" y="5144333"/>
            <a:ext cx="5993487"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Complaint system tracks issues through open, under-review, resolved, and closed statuses.</a:t>
            </a:r>
            <a:endParaRPr sz="1300">
              <a:solidFill>
                <a:schemeClr val="dk1"/>
              </a:solidFill>
              <a:latin typeface="Calibri"/>
              <a:ea typeface="Calibri"/>
              <a:cs typeface="Calibri"/>
              <a:sym typeface="Calibri"/>
            </a:endParaRPr>
          </a:p>
        </p:txBody>
      </p:sp>
      <p:sp>
        <p:nvSpPr>
          <p:cNvPr id="283" name="Google Shape;283;p9"/>
          <p:cNvSpPr/>
          <p:nvPr/>
        </p:nvSpPr>
        <p:spPr>
          <a:xfrm>
            <a:off x="788670" y="6038493"/>
            <a:ext cx="6442710" cy="1648063"/>
          </a:xfrm>
          <a:prstGeom prst="roundRect">
            <a:avLst>
              <a:gd name="adj" fmla="val 6658"/>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9"/>
          <p:cNvSpPr/>
          <p:nvPr/>
        </p:nvSpPr>
        <p:spPr>
          <a:xfrm>
            <a:off x="765810" y="6038493"/>
            <a:ext cx="91440" cy="1648063"/>
          </a:xfrm>
          <a:prstGeom prst="roundRect">
            <a:avLst>
              <a:gd name="adj" fmla="val 27496"/>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9"/>
          <p:cNvSpPr/>
          <p:nvPr/>
        </p:nvSpPr>
        <p:spPr>
          <a:xfrm>
            <a:off x="1047631" y="6228874"/>
            <a:ext cx="3101578" cy="261937"/>
          </a:xfrm>
          <a:prstGeom prst="rect">
            <a:avLst/>
          </a:prstGeom>
          <a:noFill/>
          <a:ln>
            <a:noFill/>
          </a:ln>
        </p:spPr>
        <p:txBody>
          <a:bodyPr spcFirstLastPara="1" wrap="square" lIns="0" tIns="0" rIns="0" bIns="0" anchor="t" anchorCtr="0">
            <a:noAutofit/>
          </a:bodyPr>
          <a:lstStyle/>
          <a:p>
            <a:pPr marL="0" marR="0" lvl="0" indent="0" algn="l" rtl="0">
              <a:lnSpc>
                <a:spcPct val="128125"/>
              </a:lnSpc>
              <a:spcBef>
                <a:spcPts val="0"/>
              </a:spcBef>
              <a:spcAft>
                <a:spcPts val="0"/>
              </a:spcAft>
              <a:buClr>
                <a:srgbClr val="161613"/>
              </a:buClr>
              <a:buSzPts val="1600"/>
              <a:buFont typeface="DM Sans Medium"/>
              <a:buNone/>
            </a:pPr>
            <a:r>
              <a:rPr lang="en-US" sz="1600">
                <a:solidFill>
                  <a:srgbClr val="161613"/>
                </a:solidFill>
                <a:latin typeface="DM Sans Medium"/>
                <a:ea typeface="DM Sans Medium"/>
                <a:cs typeface="DM Sans Medium"/>
                <a:sym typeface="DM Sans Medium"/>
              </a:rPr>
              <a:t>Notifications &amp; Communication</a:t>
            </a:r>
            <a:endParaRPr sz="1600">
              <a:solidFill>
                <a:schemeClr val="dk1"/>
              </a:solidFill>
              <a:latin typeface="Calibri"/>
              <a:ea typeface="Calibri"/>
              <a:cs typeface="Calibri"/>
              <a:sym typeface="Calibri"/>
            </a:endParaRPr>
          </a:p>
        </p:txBody>
      </p:sp>
      <p:sp>
        <p:nvSpPr>
          <p:cNvPr id="286" name="Google Shape;286;p9"/>
          <p:cNvSpPr/>
          <p:nvPr/>
        </p:nvSpPr>
        <p:spPr>
          <a:xfrm>
            <a:off x="1047631" y="6591300"/>
            <a:ext cx="5993368"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Real-time in-app notifications for booking status, payments, and updates.</a:t>
            </a:r>
            <a:endParaRPr sz="1300">
              <a:solidFill>
                <a:schemeClr val="dk1"/>
              </a:solidFill>
              <a:latin typeface="Calibri"/>
              <a:ea typeface="Calibri"/>
              <a:cs typeface="Calibri"/>
              <a:sym typeface="Calibri"/>
            </a:endParaRPr>
          </a:p>
        </p:txBody>
      </p:sp>
      <p:sp>
        <p:nvSpPr>
          <p:cNvPr id="287" name="Google Shape;287;p9"/>
          <p:cNvSpPr/>
          <p:nvPr/>
        </p:nvSpPr>
        <p:spPr>
          <a:xfrm>
            <a:off x="1047631" y="6959917"/>
            <a:ext cx="5993368"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Email notifications via Nodemailer ensure no important information is missed.</a:t>
            </a:r>
            <a:endParaRPr sz="1300">
              <a:solidFill>
                <a:schemeClr val="dk1"/>
              </a:solidFill>
              <a:latin typeface="Calibri"/>
              <a:ea typeface="Calibri"/>
              <a:cs typeface="Calibri"/>
              <a:sym typeface="Calibri"/>
            </a:endParaRPr>
          </a:p>
        </p:txBody>
      </p:sp>
      <p:sp>
        <p:nvSpPr>
          <p:cNvPr id="288" name="Google Shape;288;p9"/>
          <p:cNvSpPr/>
          <p:nvPr/>
        </p:nvSpPr>
        <p:spPr>
          <a:xfrm>
            <a:off x="7398901" y="6038493"/>
            <a:ext cx="6442829" cy="1648063"/>
          </a:xfrm>
          <a:prstGeom prst="roundRect">
            <a:avLst>
              <a:gd name="adj" fmla="val 6658"/>
            </a:avLst>
          </a:prstGeom>
          <a:solidFill>
            <a:srgbClr val="F9F8F5"/>
          </a:solidFill>
          <a:ln w="22850" cap="flat" cmpd="sng">
            <a:solidFill>
              <a:srgbClr val="D3D1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9"/>
          <p:cNvSpPr/>
          <p:nvPr/>
        </p:nvSpPr>
        <p:spPr>
          <a:xfrm>
            <a:off x="7376041" y="6038493"/>
            <a:ext cx="91440" cy="1648063"/>
          </a:xfrm>
          <a:prstGeom prst="roundRect">
            <a:avLst>
              <a:gd name="adj" fmla="val 27496"/>
            </a:avLst>
          </a:prstGeom>
          <a:solidFill>
            <a:srgbClr val="282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9"/>
          <p:cNvSpPr/>
          <p:nvPr/>
        </p:nvSpPr>
        <p:spPr>
          <a:xfrm>
            <a:off x="7657862" y="6228874"/>
            <a:ext cx="2095143" cy="261937"/>
          </a:xfrm>
          <a:prstGeom prst="rect">
            <a:avLst/>
          </a:prstGeom>
          <a:noFill/>
          <a:ln>
            <a:noFill/>
          </a:ln>
        </p:spPr>
        <p:txBody>
          <a:bodyPr spcFirstLastPara="1" wrap="square" lIns="0" tIns="0" rIns="0" bIns="0" anchor="t" anchorCtr="0">
            <a:noAutofit/>
          </a:bodyPr>
          <a:lstStyle/>
          <a:p>
            <a:pPr marL="0" marR="0" lvl="0" indent="0" algn="l" rtl="0">
              <a:lnSpc>
                <a:spcPct val="128125"/>
              </a:lnSpc>
              <a:spcBef>
                <a:spcPts val="0"/>
              </a:spcBef>
              <a:spcAft>
                <a:spcPts val="0"/>
              </a:spcAft>
              <a:buClr>
                <a:srgbClr val="161613"/>
              </a:buClr>
              <a:buSzPts val="1600"/>
              <a:buFont typeface="DM Sans Medium"/>
              <a:buNone/>
            </a:pPr>
            <a:r>
              <a:rPr lang="en-US" sz="1600">
                <a:solidFill>
                  <a:srgbClr val="161613"/>
                </a:solidFill>
                <a:latin typeface="DM Sans Medium"/>
                <a:ea typeface="DM Sans Medium"/>
                <a:cs typeface="DM Sans Medium"/>
                <a:sym typeface="DM Sans Medium"/>
              </a:rPr>
              <a:t>Provider Dashboard</a:t>
            </a:r>
            <a:endParaRPr sz="1600">
              <a:solidFill>
                <a:schemeClr val="dk1"/>
              </a:solidFill>
              <a:latin typeface="Calibri"/>
              <a:ea typeface="Calibri"/>
              <a:cs typeface="Calibri"/>
              <a:sym typeface="Calibri"/>
            </a:endParaRPr>
          </a:p>
        </p:txBody>
      </p:sp>
      <p:sp>
        <p:nvSpPr>
          <p:cNvPr id="291" name="Google Shape;291;p9"/>
          <p:cNvSpPr/>
          <p:nvPr/>
        </p:nvSpPr>
        <p:spPr>
          <a:xfrm>
            <a:off x="7657862" y="6591300"/>
            <a:ext cx="5993487" cy="2681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Comprehensive analytics showing revenue, ratings, and booking trends. </a:t>
            </a:r>
            <a:endParaRPr sz="1300">
              <a:solidFill>
                <a:schemeClr val="dk1"/>
              </a:solidFill>
              <a:latin typeface="Calibri"/>
              <a:ea typeface="Calibri"/>
              <a:cs typeface="Calibri"/>
              <a:sym typeface="Calibri"/>
            </a:endParaRPr>
          </a:p>
        </p:txBody>
      </p:sp>
      <p:sp>
        <p:nvSpPr>
          <p:cNvPr id="292" name="Google Shape;292;p9"/>
          <p:cNvSpPr/>
          <p:nvPr/>
        </p:nvSpPr>
        <p:spPr>
          <a:xfrm>
            <a:off x="7657862" y="6959917"/>
            <a:ext cx="5993487" cy="536258"/>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a:solidFill>
                  <a:srgbClr val="161613"/>
                </a:solidFill>
                <a:latin typeface="Inter"/>
                <a:ea typeface="Inter"/>
                <a:cs typeface="Inter"/>
                <a:sym typeface="Inter"/>
              </a:rPr>
              <a:t>Earning summaries and performance metrics help providers optimize their business strategy and identify growth opportunities.</a:t>
            </a:r>
            <a:endParaRPr sz="1300">
              <a:solidFill>
                <a:schemeClr val="dk1"/>
              </a:solidFill>
              <a:latin typeface="Calibri"/>
              <a:ea typeface="Calibri"/>
              <a:cs typeface="Calibri"/>
              <a:sym typeface="Calibri"/>
            </a:endParaRPr>
          </a:p>
        </p:txBody>
      </p:sp>
      <p:sp>
        <p:nvSpPr>
          <p:cNvPr id="293" name="Google Shape;293;p9"/>
          <p:cNvSpPr/>
          <p:nvPr/>
        </p:nvSpPr>
        <p:spPr>
          <a:xfrm>
            <a:off x="12687300" y="7686556"/>
            <a:ext cx="1828800" cy="543044"/>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0"/>
          <p:cNvSpPr/>
          <p:nvPr/>
        </p:nvSpPr>
        <p:spPr>
          <a:xfrm>
            <a:off x="793803" y="2099425"/>
            <a:ext cx="10147500" cy="620100"/>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Performance &amp; Security Standards</a:t>
            </a:r>
            <a:endParaRPr sz="3900">
              <a:solidFill>
                <a:schemeClr val="dk1"/>
              </a:solidFill>
              <a:latin typeface="Calibri"/>
              <a:ea typeface="Calibri"/>
              <a:cs typeface="Calibri"/>
              <a:sym typeface="Calibri"/>
            </a:endParaRPr>
          </a:p>
        </p:txBody>
      </p:sp>
      <p:sp>
        <p:nvSpPr>
          <p:cNvPr id="300" name="Google Shape;300;p10"/>
          <p:cNvSpPr/>
          <p:nvPr/>
        </p:nvSpPr>
        <p:spPr>
          <a:xfrm>
            <a:off x="793790" y="3215521"/>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Performance Targets</a:t>
            </a:r>
            <a:endParaRPr sz="1950">
              <a:solidFill>
                <a:schemeClr val="dk1"/>
              </a:solidFill>
              <a:latin typeface="Calibri"/>
              <a:ea typeface="Calibri"/>
              <a:cs typeface="Calibri"/>
              <a:sym typeface="Calibri"/>
            </a:endParaRPr>
          </a:p>
        </p:txBody>
      </p:sp>
      <p:sp>
        <p:nvSpPr>
          <p:cNvPr id="301" name="Google Shape;301;p10"/>
          <p:cNvSpPr/>
          <p:nvPr/>
        </p:nvSpPr>
        <p:spPr>
          <a:xfrm>
            <a:off x="793790" y="3724037"/>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b="1">
                <a:solidFill>
                  <a:srgbClr val="161613"/>
                </a:solidFill>
                <a:latin typeface="Inter"/>
                <a:ea typeface="Inter"/>
                <a:cs typeface="Inter"/>
                <a:sym typeface="Inter"/>
              </a:rPr>
              <a:t>Concurrent Users:</a:t>
            </a:r>
            <a:r>
              <a:rPr lang="en-US" sz="1550">
                <a:solidFill>
                  <a:srgbClr val="161613"/>
                </a:solidFill>
                <a:latin typeface="Inter"/>
                <a:ea typeface="Inter"/>
                <a:cs typeface="Inter"/>
                <a:sym typeface="Inter"/>
              </a:rPr>
              <a:t> Support 10,000+ simultaneous users</a:t>
            </a:r>
            <a:endParaRPr sz="1550">
              <a:solidFill>
                <a:schemeClr val="dk1"/>
              </a:solidFill>
              <a:latin typeface="Calibri"/>
              <a:ea typeface="Calibri"/>
              <a:cs typeface="Calibri"/>
              <a:sym typeface="Calibri"/>
            </a:endParaRPr>
          </a:p>
        </p:txBody>
      </p:sp>
      <p:sp>
        <p:nvSpPr>
          <p:cNvPr id="302" name="Google Shape;302;p10"/>
          <p:cNvSpPr/>
          <p:nvPr/>
        </p:nvSpPr>
        <p:spPr>
          <a:xfrm>
            <a:off x="793790" y="4110990"/>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b="1">
                <a:solidFill>
                  <a:srgbClr val="161613"/>
                </a:solidFill>
                <a:latin typeface="Inter"/>
                <a:ea typeface="Inter"/>
                <a:cs typeface="Inter"/>
                <a:sym typeface="Inter"/>
              </a:rPr>
              <a:t>Response Time:</a:t>
            </a:r>
            <a:r>
              <a:rPr lang="en-US" sz="1550">
                <a:solidFill>
                  <a:srgbClr val="161613"/>
                </a:solidFill>
                <a:latin typeface="Inter"/>
                <a:ea typeface="Inter"/>
                <a:cs typeface="Inter"/>
                <a:sym typeface="Inter"/>
              </a:rPr>
              <a:t> API responses under 3 seconds</a:t>
            </a:r>
            <a:endParaRPr sz="1550">
              <a:solidFill>
                <a:schemeClr val="dk1"/>
              </a:solidFill>
              <a:latin typeface="Calibri"/>
              <a:ea typeface="Calibri"/>
              <a:cs typeface="Calibri"/>
              <a:sym typeface="Calibri"/>
            </a:endParaRPr>
          </a:p>
        </p:txBody>
      </p:sp>
      <p:sp>
        <p:nvSpPr>
          <p:cNvPr id="303" name="Google Shape;303;p10"/>
          <p:cNvSpPr/>
          <p:nvPr/>
        </p:nvSpPr>
        <p:spPr>
          <a:xfrm>
            <a:off x="793790" y="4497943"/>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b="1">
                <a:solidFill>
                  <a:srgbClr val="161613"/>
                </a:solidFill>
                <a:latin typeface="Inter"/>
                <a:ea typeface="Inter"/>
                <a:cs typeface="Inter"/>
                <a:sym typeface="Inter"/>
              </a:rPr>
              <a:t>Database Optimization:</a:t>
            </a:r>
            <a:r>
              <a:rPr lang="en-US" sz="1550">
                <a:solidFill>
                  <a:srgbClr val="161613"/>
                </a:solidFill>
                <a:latin typeface="Inter"/>
                <a:ea typeface="Inter"/>
                <a:cs typeface="Inter"/>
                <a:sym typeface="Inter"/>
              </a:rPr>
              <a:t> Indexed queries for fast data retrieval</a:t>
            </a:r>
            <a:endParaRPr sz="1550">
              <a:solidFill>
                <a:schemeClr val="dk1"/>
              </a:solidFill>
              <a:latin typeface="Calibri"/>
              <a:ea typeface="Calibri"/>
              <a:cs typeface="Calibri"/>
              <a:sym typeface="Calibri"/>
            </a:endParaRPr>
          </a:p>
        </p:txBody>
      </p:sp>
      <p:sp>
        <p:nvSpPr>
          <p:cNvPr id="304" name="Google Shape;304;p10"/>
          <p:cNvSpPr/>
          <p:nvPr/>
        </p:nvSpPr>
        <p:spPr>
          <a:xfrm>
            <a:off x="793790" y="4884896"/>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b="1">
                <a:solidFill>
                  <a:srgbClr val="161613"/>
                </a:solidFill>
                <a:latin typeface="Inter"/>
                <a:ea typeface="Inter"/>
                <a:cs typeface="Inter"/>
                <a:sym typeface="Inter"/>
              </a:rPr>
              <a:t>Uptime:</a:t>
            </a:r>
            <a:r>
              <a:rPr lang="en-US" sz="1550">
                <a:solidFill>
                  <a:srgbClr val="161613"/>
                </a:solidFill>
                <a:latin typeface="Inter"/>
                <a:ea typeface="Inter"/>
                <a:cs typeface="Inter"/>
                <a:sym typeface="Inter"/>
              </a:rPr>
              <a:t> 99.5% availability through redundant hosting</a:t>
            </a:r>
            <a:endParaRPr sz="1550">
              <a:solidFill>
                <a:schemeClr val="dk1"/>
              </a:solidFill>
              <a:latin typeface="Calibri"/>
              <a:ea typeface="Calibri"/>
              <a:cs typeface="Calibri"/>
              <a:sym typeface="Calibri"/>
            </a:endParaRPr>
          </a:p>
        </p:txBody>
      </p:sp>
      <p:sp>
        <p:nvSpPr>
          <p:cNvPr id="305" name="Google Shape;305;p10"/>
          <p:cNvSpPr/>
          <p:nvPr/>
        </p:nvSpPr>
        <p:spPr>
          <a:xfrm>
            <a:off x="7564874" y="3215521"/>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Security Measures</a:t>
            </a:r>
            <a:endParaRPr sz="1950">
              <a:solidFill>
                <a:schemeClr val="dk1"/>
              </a:solidFill>
              <a:latin typeface="Calibri"/>
              <a:ea typeface="Calibri"/>
              <a:cs typeface="Calibri"/>
              <a:sym typeface="Calibri"/>
            </a:endParaRPr>
          </a:p>
        </p:txBody>
      </p:sp>
      <p:sp>
        <p:nvSpPr>
          <p:cNvPr id="306" name="Google Shape;306;p10"/>
          <p:cNvSpPr/>
          <p:nvPr/>
        </p:nvSpPr>
        <p:spPr>
          <a:xfrm>
            <a:off x="7564874" y="3724037"/>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b="1">
                <a:solidFill>
                  <a:srgbClr val="161613"/>
                </a:solidFill>
                <a:latin typeface="Inter"/>
                <a:ea typeface="Inter"/>
                <a:cs typeface="Inter"/>
                <a:sym typeface="Inter"/>
              </a:rPr>
              <a:t>Authentication:</a:t>
            </a:r>
            <a:r>
              <a:rPr lang="en-US" sz="1550">
                <a:solidFill>
                  <a:srgbClr val="161613"/>
                </a:solidFill>
                <a:latin typeface="Inter"/>
                <a:ea typeface="Inter"/>
                <a:cs typeface="Inter"/>
                <a:sym typeface="Inter"/>
              </a:rPr>
              <a:t> JWT-based secure sessions</a:t>
            </a:r>
            <a:endParaRPr sz="1550">
              <a:solidFill>
                <a:schemeClr val="dk1"/>
              </a:solidFill>
              <a:latin typeface="Calibri"/>
              <a:ea typeface="Calibri"/>
              <a:cs typeface="Calibri"/>
              <a:sym typeface="Calibri"/>
            </a:endParaRPr>
          </a:p>
        </p:txBody>
      </p:sp>
      <p:sp>
        <p:nvSpPr>
          <p:cNvPr id="307" name="Google Shape;307;p10"/>
          <p:cNvSpPr/>
          <p:nvPr/>
        </p:nvSpPr>
        <p:spPr>
          <a:xfrm>
            <a:off x="7564874" y="4110990"/>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161613"/>
              </a:buClr>
              <a:buSzPts val="1550"/>
              <a:buFont typeface="Inter"/>
              <a:buChar char="•"/>
            </a:pPr>
            <a:r>
              <a:rPr lang="en-US" sz="1550" b="1">
                <a:solidFill>
                  <a:srgbClr val="161613"/>
                </a:solidFill>
                <a:latin typeface="Inter"/>
                <a:ea typeface="Inter"/>
                <a:cs typeface="Inter"/>
                <a:sym typeface="Inter"/>
              </a:rPr>
              <a:t>Encryption:</a:t>
            </a:r>
            <a:r>
              <a:rPr lang="en-US" sz="1550">
                <a:solidFill>
                  <a:srgbClr val="161613"/>
                </a:solidFill>
                <a:latin typeface="Inter"/>
                <a:ea typeface="Inter"/>
                <a:cs typeface="Inter"/>
                <a:sym typeface="Inter"/>
              </a:rPr>
              <a:t> bcrypt password hashing and data encryption</a:t>
            </a:r>
            <a:endParaRPr sz="1550">
              <a:solidFill>
                <a:schemeClr val="dk1"/>
              </a:solidFill>
              <a:latin typeface="Calibri"/>
              <a:ea typeface="Calibri"/>
              <a:cs typeface="Calibri"/>
              <a:sym typeface="Calibri"/>
            </a:endParaRPr>
          </a:p>
        </p:txBody>
      </p:sp>
      <p:sp>
        <p:nvSpPr>
          <p:cNvPr id="308" name="Google Shape;308;p10"/>
          <p:cNvSpPr/>
          <p:nvPr/>
        </p:nvSpPr>
        <p:spPr>
          <a:xfrm>
            <a:off x="793790" y="5495092"/>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Horizontal scaling through Node.js and MongoDB clusters ensures the platform grows with demand, while comprehensive error logging maintains system reliability and security.</a:t>
            </a:r>
            <a:endParaRPr sz="1550">
              <a:solidFill>
                <a:schemeClr val="dk1"/>
              </a:solidFill>
              <a:latin typeface="Calibri"/>
              <a:ea typeface="Calibri"/>
              <a:cs typeface="Calibri"/>
              <a:sym typeface="Calibri"/>
            </a:endParaRPr>
          </a:p>
        </p:txBody>
      </p:sp>
      <p:sp>
        <p:nvSpPr>
          <p:cNvPr id="309" name="Google Shape;309;p10"/>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1"/>
          <p:cNvSpPr/>
          <p:nvPr/>
        </p:nvSpPr>
        <p:spPr>
          <a:xfrm>
            <a:off x="793806" y="1322775"/>
            <a:ext cx="8270700" cy="620100"/>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Medium"/>
              <a:buNone/>
            </a:pPr>
            <a:r>
              <a:rPr lang="en-US" sz="3900">
                <a:solidFill>
                  <a:srgbClr val="161613"/>
                </a:solidFill>
                <a:latin typeface="DM Sans Medium"/>
                <a:ea typeface="DM Sans Medium"/>
                <a:cs typeface="DM Sans Medium"/>
                <a:sym typeface="DM Sans Medium"/>
              </a:rPr>
              <a:t>Real-World Use Cases</a:t>
            </a:r>
            <a:endParaRPr sz="3900">
              <a:solidFill>
                <a:schemeClr val="dk1"/>
              </a:solidFill>
              <a:latin typeface="Calibri"/>
              <a:ea typeface="Calibri"/>
              <a:cs typeface="Calibri"/>
              <a:sym typeface="Calibri"/>
            </a:endParaRPr>
          </a:p>
        </p:txBody>
      </p:sp>
      <p:sp>
        <p:nvSpPr>
          <p:cNvPr id="316" name="Google Shape;316;p11"/>
          <p:cNvSpPr/>
          <p:nvPr/>
        </p:nvSpPr>
        <p:spPr>
          <a:xfrm>
            <a:off x="793790" y="2371168"/>
            <a:ext cx="446400" cy="446400"/>
          </a:xfrm>
          <a:prstGeom prst="roundRect">
            <a:avLst>
              <a:gd name="adj" fmla="val 6668"/>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1438621" y="2407925"/>
            <a:ext cx="55083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Household Emergency Repairs</a:t>
            </a:r>
            <a:endParaRPr sz="1950">
              <a:solidFill>
                <a:schemeClr val="dk1"/>
              </a:solidFill>
              <a:latin typeface="Calibri"/>
              <a:ea typeface="Calibri"/>
              <a:cs typeface="Calibri"/>
              <a:sym typeface="Calibri"/>
            </a:endParaRPr>
          </a:p>
        </p:txBody>
      </p:sp>
      <p:sp>
        <p:nvSpPr>
          <p:cNvPr id="318" name="Google Shape;318;p11"/>
          <p:cNvSpPr/>
          <p:nvPr/>
        </p:nvSpPr>
        <p:spPr>
          <a:xfrm>
            <a:off x="1438632" y="2837140"/>
            <a:ext cx="5752505" cy="158769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 customer needs an urgent electrician and books one within minutes through Fixly. Real-time tracking shows arrival time, secure payment processes upon completion, and the customer rates the provider immediately—building a verified professional reputation.</a:t>
            </a:r>
            <a:endParaRPr sz="1550">
              <a:solidFill>
                <a:schemeClr val="dk1"/>
              </a:solidFill>
              <a:latin typeface="Calibri"/>
              <a:ea typeface="Calibri"/>
              <a:cs typeface="Calibri"/>
              <a:sym typeface="Calibri"/>
            </a:endParaRPr>
          </a:p>
        </p:txBody>
      </p:sp>
      <p:sp>
        <p:nvSpPr>
          <p:cNvPr id="319" name="Google Shape;319;p11"/>
          <p:cNvSpPr/>
          <p:nvPr/>
        </p:nvSpPr>
        <p:spPr>
          <a:xfrm>
            <a:off x="7439144" y="2371168"/>
            <a:ext cx="446400" cy="446400"/>
          </a:xfrm>
          <a:prstGeom prst="roundRect">
            <a:avLst>
              <a:gd name="adj" fmla="val 6668"/>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1"/>
          <p:cNvSpPr/>
          <p:nvPr/>
        </p:nvSpPr>
        <p:spPr>
          <a:xfrm>
            <a:off x="8083972" y="2407925"/>
            <a:ext cx="52791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Commercial Maintenance Contracts</a:t>
            </a:r>
            <a:endParaRPr sz="1950">
              <a:solidFill>
                <a:schemeClr val="dk1"/>
              </a:solidFill>
              <a:latin typeface="Calibri"/>
              <a:ea typeface="Calibri"/>
              <a:cs typeface="Calibri"/>
              <a:sym typeface="Calibri"/>
            </a:endParaRPr>
          </a:p>
        </p:txBody>
      </p:sp>
      <p:sp>
        <p:nvSpPr>
          <p:cNvPr id="321" name="Google Shape;321;p11"/>
          <p:cNvSpPr/>
          <p:nvPr/>
        </p:nvSpPr>
        <p:spPr>
          <a:xfrm>
            <a:off x="8083987" y="2837140"/>
            <a:ext cx="5752624" cy="127015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An office books IT support on a monthly recurring contract through Fixly. Invoices are automatically generated, payment is processed securely, and the business tracks all service requests and resolutions in one dashboard.</a:t>
            </a:r>
            <a:endParaRPr sz="1550">
              <a:solidFill>
                <a:schemeClr val="dk1"/>
              </a:solidFill>
              <a:latin typeface="Calibri"/>
              <a:ea typeface="Calibri"/>
              <a:cs typeface="Calibri"/>
              <a:sym typeface="Calibri"/>
            </a:endParaRPr>
          </a:p>
        </p:txBody>
      </p:sp>
      <p:sp>
        <p:nvSpPr>
          <p:cNvPr id="322" name="Google Shape;322;p11"/>
          <p:cNvSpPr/>
          <p:nvPr/>
        </p:nvSpPr>
        <p:spPr>
          <a:xfrm>
            <a:off x="793790" y="4853145"/>
            <a:ext cx="446400" cy="446400"/>
          </a:xfrm>
          <a:prstGeom prst="roundRect">
            <a:avLst>
              <a:gd name="adj" fmla="val 6668"/>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1438619" y="4889900"/>
            <a:ext cx="53688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Service Provider Growth</a:t>
            </a:r>
            <a:endParaRPr sz="1950">
              <a:solidFill>
                <a:schemeClr val="dk1"/>
              </a:solidFill>
              <a:latin typeface="Calibri"/>
              <a:ea typeface="Calibri"/>
              <a:cs typeface="Calibri"/>
              <a:sym typeface="Calibri"/>
            </a:endParaRPr>
          </a:p>
        </p:txBody>
      </p:sp>
      <p:sp>
        <p:nvSpPr>
          <p:cNvPr id="324" name="Google Shape;324;p11"/>
          <p:cNvSpPr/>
          <p:nvPr/>
        </p:nvSpPr>
        <p:spPr>
          <a:xfrm>
            <a:off x="1438632" y="5319117"/>
            <a:ext cx="5752505" cy="158769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 plumber gains visibility on Fixly by listing services with detailed pricing and availability. Analytics show peak booking times, customer feedback highlights strengths, and the rewards program encourages repeat bookings, growing their business systematically.</a:t>
            </a:r>
            <a:endParaRPr sz="1550">
              <a:solidFill>
                <a:schemeClr val="dk1"/>
              </a:solidFill>
              <a:latin typeface="Calibri"/>
              <a:ea typeface="Calibri"/>
              <a:cs typeface="Calibri"/>
              <a:sym typeface="Calibri"/>
            </a:endParaRPr>
          </a:p>
        </p:txBody>
      </p:sp>
      <p:sp>
        <p:nvSpPr>
          <p:cNvPr id="325" name="Google Shape;325;p11"/>
          <p:cNvSpPr/>
          <p:nvPr/>
        </p:nvSpPr>
        <p:spPr>
          <a:xfrm>
            <a:off x="7439144" y="4853145"/>
            <a:ext cx="446400" cy="446400"/>
          </a:xfrm>
          <a:prstGeom prst="roundRect">
            <a:avLst>
              <a:gd name="adj" fmla="val 6668"/>
            </a:avLst>
          </a:prstGeom>
          <a:solidFill>
            <a:srgbClr val="EDE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8083971" y="4889900"/>
            <a:ext cx="50637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61613"/>
              </a:buClr>
              <a:buSzPts val="1950"/>
              <a:buFont typeface="DM Sans Medium"/>
              <a:buNone/>
            </a:pPr>
            <a:r>
              <a:rPr lang="en-US" sz="1950">
                <a:solidFill>
                  <a:srgbClr val="161613"/>
                </a:solidFill>
                <a:latin typeface="DM Sans Medium"/>
                <a:ea typeface="DM Sans Medium"/>
                <a:cs typeface="DM Sans Medium"/>
                <a:sym typeface="DM Sans Medium"/>
              </a:rPr>
              <a:t>Customer Loyalty &amp; Engagement</a:t>
            </a:r>
            <a:endParaRPr sz="1950">
              <a:solidFill>
                <a:schemeClr val="dk1"/>
              </a:solidFill>
              <a:latin typeface="Calibri"/>
              <a:ea typeface="Calibri"/>
              <a:cs typeface="Calibri"/>
              <a:sym typeface="Calibri"/>
            </a:endParaRPr>
          </a:p>
        </p:txBody>
      </p:sp>
      <p:sp>
        <p:nvSpPr>
          <p:cNvPr id="327" name="Google Shape;327;p11"/>
          <p:cNvSpPr/>
          <p:nvPr/>
        </p:nvSpPr>
        <p:spPr>
          <a:xfrm>
            <a:off x="8083987" y="5319117"/>
            <a:ext cx="5752624" cy="127015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 family schedules weekly home cleaning on Fixly, earning loyalty points with each booking. Points accumulate for referrals and positive reviews, then redeem for discounts—creating a cycle of engagement and retention.</a:t>
            </a:r>
            <a:endParaRPr sz="1550">
              <a:solidFill>
                <a:schemeClr val="dk1"/>
              </a:solidFill>
              <a:latin typeface="Calibri"/>
              <a:ea typeface="Calibri"/>
              <a:cs typeface="Calibri"/>
              <a:sym typeface="Calibri"/>
            </a:endParaRPr>
          </a:p>
        </p:txBody>
      </p:sp>
      <p:sp>
        <p:nvSpPr>
          <p:cNvPr id="328" name="Google Shape;328;p11"/>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2"/>
          <p:cNvSpPr/>
          <p:nvPr/>
        </p:nvSpPr>
        <p:spPr>
          <a:xfrm>
            <a:off x="793790" y="571619"/>
            <a:ext cx="4713684" cy="589121"/>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161613"/>
              </a:buClr>
              <a:buSzPts val="3700"/>
              <a:buFont typeface="DM Sans Medium"/>
              <a:buNone/>
            </a:pPr>
            <a:r>
              <a:rPr lang="en-US" sz="3700">
                <a:solidFill>
                  <a:srgbClr val="161613"/>
                </a:solidFill>
                <a:latin typeface="DM Sans Medium"/>
                <a:ea typeface="DM Sans Medium"/>
                <a:cs typeface="DM Sans Medium"/>
                <a:sym typeface="DM Sans Medium"/>
              </a:rPr>
              <a:t>The Fixly Vision</a:t>
            </a:r>
            <a:endParaRPr sz="3700">
              <a:solidFill>
                <a:schemeClr val="dk1"/>
              </a:solidFill>
              <a:latin typeface="Calibri"/>
              <a:ea typeface="Calibri"/>
              <a:cs typeface="Calibri"/>
              <a:sym typeface="Calibri"/>
            </a:endParaRPr>
          </a:p>
        </p:txBody>
      </p:sp>
      <p:sp>
        <p:nvSpPr>
          <p:cNvPr id="335" name="Google Shape;335;p12"/>
          <p:cNvSpPr/>
          <p:nvPr/>
        </p:nvSpPr>
        <p:spPr>
          <a:xfrm>
            <a:off x="793790" y="1443514"/>
            <a:ext cx="13042821" cy="235672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7400"/>
              <a:buFont typeface="DM Sans Medium"/>
              <a:buNone/>
            </a:pPr>
            <a:r>
              <a:rPr lang="en-US" sz="7400">
                <a:solidFill>
                  <a:srgbClr val="161613"/>
                </a:solidFill>
                <a:latin typeface="DM Sans Medium"/>
                <a:ea typeface="DM Sans Medium"/>
                <a:cs typeface="DM Sans Medium"/>
                <a:sym typeface="DM Sans Medium"/>
              </a:rPr>
              <a:t>Convenience at Your Doorstep</a:t>
            </a:r>
            <a:endParaRPr sz="7400">
              <a:solidFill>
                <a:schemeClr val="dk1"/>
              </a:solidFill>
              <a:latin typeface="Calibri"/>
              <a:ea typeface="Calibri"/>
              <a:cs typeface="Calibri"/>
              <a:sym typeface="Calibri"/>
            </a:endParaRPr>
          </a:p>
        </p:txBody>
      </p:sp>
      <p:sp>
        <p:nvSpPr>
          <p:cNvPr id="336" name="Google Shape;336;p12"/>
          <p:cNvSpPr/>
          <p:nvPr/>
        </p:nvSpPr>
        <p:spPr>
          <a:xfrm>
            <a:off x="793790" y="4083010"/>
            <a:ext cx="13042821"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161613"/>
              </a:buClr>
              <a:buSzPts val="1450"/>
              <a:buFont typeface="Inter"/>
              <a:buNone/>
            </a:pPr>
            <a:r>
              <a:rPr lang="en-US" sz="1450">
                <a:solidFill>
                  <a:srgbClr val="161613"/>
                </a:solidFill>
                <a:latin typeface="Inter"/>
                <a:ea typeface="Inter"/>
                <a:cs typeface="Inter"/>
                <a:sym typeface="Inter"/>
              </a:rPr>
              <a:t>Fixly transforms professional services by creating a trustworthy ecosystem where customers find verified professionals effortlessly, providers grow their business sustainably, and both sides benefit from transparency, security, and convenience.</a:t>
            </a:r>
            <a:endParaRPr sz="1450">
              <a:solidFill>
                <a:schemeClr val="dk1"/>
              </a:solidFill>
              <a:latin typeface="Calibri"/>
              <a:ea typeface="Calibri"/>
              <a:cs typeface="Calibri"/>
              <a:sym typeface="Calibri"/>
            </a:endParaRPr>
          </a:p>
        </p:txBody>
      </p:sp>
      <p:sp>
        <p:nvSpPr>
          <p:cNvPr id="337" name="Google Shape;337;p12"/>
          <p:cNvSpPr/>
          <p:nvPr/>
        </p:nvSpPr>
        <p:spPr>
          <a:xfrm>
            <a:off x="793790" y="5086945"/>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161613"/>
              </a:buClr>
              <a:buSzPts val="1850"/>
              <a:buFont typeface="DM Sans Medium"/>
              <a:buNone/>
            </a:pPr>
            <a:r>
              <a:rPr lang="en-US" sz="1850">
                <a:solidFill>
                  <a:srgbClr val="161613"/>
                </a:solidFill>
                <a:latin typeface="DM Sans Medium"/>
                <a:ea typeface="DM Sans Medium"/>
                <a:cs typeface="DM Sans Medium"/>
                <a:sym typeface="DM Sans Medium"/>
              </a:rPr>
              <a:t>For Customers</a:t>
            </a:r>
            <a:endParaRPr sz="1850">
              <a:solidFill>
                <a:schemeClr val="dk1"/>
              </a:solidFill>
              <a:latin typeface="Calibri"/>
              <a:ea typeface="Calibri"/>
              <a:cs typeface="Calibri"/>
              <a:sym typeface="Calibri"/>
            </a:endParaRPr>
          </a:p>
        </p:txBody>
      </p:sp>
      <p:sp>
        <p:nvSpPr>
          <p:cNvPr id="338" name="Google Shape;338;p12"/>
          <p:cNvSpPr/>
          <p:nvPr/>
        </p:nvSpPr>
        <p:spPr>
          <a:xfrm>
            <a:off x="793790" y="5570101"/>
            <a:ext cx="3995857" cy="905113"/>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161613"/>
              </a:buClr>
              <a:buSzPts val="1450"/>
              <a:buFont typeface="Inter"/>
              <a:buNone/>
            </a:pPr>
            <a:r>
              <a:rPr lang="en-US" sz="1450">
                <a:solidFill>
                  <a:srgbClr val="161613"/>
                </a:solidFill>
                <a:latin typeface="Inter"/>
                <a:ea typeface="Inter"/>
                <a:cs typeface="Inter"/>
                <a:sym typeface="Inter"/>
              </a:rPr>
              <a:t>Access reliable services instantly with verified professionals, transparent pricing, and peace of mind.</a:t>
            </a:r>
            <a:endParaRPr sz="1450">
              <a:solidFill>
                <a:schemeClr val="dk1"/>
              </a:solidFill>
              <a:latin typeface="Calibri"/>
              <a:ea typeface="Calibri"/>
              <a:cs typeface="Calibri"/>
              <a:sym typeface="Calibri"/>
            </a:endParaRPr>
          </a:p>
        </p:txBody>
      </p:sp>
      <p:sp>
        <p:nvSpPr>
          <p:cNvPr id="339" name="Google Shape;339;p12"/>
          <p:cNvSpPr/>
          <p:nvPr/>
        </p:nvSpPr>
        <p:spPr>
          <a:xfrm>
            <a:off x="5257324" y="5086945"/>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161613"/>
              </a:buClr>
              <a:buSzPts val="1850"/>
              <a:buFont typeface="DM Sans Medium"/>
              <a:buNone/>
            </a:pPr>
            <a:r>
              <a:rPr lang="en-US" sz="1850">
                <a:solidFill>
                  <a:srgbClr val="161613"/>
                </a:solidFill>
                <a:latin typeface="DM Sans Medium"/>
                <a:ea typeface="DM Sans Medium"/>
                <a:cs typeface="DM Sans Medium"/>
                <a:sym typeface="DM Sans Medium"/>
              </a:rPr>
              <a:t>For Providers</a:t>
            </a:r>
            <a:endParaRPr sz="1850">
              <a:solidFill>
                <a:schemeClr val="dk1"/>
              </a:solidFill>
              <a:latin typeface="Calibri"/>
              <a:ea typeface="Calibri"/>
              <a:cs typeface="Calibri"/>
              <a:sym typeface="Calibri"/>
            </a:endParaRPr>
          </a:p>
        </p:txBody>
      </p:sp>
      <p:sp>
        <p:nvSpPr>
          <p:cNvPr id="340" name="Google Shape;340;p12"/>
          <p:cNvSpPr/>
          <p:nvPr/>
        </p:nvSpPr>
        <p:spPr>
          <a:xfrm>
            <a:off x="5257324" y="5570101"/>
            <a:ext cx="3995857" cy="905113"/>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161613"/>
              </a:buClr>
              <a:buSzPts val="1450"/>
              <a:buFont typeface="Inter"/>
              <a:buNone/>
            </a:pPr>
            <a:r>
              <a:rPr lang="en-US" sz="1450">
                <a:solidFill>
                  <a:srgbClr val="161613"/>
                </a:solidFill>
                <a:latin typeface="Inter"/>
                <a:ea typeface="Inter"/>
                <a:cs typeface="Inter"/>
                <a:sym typeface="Inter"/>
              </a:rPr>
              <a:t>Grow your business with visibility, efficient tools, secure payments, and customer loyalty programs.</a:t>
            </a:r>
            <a:endParaRPr sz="1450">
              <a:solidFill>
                <a:schemeClr val="dk1"/>
              </a:solidFill>
              <a:latin typeface="Calibri"/>
              <a:ea typeface="Calibri"/>
              <a:cs typeface="Calibri"/>
              <a:sym typeface="Calibri"/>
            </a:endParaRPr>
          </a:p>
        </p:txBody>
      </p:sp>
      <p:sp>
        <p:nvSpPr>
          <p:cNvPr id="341" name="Google Shape;341;p12"/>
          <p:cNvSpPr/>
          <p:nvPr/>
        </p:nvSpPr>
        <p:spPr>
          <a:xfrm>
            <a:off x="9720858" y="5086945"/>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161613"/>
              </a:buClr>
              <a:buSzPts val="1850"/>
              <a:buFont typeface="DM Sans Medium"/>
              <a:buNone/>
            </a:pPr>
            <a:r>
              <a:rPr lang="en-US" sz="1850">
                <a:solidFill>
                  <a:srgbClr val="161613"/>
                </a:solidFill>
                <a:latin typeface="DM Sans Medium"/>
                <a:ea typeface="DM Sans Medium"/>
                <a:cs typeface="DM Sans Medium"/>
                <a:sym typeface="DM Sans Medium"/>
              </a:rPr>
              <a:t>For Society</a:t>
            </a:r>
            <a:endParaRPr sz="1850">
              <a:solidFill>
                <a:schemeClr val="dk1"/>
              </a:solidFill>
              <a:latin typeface="Calibri"/>
              <a:ea typeface="Calibri"/>
              <a:cs typeface="Calibri"/>
              <a:sym typeface="Calibri"/>
            </a:endParaRPr>
          </a:p>
        </p:txBody>
      </p:sp>
      <p:sp>
        <p:nvSpPr>
          <p:cNvPr id="342" name="Google Shape;342;p12"/>
          <p:cNvSpPr/>
          <p:nvPr/>
        </p:nvSpPr>
        <p:spPr>
          <a:xfrm>
            <a:off x="9720858" y="5570101"/>
            <a:ext cx="4130873" cy="905113"/>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161613"/>
              </a:buClr>
              <a:buSzPts val="1450"/>
              <a:buFont typeface="Inter"/>
              <a:buNone/>
            </a:pPr>
            <a:r>
              <a:rPr lang="en-US" sz="1450">
                <a:solidFill>
                  <a:srgbClr val="161613"/>
                </a:solidFill>
                <a:latin typeface="Inter"/>
                <a:ea typeface="Inter"/>
                <a:cs typeface="Inter"/>
                <a:sym typeface="Inter"/>
              </a:rPr>
              <a:t>Strengthen the service economy with trust, efficiency, and equal opportunity for skilled professionals everywhere.</a:t>
            </a:r>
            <a:endParaRPr sz="1450">
              <a:solidFill>
                <a:schemeClr val="dk1"/>
              </a:solidFill>
              <a:latin typeface="Calibri"/>
              <a:ea typeface="Calibri"/>
              <a:cs typeface="Calibri"/>
              <a:sym typeface="Calibri"/>
            </a:endParaRPr>
          </a:p>
        </p:txBody>
      </p:sp>
      <p:sp>
        <p:nvSpPr>
          <p:cNvPr id="343" name="Google Shape;343;p12"/>
          <p:cNvSpPr/>
          <p:nvPr/>
        </p:nvSpPr>
        <p:spPr>
          <a:xfrm>
            <a:off x="733840" y="6842766"/>
            <a:ext cx="13042800" cy="801000"/>
          </a:xfrm>
          <a:prstGeom prst="roundRect">
            <a:avLst>
              <a:gd name="adj" fmla="val 3531"/>
            </a:avLst>
          </a:prstGeom>
          <a:solidFill>
            <a:srgbClr val="D6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4" name="Google Shape;344;p12" descr="preencoded.png"/>
          <p:cNvPicPr preferRelativeResize="0"/>
          <p:nvPr/>
        </p:nvPicPr>
        <p:blipFill rotWithShape="1">
          <a:blip r:embed="rId3">
            <a:alphaModFix/>
          </a:blip>
          <a:srcRect/>
          <a:stretch/>
        </p:blipFill>
        <p:spPr>
          <a:xfrm>
            <a:off x="982266" y="7140773"/>
            <a:ext cx="235625" cy="188476"/>
          </a:xfrm>
          <a:prstGeom prst="rect">
            <a:avLst/>
          </a:prstGeom>
          <a:noFill/>
          <a:ln>
            <a:noFill/>
          </a:ln>
        </p:spPr>
      </p:pic>
      <p:sp>
        <p:nvSpPr>
          <p:cNvPr id="345" name="Google Shape;345;p12"/>
          <p:cNvSpPr/>
          <p:nvPr/>
        </p:nvSpPr>
        <p:spPr>
          <a:xfrm>
            <a:off x="1406366" y="7092434"/>
            <a:ext cx="12241768" cy="301704"/>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000000"/>
              </a:buClr>
              <a:buSzPts val="1450"/>
              <a:buFont typeface="Inter"/>
              <a:buNone/>
            </a:pPr>
            <a:r>
              <a:rPr lang="en-US" sz="1450">
                <a:solidFill>
                  <a:srgbClr val="000000"/>
                </a:solidFill>
                <a:latin typeface="Inter"/>
                <a:ea typeface="Inter"/>
                <a:cs typeface="Inter"/>
                <a:sym typeface="Inter"/>
              </a:rPr>
              <a:t>Fixly</a:t>
            </a:r>
            <a:r>
              <a:rPr lang="en-US" sz="1450">
                <a:latin typeface="Inter"/>
                <a:ea typeface="Inter"/>
                <a:cs typeface="Inter"/>
                <a:sym typeface="Inter"/>
              </a:rPr>
              <a:t> - </a:t>
            </a:r>
            <a:r>
              <a:rPr lang="en-US" sz="1450">
                <a:solidFill>
                  <a:srgbClr val="000000"/>
                </a:solidFill>
                <a:latin typeface="Inter"/>
                <a:ea typeface="Inter"/>
                <a:cs typeface="Inter"/>
                <a:sym typeface="Inter"/>
              </a:rPr>
              <a:t>Making professional services accessible, trustworthy, and hassle-free for everyone.</a:t>
            </a:r>
            <a:endParaRPr sz="1450">
              <a:solidFill>
                <a:schemeClr val="dk1"/>
              </a:solidFill>
              <a:latin typeface="Calibri"/>
              <a:ea typeface="Calibri"/>
              <a:cs typeface="Calibri"/>
              <a:sym typeface="Calibri"/>
            </a:endParaRPr>
          </a:p>
        </p:txBody>
      </p:sp>
      <p:sp>
        <p:nvSpPr>
          <p:cNvPr id="346" name="Google Shape;346;p12"/>
          <p:cNvSpPr/>
          <p:nvPr/>
        </p:nvSpPr>
        <p:spPr>
          <a:xfrm>
            <a:off x="12687300" y="7657980"/>
            <a:ext cx="1828800" cy="571619"/>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
          <p:cNvSpPr/>
          <p:nvPr/>
        </p:nvSpPr>
        <p:spPr>
          <a:xfrm>
            <a:off x="793790" y="3804761"/>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chemeClr val="dk1"/>
              </a:buClr>
              <a:buSzPts val="3900"/>
              <a:buFont typeface="Calibri"/>
              <a:buNone/>
            </a:pPr>
            <a:endParaRPr sz="3900">
              <a:solidFill>
                <a:schemeClr val="dk1"/>
              </a:solidFill>
              <a:latin typeface="Calibri"/>
              <a:ea typeface="Calibri"/>
              <a:cs typeface="Calibri"/>
              <a:sym typeface="Calibri"/>
            </a:endParaRPr>
          </a:p>
        </p:txBody>
      </p:sp>
      <p:sp>
        <p:nvSpPr>
          <p:cNvPr id="353" name="Google Shape;353;p13"/>
          <p:cNvSpPr txBox="1"/>
          <p:nvPr/>
        </p:nvSpPr>
        <p:spPr>
          <a:xfrm>
            <a:off x="4200541" y="3352958"/>
            <a:ext cx="8001000"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800">
                <a:solidFill>
                  <a:schemeClr val="dk1"/>
                </a:solidFill>
                <a:latin typeface="Calibri"/>
                <a:ea typeface="Calibri"/>
                <a:cs typeface="Calibri"/>
                <a:sym typeface="Calibri"/>
              </a:rPr>
              <a:t>THANK YOU</a:t>
            </a:r>
            <a:endParaRPr sz="8800">
              <a:solidFill>
                <a:schemeClr val="dk1"/>
              </a:solidFill>
              <a:latin typeface="Calibri"/>
              <a:ea typeface="Calibri"/>
              <a:cs typeface="Calibri"/>
              <a:sym typeface="Calibri"/>
            </a:endParaRPr>
          </a:p>
        </p:txBody>
      </p:sp>
      <p:sp>
        <p:nvSpPr>
          <p:cNvPr id="354" name="Google Shape;354;p13"/>
          <p:cNvSpPr/>
          <p:nvPr/>
        </p:nvSpPr>
        <p:spPr>
          <a:xfrm>
            <a:off x="12687300" y="7558088"/>
            <a:ext cx="1828800" cy="671512"/>
          </a:xfrm>
          <a:prstGeom prst="rect">
            <a:avLst/>
          </a:prstGeom>
          <a:solidFill>
            <a:srgbClr val="F9F8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1771</Words>
  <Application>Microsoft Office PowerPoint</Application>
  <PresentationFormat>Custom</PresentationFormat>
  <Paragraphs>180</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DM Sans Light</vt:lpstr>
      <vt:lpstr>Arial</vt:lpstr>
      <vt:lpstr>DM Sans Medium</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Smit Kachhadiya</cp:lastModifiedBy>
  <cp:revision>1</cp:revision>
  <dcterms:created xsi:type="dcterms:W3CDTF">2025-11-06T13:23:33Z</dcterms:created>
  <dcterms:modified xsi:type="dcterms:W3CDTF">2025-11-16T12:53:42Z</dcterms:modified>
</cp:coreProperties>
</file>