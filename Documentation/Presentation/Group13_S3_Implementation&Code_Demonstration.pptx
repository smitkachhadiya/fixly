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4630400" cy="8229600"/>
  <p:notesSz cx="8229600" cy="14630400"/>
  <p:embeddedFontLst>
    <p:embeddedFont>
      <p:font typeface="Consolas" panose="020B0609020204030204" pitchFamily="49" charset="0"/>
      <p:regular r:id="rId15"/>
      <p:bold r:id="rId16"/>
      <p:italic r:id="rId17"/>
      <p:boldItalic r:id="rId18"/>
    </p:embeddedFont>
    <p:embeddedFont>
      <p:font typeface="DM Sans" pitchFamily="2" charset="0"/>
      <p:regular r:id="rId19"/>
      <p:bold r:id="rId20"/>
      <p:italic r:id="rId21"/>
      <p:boldItalic r:id="rId22"/>
    </p:embeddedFont>
    <p:embeddedFont>
      <p:font typeface="Inter" panose="020B0604020202020204" charset="0"/>
      <p:regular r:id="rId23"/>
      <p:bold r:id="rId24"/>
      <p:italic r:id="rId25"/>
      <p:boldItalic r:id="rId26"/>
    </p:embeddedFont>
    <p:embeddedFont>
      <p:font typeface="Raleway"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t>‹#›</a:t>
            </a:fld>
            <a:endParaRPr sz="1200" b="0" i="0" u="none" strike="noStrike" cap="non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 name="Google Shape;5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9941f94d99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9941f94d99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g39941f94d99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9941f94d99_1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9941f94d99_1_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g39941f94d99_1_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2"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7;p3"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4"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 name="Google Shape;25;p5"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6"/>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Google Shape;29;p6"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7"/>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33;p7"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8"/>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8"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9"/>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 name="Google Shape;41;p9"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0"/>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oogle Shape;45;p10"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1"/>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 name="Google Shape;49;p11"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p:nvPr/>
        </p:nvSpPr>
        <p:spPr>
          <a:xfrm>
            <a:off x="793790" y="653296"/>
            <a:ext cx="4217700" cy="527100"/>
          </a:xfrm>
          <a:prstGeom prst="rect">
            <a:avLst/>
          </a:prstGeom>
          <a:noFill/>
          <a:ln>
            <a:noFill/>
          </a:ln>
        </p:spPr>
        <p:txBody>
          <a:bodyPr spcFirstLastPara="1" wrap="square" lIns="0" tIns="0" rIns="0" bIns="0" anchor="t" anchorCtr="0">
            <a:noAutofit/>
          </a:bodyPr>
          <a:lstStyle/>
          <a:p>
            <a:pPr marL="0" marR="0" lvl="0" indent="0" algn="l" rtl="0">
              <a:lnSpc>
                <a:spcPct val="125757"/>
              </a:lnSpc>
              <a:spcBef>
                <a:spcPts val="0"/>
              </a:spcBef>
              <a:spcAft>
                <a:spcPts val="0"/>
              </a:spcAft>
              <a:buClr>
                <a:srgbClr val="161613"/>
              </a:buClr>
              <a:buSzPts val="3300"/>
              <a:buFont typeface="DM Sans"/>
              <a:buNone/>
            </a:pPr>
            <a:r>
              <a:rPr lang="en-US" sz="3300" b="0" i="0" u="none" strike="noStrike" cap="none">
                <a:solidFill>
                  <a:srgbClr val="161613"/>
                </a:solidFill>
                <a:latin typeface="DM Sans"/>
                <a:ea typeface="DM Sans"/>
                <a:cs typeface="DM Sans"/>
                <a:sym typeface="DM Sans"/>
              </a:rPr>
              <a:t>Fixly</a:t>
            </a:r>
            <a:endParaRPr sz="3300" b="0" i="0" u="none" strike="noStrike" cap="none"/>
          </a:p>
        </p:txBody>
      </p:sp>
      <p:sp>
        <p:nvSpPr>
          <p:cNvPr id="57" name="Google Shape;57;p13"/>
          <p:cNvSpPr/>
          <p:nvPr/>
        </p:nvSpPr>
        <p:spPr>
          <a:xfrm>
            <a:off x="793790" y="1517690"/>
            <a:ext cx="13042800" cy="337200"/>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161613"/>
              </a:buClr>
              <a:buSzPts val="1650"/>
              <a:buFont typeface="Inter"/>
              <a:buNone/>
            </a:pPr>
            <a:r>
              <a:rPr lang="en-US" sz="1650" b="0" i="1" u="none" strike="noStrike" cap="none">
                <a:solidFill>
                  <a:srgbClr val="161613"/>
                </a:solidFill>
                <a:latin typeface="Inter"/>
                <a:ea typeface="Inter"/>
                <a:cs typeface="Inter"/>
                <a:sym typeface="Inter"/>
              </a:rPr>
              <a:t>Convenience at Your Doorstep</a:t>
            </a:r>
            <a:endParaRPr sz="1650" b="0" i="0" u="none" strike="noStrike" cap="none"/>
          </a:p>
        </p:txBody>
      </p:sp>
      <p:sp>
        <p:nvSpPr>
          <p:cNvPr id="58" name="Google Shape;58;p13"/>
          <p:cNvSpPr/>
          <p:nvPr/>
        </p:nvSpPr>
        <p:spPr>
          <a:xfrm>
            <a:off x="793790" y="2044779"/>
            <a:ext cx="13042800" cy="539700"/>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b="0" i="0" u="none" strike="noStrike" cap="none">
                <a:solidFill>
                  <a:srgbClr val="161613"/>
                </a:solidFill>
                <a:latin typeface="Inter"/>
                <a:ea typeface="Inter"/>
                <a:cs typeface="Inter"/>
                <a:sym typeface="Inter"/>
              </a:rPr>
              <a:t>A web-based service marketplace connecting customers with skilled professionals for household and commercial needs. Designed for simplicity, efficiency, and trust.</a:t>
            </a:r>
            <a:endParaRPr sz="1300" b="0" i="0" u="none" strike="noStrike" cap="none"/>
          </a:p>
        </p:txBody>
      </p:sp>
      <p:sp>
        <p:nvSpPr>
          <p:cNvPr id="59" name="Google Shape;59;p13"/>
          <p:cNvSpPr/>
          <p:nvPr/>
        </p:nvSpPr>
        <p:spPr>
          <a:xfrm>
            <a:off x="793790" y="2858718"/>
            <a:ext cx="13042800" cy="28800"/>
          </a:xfrm>
          <a:prstGeom prst="rect">
            <a:avLst/>
          </a:prstGeom>
          <a:solidFill>
            <a:srgbClr val="161613">
              <a:alpha val="49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p:nvPr/>
        </p:nvSpPr>
        <p:spPr>
          <a:xfrm>
            <a:off x="793790" y="3077170"/>
            <a:ext cx="13042800" cy="270000"/>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b="0" i="0" u="none" strike="noStrike" cap="none">
                <a:solidFill>
                  <a:srgbClr val="161613"/>
                </a:solidFill>
                <a:latin typeface="Inter"/>
                <a:ea typeface="Inter"/>
                <a:cs typeface="Inter"/>
                <a:sym typeface="Inter"/>
              </a:rPr>
              <a:t>Group 13 | IT644: Web Services &amp; SOA</a:t>
            </a:r>
            <a:endParaRPr sz="1300" b="0" i="0" u="none" strike="noStrike" cap="none"/>
          </a:p>
        </p:txBody>
      </p:sp>
      <p:sp>
        <p:nvSpPr>
          <p:cNvPr id="61" name="Google Shape;61;p13"/>
          <p:cNvSpPr/>
          <p:nvPr/>
        </p:nvSpPr>
        <p:spPr>
          <a:xfrm>
            <a:off x="793790" y="3536871"/>
            <a:ext cx="13042800" cy="539700"/>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SzPts val="1300"/>
              <a:buFont typeface="Arial"/>
              <a:buNone/>
            </a:pPr>
            <a:endParaRPr sz="1300" b="0" i="0" u="none" strike="noStrike" cap="none"/>
          </a:p>
        </p:txBody>
      </p:sp>
      <p:sp>
        <p:nvSpPr>
          <p:cNvPr id="62" name="Google Shape;62;p13"/>
          <p:cNvSpPr/>
          <p:nvPr/>
        </p:nvSpPr>
        <p:spPr>
          <a:xfrm>
            <a:off x="793790" y="4329708"/>
            <a:ext cx="3374100" cy="421800"/>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161613"/>
              </a:buClr>
              <a:buSzPts val="2650"/>
              <a:buFont typeface="DM Sans"/>
              <a:buNone/>
            </a:pPr>
            <a:r>
              <a:rPr lang="en-US" sz="2650" b="0" i="0" u="none" strike="noStrike" cap="none">
                <a:solidFill>
                  <a:srgbClr val="161613"/>
                </a:solidFill>
                <a:latin typeface="DM Sans"/>
                <a:ea typeface="DM Sans"/>
                <a:cs typeface="DM Sans"/>
                <a:sym typeface="DM Sans"/>
              </a:rPr>
              <a:t>Team Members</a:t>
            </a:r>
            <a:endParaRPr sz="2650" b="0" i="0" u="none" strike="noStrike" cap="none"/>
          </a:p>
        </p:txBody>
      </p:sp>
      <p:sp>
        <p:nvSpPr>
          <p:cNvPr id="63" name="Google Shape;63;p13"/>
          <p:cNvSpPr/>
          <p:nvPr/>
        </p:nvSpPr>
        <p:spPr>
          <a:xfrm>
            <a:off x="793790" y="5004435"/>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202412031 - Kachhadiya Smit - Team Lead &amp; Project Manager</a:t>
            </a:r>
            <a:endParaRPr sz="1300" b="0" i="0" u="none" strike="noStrike" cap="none"/>
          </a:p>
        </p:txBody>
      </p:sp>
      <p:sp>
        <p:nvSpPr>
          <p:cNvPr id="64" name="Google Shape;64;p13"/>
          <p:cNvSpPr/>
          <p:nvPr/>
        </p:nvSpPr>
        <p:spPr>
          <a:xfrm>
            <a:off x="793790" y="5333286"/>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202412036 - Kathrotiya Harsh - BackEnd Developer &amp; Product Owner</a:t>
            </a:r>
            <a:endParaRPr sz="1300" b="0" i="0" u="none" strike="noStrike" cap="none"/>
          </a:p>
        </p:txBody>
      </p:sp>
      <p:sp>
        <p:nvSpPr>
          <p:cNvPr id="65" name="Google Shape;65;p13"/>
          <p:cNvSpPr/>
          <p:nvPr/>
        </p:nvSpPr>
        <p:spPr>
          <a:xfrm>
            <a:off x="793790" y="5662136"/>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202412052 - Navadiya Krishn - Backend Developer</a:t>
            </a:r>
            <a:endParaRPr sz="1300" b="0" i="0" u="none" strike="noStrike" cap="none"/>
          </a:p>
        </p:txBody>
      </p:sp>
      <p:sp>
        <p:nvSpPr>
          <p:cNvPr id="66" name="Google Shape;66;p13"/>
          <p:cNvSpPr/>
          <p:nvPr/>
        </p:nvSpPr>
        <p:spPr>
          <a:xfrm>
            <a:off x="793790" y="5990987"/>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202412030 - Kachhadiya Princy - FrontEnd Developer</a:t>
            </a:r>
            <a:endParaRPr sz="1300" b="0" i="0" u="none" strike="noStrike" cap="none"/>
          </a:p>
        </p:txBody>
      </p:sp>
      <p:sp>
        <p:nvSpPr>
          <p:cNvPr id="67" name="Google Shape;67;p13"/>
          <p:cNvSpPr/>
          <p:nvPr/>
        </p:nvSpPr>
        <p:spPr>
          <a:xfrm>
            <a:off x="793790" y="6319838"/>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202412043 - Lakkad Vishva - UI/UX Designer &amp; Business Analyst</a:t>
            </a:r>
            <a:endParaRPr sz="1300" b="0" i="0" u="none" strike="noStrike" cap="none"/>
          </a:p>
        </p:txBody>
      </p:sp>
      <p:sp>
        <p:nvSpPr>
          <p:cNvPr id="68" name="Google Shape;68;p13"/>
          <p:cNvSpPr/>
          <p:nvPr/>
        </p:nvSpPr>
        <p:spPr>
          <a:xfrm>
            <a:off x="793790" y="6648688"/>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202412044 - Limbachiya Parth - QA Tester &amp; Solution Architecture</a:t>
            </a:r>
            <a:endParaRPr sz="1300" b="0" i="0" u="none" strike="noStrike" cap="none"/>
          </a:p>
        </p:txBody>
      </p:sp>
      <p:sp>
        <p:nvSpPr>
          <p:cNvPr id="69" name="Google Shape;69;p13"/>
          <p:cNvSpPr/>
          <p:nvPr/>
        </p:nvSpPr>
        <p:spPr>
          <a:xfrm>
            <a:off x="793790" y="6977539"/>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202412104 - Shekhda Miraj - FrontEnd Developer</a:t>
            </a:r>
            <a:endParaRPr sz="1300" b="0" i="0" u="none" strike="noStrike" cap="none"/>
          </a:p>
        </p:txBody>
      </p:sp>
      <p:sp>
        <p:nvSpPr>
          <p:cNvPr id="70" name="Google Shape;70;p13"/>
          <p:cNvSpPr/>
          <p:nvPr/>
        </p:nvSpPr>
        <p:spPr>
          <a:xfrm>
            <a:off x="793790" y="7306389"/>
            <a:ext cx="13042800" cy="270000"/>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202412010 - Asodariya Gaurav - Technical Writer</a:t>
            </a:r>
            <a:endParaRPr sz="1300" b="0" i="0" u="none" strike="noStrike" cap="non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p:nvPr/>
        </p:nvSpPr>
        <p:spPr>
          <a:xfrm>
            <a:off x="793790" y="2326958"/>
            <a:ext cx="9961840" cy="49613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B1B27"/>
              </a:buClr>
              <a:buSzPts val="3100"/>
              <a:buFont typeface="Raleway"/>
              <a:buNone/>
            </a:pPr>
            <a:r>
              <a:rPr lang="en-US" sz="3100" b="0" i="0" u="none" strike="noStrike" cap="none" dirty="0">
                <a:solidFill>
                  <a:srgbClr val="1B1B27"/>
                </a:solidFill>
                <a:latin typeface="Raleway"/>
                <a:ea typeface="Raleway"/>
                <a:cs typeface="Raleway"/>
                <a:sym typeface="Raleway"/>
              </a:rPr>
              <a:t>Repository Overview: A Client-Server Architecture</a:t>
            </a:r>
            <a:endParaRPr sz="3100" b="0" i="0" u="none" strike="noStrike" cap="none" dirty="0"/>
          </a:p>
        </p:txBody>
      </p:sp>
      <p:sp>
        <p:nvSpPr>
          <p:cNvPr id="77" name="Google Shape;77;p14"/>
          <p:cNvSpPr/>
          <p:nvPr/>
        </p:nvSpPr>
        <p:spPr>
          <a:xfrm>
            <a:off x="793790" y="3219926"/>
            <a:ext cx="13042821"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The Fixly repository is meticulously organized to support a robust client-server architecture. This structure ensures clear separation of concerns, facilitating independent development and deployment of frontend and backend components. Comprehensive documentation and planning materials are integrated directly into the repository, providing a single source of truth for all project-related information.</a:t>
            </a:r>
            <a:endParaRPr sz="1550" b="0" i="0" u="none" strike="noStrike" cap="none"/>
          </a:p>
        </p:txBody>
      </p:sp>
      <p:sp>
        <p:nvSpPr>
          <p:cNvPr id="78" name="Google Shape;78;p14"/>
          <p:cNvSpPr/>
          <p:nvPr/>
        </p:nvSpPr>
        <p:spPr>
          <a:xfrm>
            <a:off x="793790" y="4395788"/>
            <a:ext cx="4215289" cy="1506736"/>
          </a:xfrm>
          <a:prstGeom prst="roundRect">
            <a:avLst>
              <a:gd name="adj" fmla="val 7282"/>
            </a:avLst>
          </a:prstGeom>
          <a:solidFill>
            <a:srgbClr val="FFFFFF">
              <a:alpha val="94901"/>
            </a:srgbClr>
          </a:solidFill>
          <a:ln w="22850"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4"/>
          <p:cNvSpPr/>
          <p:nvPr/>
        </p:nvSpPr>
        <p:spPr>
          <a:xfrm>
            <a:off x="770930" y="4395788"/>
            <a:ext cx="91440" cy="1506736"/>
          </a:xfrm>
          <a:prstGeom prst="roundRect">
            <a:avLst>
              <a:gd name="adj" fmla="val 9116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4"/>
          <p:cNvSpPr/>
          <p:nvPr/>
        </p:nvSpPr>
        <p:spPr>
          <a:xfrm>
            <a:off x="1083588" y="4617006"/>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0" i="0" u="none" strike="noStrike" cap="none">
                <a:solidFill>
                  <a:srgbClr val="3C3939"/>
                </a:solidFill>
                <a:latin typeface="Raleway"/>
                <a:ea typeface="Raleway"/>
                <a:cs typeface="Raleway"/>
                <a:sym typeface="Raleway"/>
              </a:rPr>
              <a:t>Client-Server Model</a:t>
            </a:r>
            <a:endParaRPr sz="1950" b="0" i="0" u="none" strike="noStrike" cap="none"/>
          </a:p>
        </p:txBody>
      </p:sp>
      <p:sp>
        <p:nvSpPr>
          <p:cNvPr id="81" name="Google Shape;81;p14"/>
          <p:cNvSpPr/>
          <p:nvPr/>
        </p:nvSpPr>
        <p:spPr>
          <a:xfrm>
            <a:off x="1083588" y="5046226"/>
            <a:ext cx="3704273"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Dedicated directories for frontend and backend codebases.</a:t>
            </a:r>
            <a:endParaRPr sz="1550" b="0" i="0" u="none" strike="noStrike" cap="none"/>
          </a:p>
        </p:txBody>
      </p:sp>
      <p:sp>
        <p:nvSpPr>
          <p:cNvPr id="82" name="Google Shape;82;p14"/>
          <p:cNvSpPr/>
          <p:nvPr/>
        </p:nvSpPr>
        <p:spPr>
          <a:xfrm>
            <a:off x="5207437" y="4395788"/>
            <a:ext cx="4215408" cy="1506736"/>
          </a:xfrm>
          <a:prstGeom prst="roundRect">
            <a:avLst>
              <a:gd name="adj" fmla="val 7282"/>
            </a:avLst>
          </a:prstGeom>
          <a:solidFill>
            <a:srgbClr val="FFFFFF">
              <a:alpha val="94901"/>
            </a:srgbClr>
          </a:solidFill>
          <a:ln w="22850"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4"/>
          <p:cNvSpPr/>
          <p:nvPr/>
        </p:nvSpPr>
        <p:spPr>
          <a:xfrm>
            <a:off x="5184577" y="4395788"/>
            <a:ext cx="91440" cy="1506736"/>
          </a:xfrm>
          <a:prstGeom prst="roundRect">
            <a:avLst>
              <a:gd name="adj" fmla="val 9116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4"/>
          <p:cNvSpPr/>
          <p:nvPr/>
        </p:nvSpPr>
        <p:spPr>
          <a:xfrm>
            <a:off x="5497215" y="4617000"/>
            <a:ext cx="6027300" cy="3102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0" i="0" u="none" strike="noStrike" cap="none">
                <a:solidFill>
                  <a:srgbClr val="3C3939"/>
                </a:solidFill>
                <a:latin typeface="Raleway"/>
                <a:ea typeface="Raleway"/>
                <a:cs typeface="Raleway"/>
                <a:sym typeface="Raleway"/>
              </a:rPr>
              <a:t>Integrated Documentation</a:t>
            </a:r>
            <a:endParaRPr sz="1950" b="0" i="0" u="none" strike="noStrike" cap="none"/>
          </a:p>
        </p:txBody>
      </p:sp>
      <p:sp>
        <p:nvSpPr>
          <p:cNvPr id="85" name="Google Shape;85;p14"/>
          <p:cNvSpPr/>
          <p:nvPr/>
        </p:nvSpPr>
        <p:spPr>
          <a:xfrm>
            <a:off x="5497235" y="5046226"/>
            <a:ext cx="3704392"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All project documents, from proposals to code docs, are version-controlled.</a:t>
            </a:r>
            <a:endParaRPr sz="1550" b="0" i="0" u="none" strike="noStrike" cap="none"/>
          </a:p>
        </p:txBody>
      </p:sp>
      <p:sp>
        <p:nvSpPr>
          <p:cNvPr id="86" name="Google Shape;86;p14"/>
          <p:cNvSpPr/>
          <p:nvPr/>
        </p:nvSpPr>
        <p:spPr>
          <a:xfrm>
            <a:off x="9621203" y="4395788"/>
            <a:ext cx="4215289" cy="1506736"/>
          </a:xfrm>
          <a:prstGeom prst="roundRect">
            <a:avLst>
              <a:gd name="adj" fmla="val 7282"/>
            </a:avLst>
          </a:prstGeom>
          <a:solidFill>
            <a:srgbClr val="FFFFFF">
              <a:alpha val="94901"/>
            </a:srgbClr>
          </a:solidFill>
          <a:ln w="22850"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p:nvPr/>
        </p:nvSpPr>
        <p:spPr>
          <a:xfrm>
            <a:off x="9598343" y="4395788"/>
            <a:ext cx="91440" cy="1506736"/>
          </a:xfrm>
          <a:prstGeom prst="roundRect">
            <a:avLst>
              <a:gd name="adj" fmla="val 9116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p:nvPr/>
        </p:nvSpPr>
        <p:spPr>
          <a:xfrm>
            <a:off x="9911001" y="4617006"/>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0" i="0" u="none" strike="noStrike" cap="none">
                <a:solidFill>
                  <a:srgbClr val="3C3939"/>
                </a:solidFill>
                <a:latin typeface="Raleway"/>
                <a:ea typeface="Raleway"/>
                <a:cs typeface="Raleway"/>
                <a:sym typeface="Raleway"/>
              </a:rPr>
              <a:t>Modular Design</a:t>
            </a:r>
            <a:endParaRPr sz="1950" b="0" i="0" u="none" strike="noStrike" cap="none"/>
          </a:p>
        </p:txBody>
      </p:sp>
      <p:sp>
        <p:nvSpPr>
          <p:cNvPr id="89" name="Google Shape;89;p14"/>
          <p:cNvSpPr/>
          <p:nvPr/>
        </p:nvSpPr>
        <p:spPr>
          <a:xfrm>
            <a:off x="9911001" y="5046226"/>
            <a:ext cx="3704273"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Enables scalable development and easier maintenance.</a:t>
            </a:r>
            <a:endParaRPr sz="1550" b="0" i="0" u="none" strike="noStrike" cap="non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p:nvPr/>
        </p:nvSpPr>
        <p:spPr>
          <a:xfrm>
            <a:off x="793790" y="665321"/>
            <a:ext cx="10041850" cy="637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4000"/>
              <a:buFont typeface="Raleway"/>
              <a:buNone/>
            </a:pPr>
            <a:r>
              <a:rPr lang="en-US" sz="4000" b="0" i="0" u="none" strike="noStrike" cap="none" dirty="0" err="1">
                <a:solidFill>
                  <a:srgbClr val="1B1B27"/>
                </a:solidFill>
                <a:latin typeface="Raleway"/>
                <a:ea typeface="Raleway"/>
                <a:cs typeface="Raleway"/>
                <a:sym typeface="Raleway"/>
              </a:rPr>
              <a:t>Fixly</a:t>
            </a:r>
            <a:r>
              <a:rPr lang="en-US" sz="4000" b="0" i="0" u="none" strike="noStrike" cap="none" dirty="0">
                <a:solidFill>
                  <a:srgbClr val="1B1B27"/>
                </a:solidFill>
                <a:latin typeface="Raleway"/>
                <a:ea typeface="Raleway"/>
                <a:cs typeface="Raleway"/>
                <a:sym typeface="Raleway"/>
              </a:rPr>
              <a:t> Codebase Structure</a:t>
            </a:r>
            <a:endParaRPr sz="4000" b="0" i="0" u="none" strike="noStrike" cap="none" dirty="0"/>
          </a:p>
        </p:txBody>
      </p:sp>
      <p:sp>
        <p:nvSpPr>
          <p:cNvPr id="96" name="Google Shape;96;p15"/>
          <p:cNvSpPr/>
          <p:nvPr/>
        </p:nvSpPr>
        <p:spPr>
          <a:xfrm>
            <a:off x="793790" y="1384816"/>
            <a:ext cx="4083000" cy="510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3200"/>
              <a:buFont typeface="Raleway"/>
              <a:buNone/>
            </a:pPr>
            <a:r>
              <a:rPr lang="en-US" sz="3200" b="0" i="0" u="none" strike="noStrike" cap="none">
                <a:solidFill>
                  <a:srgbClr val="1B1B27"/>
                </a:solidFill>
                <a:latin typeface="Raleway"/>
                <a:ea typeface="Raleway"/>
                <a:cs typeface="Raleway"/>
                <a:sym typeface="Raleway"/>
              </a:rPr>
              <a:t>Repository Overview</a:t>
            </a:r>
            <a:endParaRPr sz="3200" b="0" i="0" u="none" strike="noStrike" cap="none"/>
          </a:p>
        </p:txBody>
      </p:sp>
      <p:sp>
        <p:nvSpPr>
          <p:cNvPr id="97" name="Google Shape;97;p15"/>
          <p:cNvSpPr/>
          <p:nvPr/>
        </p:nvSpPr>
        <p:spPr>
          <a:xfrm>
            <a:off x="793790" y="2201228"/>
            <a:ext cx="13042800" cy="326700"/>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3C3939"/>
              </a:buClr>
              <a:buSzPts val="1600"/>
              <a:buFont typeface="Roboto"/>
              <a:buNone/>
            </a:pPr>
            <a:r>
              <a:rPr lang="en-US" sz="1600" b="0" i="0" u="none" strike="noStrike" cap="none">
                <a:solidFill>
                  <a:srgbClr val="3C3939"/>
                </a:solidFill>
                <a:latin typeface="Roboto"/>
                <a:ea typeface="Roboto"/>
                <a:cs typeface="Roboto"/>
                <a:sym typeface="Roboto"/>
              </a:rPr>
              <a:t>The Fixly repository uses a client-server architecture, supported by extensive documentation and planning materials.</a:t>
            </a:r>
            <a:endParaRPr sz="1600" b="0" i="0" u="none" strike="noStrike" cap="none"/>
          </a:p>
        </p:txBody>
      </p:sp>
      <p:sp>
        <p:nvSpPr>
          <p:cNvPr id="98" name="Google Shape;98;p15"/>
          <p:cNvSpPr/>
          <p:nvPr/>
        </p:nvSpPr>
        <p:spPr>
          <a:xfrm>
            <a:off x="1726277" y="3117333"/>
            <a:ext cx="5190900" cy="2158500"/>
          </a:xfrm>
          <a:prstGeom prst="roundRect">
            <a:avLst>
              <a:gd name="adj" fmla="val 5083"/>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1726277" y="3094473"/>
            <a:ext cx="5190900" cy="91500"/>
          </a:xfrm>
          <a:prstGeom prst="roundRect">
            <a:avLst>
              <a:gd name="adj" fmla="val 93767"/>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a:off x="3944399" y="2811225"/>
            <a:ext cx="612300" cy="612300"/>
          </a:xfrm>
          <a:prstGeom prst="roundRect">
            <a:avLst>
              <a:gd name="adj" fmla="val 149329"/>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a:off x="4170838" y="2964338"/>
            <a:ext cx="301800" cy="306000"/>
          </a:xfrm>
          <a:prstGeom prst="rect">
            <a:avLst/>
          </a:prstGeom>
          <a:noFill/>
          <a:ln>
            <a:noFill/>
          </a:ln>
        </p:spPr>
        <p:txBody>
          <a:bodyPr spcFirstLastPara="1" wrap="square" lIns="0" tIns="0" rIns="0" bIns="0" anchor="t" anchorCtr="0">
            <a:noAutofit/>
          </a:bodyPr>
          <a:lstStyle/>
          <a:p>
            <a:pPr marL="0" marR="0" lvl="0" indent="0" algn="l" rtl="0">
              <a:lnSpc>
                <a:spcPct val="160526"/>
              </a:lnSpc>
              <a:spcBef>
                <a:spcPts val="0"/>
              </a:spcBef>
              <a:spcAft>
                <a:spcPts val="0"/>
              </a:spcAft>
              <a:buClr>
                <a:srgbClr val="FFFFFF"/>
              </a:buClr>
              <a:buSzPts val="1900"/>
              <a:buFont typeface="Raleway"/>
              <a:buNone/>
            </a:pPr>
            <a:r>
              <a:rPr lang="en-US" sz="1900" b="0" i="0" u="none" strike="noStrike" cap="none">
                <a:solidFill>
                  <a:srgbClr val="FFFFFF"/>
                </a:solidFill>
                <a:latin typeface="Raleway"/>
                <a:ea typeface="Raleway"/>
                <a:cs typeface="Raleway"/>
                <a:sym typeface="Raleway"/>
              </a:rPr>
              <a:t>1</a:t>
            </a:r>
            <a:endParaRPr sz="1900" b="0" i="0" u="none" strike="noStrike" cap="none"/>
          </a:p>
        </p:txBody>
      </p:sp>
      <p:sp>
        <p:nvSpPr>
          <p:cNvPr id="102" name="Google Shape;102;p15"/>
          <p:cNvSpPr/>
          <p:nvPr/>
        </p:nvSpPr>
        <p:spPr>
          <a:xfrm>
            <a:off x="2005991" y="3627633"/>
            <a:ext cx="3145200" cy="318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C3939"/>
              </a:buClr>
              <a:buSzPts val="2000"/>
              <a:buFont typeface="Raleway"/>
              <a:buNone/>
            </a:pPr>
            <a:r>
              <a:rPr lang="en-US" sz="2000" b="0" i="0" u="none" strike="noStrike" cap="none">
                <a:solidFill>
                  <a:srgbClr val="3C3939"/>
                </a:solidFill>
                <a:latin typeface="Raleway"/>
                <a:ea typeface="Raleway"/>
                <a:cs typeface="Raleway"/>
                <a:sym typeface="Raleway"/>
              </a:rPr>
              <a:t>Documentation</a:t>
            </a:r>
            <a:endParaRPr sz="2000" b="0" i="0" u="none" strike="noStrike" cap="none"/>
          </a:p>
        </p:txBody>
      </p:sp>
      <p:sp>
        <p:nvSpPr>
          <p:cNvPr id="103" name="Google Shape;103;p15"/>
          <p:cNvSpPr/>
          <p:nvPr/>
        </p:nvSpPr>
        <p:spPr>
          <a:xfrm>
            <a:off x="2005991" y="4068877"/>
            <a:ext cx="4631400" cy="980100"/>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3C3939"/>
              </a:buClr>
              <a:buSzPts val="1600"/>
              <a:buFont typeface="Roboto"/>
              <a:buNone/>
            </a:pPr>
            <a:r>
              <a:rPr lang="en-US" sz="1600" b="0" i="0" u="none" strike="noStrike" cap="none">
                <a:solidFill>
                  <a:srgbClr val="3C3939"/>
                </a:solidFill>
                <a:latin typeface="Roboto"/>
                <a:ea typeface="Roboto"/>
                <a:cs typeface="Roboto"/>
                <a:sym typeface="Roboto"/>
              </a:rPr>
              <a:t>Includes UI/UX, project proposals, requirements, system design, timelines, and testing.</a:t>
            </a:r>
            <a:endParaRPr sz="1600" b="0" i="0" u="none" strike="noStrike" cap="none"/>
          </a:p>
        </p:txBody>
      </p:sp>
      <p:sp>
        <p:nvSpPr>
          <p:cNvPr id="104" name="Google Shape;104;p15"/>
          <p:cNvSpPr/>
          <p:nvPr/>
        </p:nvSpPr>
        <p:spPr>
          <a:xfrm>
            <a:off x="7548052" y="3117333"/>
            <a:ext cx="5190900" cy="2158500"/>
          </a:xfrm>
          <a:prstGeom prst="roundRect">
            <a:avLst>
              <a:gd name="adj" fmla="val 5083"/>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7548052" y="3094473"/>
            <a:ext cx="5190900" cy="91500"/>
          </a:xfrm>
          <a:prstGeom prst="roundRect">
            <a:avLst>
              <a:gd name="adj" fmla="val 93767"/>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5"/>
          <p:cNvSpPr/>
          <p:nvPr/>
        </p:nvSpPr>
        <p:spPr>
          <a:xfrm>
            <a:off x="9766023" y="2811225"/>
            <a:ext cx="612300" cy="612300"/>
          </a:xfrm>
          <a:prstGeom prst="roundRect">
            <a:avLst>
              <a:gd name="adj" fmla="val 149329"/>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p:cNvSpPr/>
          <p:nvPr/>
        </p:nvSpPr>
        <p:spPr>
          <a:xfrm>
            <a:off x="9992439" y="2964338"/>
            <a:ext cx="301800" cy="306000"/>
          </a:xfrm>
          <a:prstGeom prst="rect">
            <a:avLst/>
          </a:prstGeom>
          <a:noFill/>
          <a:ln>
            <a:noFill/>
          </a:ln>
        </p:spPr>
        <p:txBody>
          <a:bodyPr spcFirstLastPara="1" wrap="square" lIns="0" tIns="0" rIns="0" bIns="0" anchor="t" anchorCtr="0">
            <a:noAutofit/>
          </a:bodyPr>
          <a:lstStyle/>
          <a:p>
            <a:pPr marL="0" marR="0" lvl="0" indent="0" algn="l" rtl="0">
              <a:lnSpc>
                <a:spcPct val="160526"/>
              </a:lnSpc>
              <a:spcBef>
                <a:spcPts val="0"/>
              </a:spcBef>
              <a:spcAft>
                <a:spcPts val="0"/>
              </a:spcAft>
              <a:buClr>
                <a:srgbClr val="FFFFFF"/>
              </a:buClr>
              <a:buSzPts val="1900"/>
              <a:buFont typeface="Raleway"/>
              <a:buNone/>
            </a:pPr>
            <a:r>
              <a:rPr lang="en-US" sz="1900" b="0" i="0" u="none" strike="noStrike" cap="none">
                <a:solidFill>
                  <a:srgbClr val="FFFFFF"/>
                </a:solidFill>
                <a:latin typeface="Raleway"/>
                <a:ea typeface="Raleway"/>
                <a:cs typeface="Raleway"/>
                <a:sym typeface="Raleway"/>
              </a:rPr>
              <a:t>2</a:t>
            </a:r>
            <a:endParaRPr sz="1900" b="0" i="0" u="none" strike="noStrike" cap="none"/>
          </a:p>
        </p:txBody>
      </p:sp>
      <p:sp>
        <p:nvSpPr>
          <p:cNvPr id="108" name="Google Shape;108;p15"/>
          <p:cNvSpPr/>
          <p:nvPr/>
        </p:nvSpPr>
        <p:spPr>
          <a:xfrm>
            <a:off x="7827746" y="3627633"/>
            <a:ext cx="3145200" cy="318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C3939"/>
              </a:buClr>
              <a:buSzPts val="2000"/>
              <a:buFont typeface="Raleway"/>
              <a:buNone/>
            </a:pPr>
            <a:r>
              <a:rPr lang="en-US" sz="2000" b="0" i="0" u="none" strike="noStrike" cap="none">
                <a:solidFill>
                  <a:srgbClr val="3C3939"/>
                </a:solidFill>
                <a:latin typeface="Raleway"/>
                <a:ea typeface="Raleway"/>
                <a:cs typeface="Raleway"/>
                <a:sym typeface="Raleway"/>
              </a:rPr>
              <a:t>Product Details</a:t>
            </a:r>
            <a:endParaRPr sz="2000" b="0" i="0" u="none" strike="noStrike" cap="none"/>
          </a:p>
        </p:txBody>
      </p:sp>
      <p:sp>
        <p:nvSpPr>
          <p:cNvPr id="109" name="Google Shape;109;p15"/>
          <p:cNvSpPr/>
          <p:nvPr/>
        </p:nvSpPr>
        <p:spPr>
          <a:xfrm>
            <a:off x="7827746" y="4068877"/>
            <a:ext cx="4631400" cy="980100"/>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3C3939"/>
              </a:buClr>
              <a:buSzPts val="1600"/>
              <a:buFont typeface="Roboto"/>
              <a:buNone/>
            </a:pPr>
            <a:r>
              <a:rPr lang="en-US" sz="1600" b="0" i="0" u="none" strike="noStrike" cap="none">
                <a:solidFill>
                  <a:srgbClr val="3C3939"/>
                </a:solidFill>
                <a:latin typeface="Roboto"/>
                <a:ea typeface="Roboto"/>
                <a:cs typeface="Roboto"/>
                <a:sym typeface="Roboto"/>
              </a:rPr>
              <a:t>Covers acceptance criteria, product backlog, roadmap, sprint planning, and user stories.</a:t>
            </a:r>
            <a:endParaRPr sz="1600" b="0" i="0" u="none" strike="noStrike" cap="none"/>
          </a:p>
        </p:txBody>
      </p:sp>
      <p:sp>
        <p:nvSpPr>
          <p:cNvPr id="110" name="Google Shape;110;p15"/>
          <p:cNvSpPr/>
          <p:nvPr/>
        </p:nvSpPr>
        <p:spPr>
          <a:xfrm>
            <a:off x="1726275" y="5884207"/>
            <a:ext cx="5190900" cy="2158200"/>
          </a:xfrm>
          <a:prstGeom prst="roundRect">
            <a:avLst>
              <a:gd name="adj" fmla="val 5083"/>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99"/>
          </a:p>
        </p:txBody>
      </p:sp>
      <p:sp>
        <p:nvSpPr>
          <p:cNvPr id="111" name="Google Shape;111;p15"/>
          <p:cNvSpPr/>
          <p:nvPr/>
        </p:nvSpPr>
        <p:spPr>
          <a:xfrm>
            <a:off x="1726275" y="5861349"/>
            <a:ext cx="5190900" cy="91500"/>
          </a:xfrm>
          <a:prstGeom prst="roundRect">
            <a:avLst>
              <a:gd name="adj" fmla="val 93767"/>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p:cNvSpPr/>
          <p:nvPr/>
        </p:nvSpPr>
        <p:spPr>
          <a:xfrm>
            <a:off x="3944300" y="5578125"/>
            <a:ext cx="612300" cy="637800"/>
          </a:xfrm>
          <a:prstGeom prst="roundRect">
            <a:avLst>
              <a:gd name="adj" fmla="val 149329"/>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p:cNvSpPr/>
          <p:nvPr/>
        </p:nvSpPr>
        <p:spPr>
          <a:xfrm>
            <a:off x="4170722" y="5731226"/>
            <a:ext cx="301500" cy="306000"/>
          </a:xfrm>
          <a:prstGeom prst="rect">
            <a:avLst/>
          </a:prstGeom>
          <a:noFill/>
          <a:ln>
            <a:noFill/>
          </a:ln>
        </p:spPr>
        <p:txBody>
          <a:bodyPr spcFirstLastPara="1" wrap="square" lIns="0" tIns="0" rIns="0" bIns="0" anchor="t" anchorCtr="0">
            <a:noAutofit/>
          </a:bodyPr>
          <a:lstStyle/>
          <a:p>
            <a:pPr marL="0" marR="0" lvl="0" indent="0" algn="l" rtl="0">
              <a:lnSpc>
                <a:spcPct val="160526"/>
              </a:lnSpc>
              <a:spcBef>
                <a:spcPts val="0"/>
              </a:spcBef>
              <a:spcAft>
                <a:spcPts val="0"/>
              </a:spcAft>
              <a:buClr>
                <a:srgbClr val="FFFFFF"/>
              </a:buClr>
              <a:buSzPts val="1900"/>
              <a:buFont typeface="Raleway"/>
              <a:buNone/>
            </a:pPr>
            <a:r>
              <a:rPr lang="en-US" sz="1899" b="0" i="0" u="none" strike="noStrike" cap="none">
                <a:solidFill>
                  <a:srgbClr val="FFFFFF"/>
                </a:solidFill>
                <a:latin typeface="Raleway"/>
                <a:ea typeface="Raleway"/>
                <a:cs typeface="Raleway"/>
                <a:sym typeface="Raleway"/>
              </a:rPr>
              <a:t>3</a:t>
            </a:r>
            <a:endParaRPr sz="1899" b="0" i="0" u="none" strike="noStrike" cap="none"/>
          </a:p>
        </p:txBody>
      </p:sp>
      <p:sp>
        <p:nvSpPr>
          <p:cNvPr id="114" name="Google Shape;114;p15"/>
          <p:cNvSpPr/>
          <p:nvPr/>
        </p:nvSpPr>
        <p:spPr>
          <a:xfrm>
            <a:off x="2005976" y="6394465"/>
            <a:ext cx="3144900" cy="318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C3939"/>
              </a:buClr>
              <a:buSzPts val="2000"/>
              <a:buFont typeface="Raleway"/>
              <a:buNone/>
            </a:pPr>
            <a:r>
              <a:rPr lang="en-US" sz="1999" b="0" i="0" u="none" strike="noStrike" cap="none">
                <a:solidFill>
                  <a:srgbClr val="3C3939"/>
                </a:solidFill>
                <a:latin typeface="Raleway"/>
                <a:ea typeface="Raleway"/>
                <a:cs typeface="Raleway"/>
                <a:sym typeface="Raleway"/>
              </a:rPr>
              <a:t>Client</a:t>
            </a:r>
            <a:endParaRPr sz="1999" b="0" i="0" u="none" strike="noStrike" cap="none"/>
          </a:p>
        </p:txBody>
      </p:sp>
      <p:sp>
        <p:nvSpPr>
          <p:cNvPr id="115" name="Google Shape;115;p15"/>
          <p:cNvSpPr/>
          <p:nvPr/>
        </p:nvSpPr>
        <p:spPr>
          <a:xfrm>
            <a:off x="2005976" y="6835673"/>
            <a:ext cx="4631700" cy="653400"/>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3C3939"/>
              </a:buClr>
              <a:buSzPts val="1600"/>
              <a:buFont typeface="Roboto"/>
              <a:buNone/>
            </a:pPr>
            <a:r>
              <a:rPr lang="en-US" sz="1599" b="0" i="0" u="none" strike="noStrike" cap="none">
                <a:solidFill>
                  <a:srgbClr val="3C3939"/>
                </a:solidFill>
                <a:latin typeface="Roboto"/>
                <a:ea typeface="Roboto"/>
                <a:cs typeface="Roboto"/>
                <a:sym typeface="Roboto"/>
              </a:rPr>
              <a:t>Frontend application with components, pages, services, and state management.</a:t>
            </a:r>
            <a:endParaRPr sz="1599" b="0" i="0" u="none" strike="noStrike" cap="none"/>
          </a:p>
        </p:txBody>
      </p:sp>
      <p:sp>
        <p:nvSpPr>
          <p:cNvPr id="116" name="Google Shape;116;p15"/>
          <p:cNvSpPr/>
          <p:nvPr/>
        </p:nvSpPr>
        <p:spPr>
          <a:xfrm>
            <a:off x="7548051" y="5865254"/>
            <a:ext cx="5190900" cy="2158500"/>
          </a:xfrm>
          <a:prstGeom prst="roundRect">
            <a:avLst>
              <a:gd name="adj" fmla="val 5083"/>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a:off x="7548051" y="5842394"/>
            <a:ext cx="5190900" cy="91500"/>
          </a:xfrm>
          <a:prstGeom prst="roundRect">
            <a:avLst>
              <a:gd name="adj" fmla="val 93767"/>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a:off x="9766000" y="5559147"/>
            <a:ext cx="612300" cy="612300"/>
          </a:xfrm>
          <a:prstGeom prst="roundRect">
            <a:avLst>
              <a:gd name="adj" fmla="val 149329"/>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a:off x="9992422" y="5712260"/>
            <a:ext cx="301500" cy="306000"/>
          </a:xfrm>
          <a:prstGeom prst="rect">
            <a:avLst/>
          </a:prstGeom>
          <a:noFill/>
          <a:ln>
            <a:noFill/>
          </a:ln>
        </p:spPr>
        <p:txBody>
          <a:bodyPr spcFirstLastPara="1" wrap="square" lIns="0" tIns="0" rIns="0" bIns="0" anchor="t" anchorCtr="0">
            <a:noAutofit/>
          </a:bodyPr>
          <a:lstStyle/>
          <a:p>
            <a:pPr marL="0" marR="0" lvl="0" indent="0" algn="l" rtl="0">
              <a:lnSpc>
                <a:spcPct val="160526"/>
              </a:lnSpc>
              <a:spcBef>
                <a:spcPts val="0"/>
              </a:spcBef>
              <a:spcAft>
                <a:spcPts val="0"/>
              </a:spcAft>
              <a:buClr>
                <a:srgbClr val="FFFFFF"/>
              </a:buClr>
              <a:buSzPts val="1900"/>
              <a:buFont typeface="Raleway"/>
              <a:buNone/>
            </a:pPr>
            <a:r>
              <a:rPr lang="en-US" sz="1900">
                <a:solidFill>
                  <a:srgbClr val="FFFFFF"/>
                </a:solidFill>
                <a:latin typeface="Raleway"/>
                <a:ea typeface="Raleway"/>
                <a:cs typeface="Raleway"/>
                <a:sym typeface="Raleway"/>
              </a:rPr>
              <a:t>4</a:t>
            </a:r>
            <a:endParaRPr sz="1900" b="0" i="0" u="none" strike="noStrike" cap="none"/>
          </a:p>
        </p:txBody>
      </p:sp>
      <p:sp>
        <p:nvSpPr>
          <p:cNvPr id="120" name="Google Shape;120;p15"/>
          <p:cNvSpPr/>
          <p:nvPr/>
        </p:nvSpPr>
        <p:spPr>
          <a:xfrm>
            <a:off x="7827743" y="6375552"/>
            <a:ext cx="3145200" cy="3189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3C3939"/>
              </a:buClr>
              <a:buSzPts val="1778"/>
              <a:buFont typeface="Raleway"/>
              <a:buNone/>
            </a:pPr>
            <a:r>
              <a:rPr lang="en-US" sz="1778">
                <a:solidFill>
                  <a:srgbClr val="3C3939"/>
                </a:solidFill>
                <a:latin typeface="Raleway"/>
                <a:ea typeface="Raleway"/>
                <a:cs typeface="Raleway"/>
                <a:sym typeface="Raleway"/>
              </a:rPr>
              <a:t>Server</a:t>
            </a:r>
            <a:endParaRPr sz="1778">
              <a:solidFill>
                <a:schemeClr val="dk1"/>
              </a:solidFill>
            </a:endParaRPr>
          </a:p>
          <a:p>
            <a:pPr marL="0" marR="0" lvl="0" indent="0" algn="l" rtl="0">
              <a:lnSpc>
                <a:spcPct val="125000"/>
              </a:lnSpc>
              <a:spcBef>
                <a:spcPts val="0"/>
              </a:spcBef>
              <a:spcAft>
                <a:spcPts val="0"/>
              </a:spcAft>
              <a:buClr>
                <a:srgbClr val="3C3939"/>
              </a:buClr>
              <a:buSzPts val="2000"/>
              <a:buFont typeface="Raleway"/>
              <a:buNone/>
            </a:pPr>
            <a:endParaRPr sz="2000">
              <a:solidFill>
                <a:srgbClr val="3C3939"/>
              </a:solidFill>
              <a:latin typeface="Raleway"/>
              <a:ea typeface="Raleway"/>
              <a:cs typeface="Raleway"/>
              <a:sym typeface="Raleway"/>
            </a:endParaRPr>
          </a:p>
        </p:txBody>
      </p:sp>
      <p:sp>
        <p:nvSpPr>
          <p:cNvPr id="121" name="Google Shape;121;p15"/>
          <p:cNvSpPr/>
          <p:nvPr/>
        </p:nvSpPr>
        <p:spPr>
          <a:xfrm>
            <a:off x="7827743" y="6816795"/>
            <a:ext cx="4631400" cy="980100"/>
          </a:xfrm>
          <a:prstGeom prst="rect">
            <a:avLst/>
          </a:prstGeom>
          <a:noFill/>
          <a:ln>
            <a:noFill/>
          </a:ln>
        </p:spPr>
        <p:txBody>
          <a:bodyPr spcFirstLastPara="1" wrap="square" lIns="0" tIns="0" rIns="0" bIns="0" anchor="t" anchorCtr="0">
            <a:noAutofit/>
          </a:bodyPr>
          <a:lstStyle/>
          <a:p>
            <a:pPr marL="0" lvl="0" indent="0" algn="l" rtl="0">
              <a:lnSpc>
                <a:spcPct val="159375"/>
              </a:lnSpc>
              <a:spcBef>
                <a:spcPts val="0"/>
              </a:spcBef>
              <a:spcAft>
                <a:spcPts val="0"/>
              </a:spcAft>
              <a:buClr>
                <a:srgbClr val="3C3939"/>
              </a:buClr>
              <a:buSzPts val="1423"/>
              <a:buFont typeface="Roboto"/>
              <a:buNone/>
            </a:pPr>
            <a:r>
              <a:rPr lang="en-US" sz="1422">
                <a:solidFill>
                  <a:srgbClr val="3C3939"/>
                </a:solidFill>
                <a:latin typeface="Roboto"/>
                <a:ea typeface="Roboto"/>
                <a:cs typeface="Roboto"/>
                <a:sym typeface="Roboto"/>
              </a:rPr>
              <a:t>Backend API with controllers, models, routes, and middleware.</a:t>
            </a:r>
            <a:endParaRPr sz="1422">
              <a:solidFill>
                <a:schemeClr val="dk1"/>
              </a:solidFill>
            </a:endParaRPr>
          </a:p>
          <a:p>
            <a:pPr marL="0" marR="0" lvl="0" indent="0" algn="l" rtl="0">
              <a:lnSpc>
                <a:spcPct val="159375"/>
              </a:lnSpc>
              <a:spcBef>
                <a:spcPts val="0"/>
              </a:spcBef>
              <a:spcAft>
                <a:spcPts val="0"/>
              </a:spcAft>
              <a:buClr>
                <a:srgbClr val="3C3939"/>
              </a:buClr>
              <a:buSzPts val="1600"/>
              <a:buFont typeface="Roboto"/>
              <a:buNone/>
            </a:pPr>
            <a:endParaRPr sz="1600">
              <a:solidFill>
                <a:srgbClr val="3C3939"/>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6"/>
          <p:cNvSpPr/>
          <p:nvPr/>
        </p:nvSpPr>
        <p:spPr>
          <a:xfrm>
            <a:off x="8444825" y="-75"/>
            <a:ext cx="6185700" cy="8229600"/>
          </a:xfrm>
          <a:prstGeom prst="rect">
            <a:avLst/>
          </a:prstGeom>
          <a:solidFill>
            <a:srgbClr val="E1E1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16"/>
          <p:cNvSpPr/>
          <p:nvPr/>
        </p:nvSpPr>
        <p:spPr>
          <a:xfrm>
            <a:off x="793804" y="1087525"/>
            <a:ext cx="9855600" cy="4962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B1B27"/>
              </a:buClr>
              <a:buSzPts val="3100"/>
              <a:buFont typeface="Raleway"/>
              <a:buNone/>
            </a:pPr>
            <a:r>
              <a:rPr lang="en-US" sz="3100" b="0" i="0" u="none" strike="noStrike" cap="none">
                <a:solidFill>
                  <a:srgbClr val="1B1B27"/>
                </a:solidFill>
                <a:latin typeface="Raleway"/>
                <a:ea typeface="Raleway"/>
                <a:cs typeface="Raleway"/>
                <a:sym typeface="Raleway"/>
              </a:rPr>
              <a:t>Fixly Directory Structure: The Blueprint</a:t>
            </a:r>
            <a:endParaRPr sz="3100" b="0" i="0" u="none" strike="noStrike" cap="none"/>
          </a:p>
        </p:txBody>
      </p:sp>
      <p:sp>
        <p:nvSpPr>
          <p:cNvPr id="129" name="Google Shape;129;p16"/>
          <p:cNvSpPr/>
          <p:nvPr/>
        </p:nvSpPr>
        <p:spPr>
          <a:xfrm>
            <a:off x="793800" y="2221450"/>
            <a:ext cx="7490400" cy="5241300"/>
          </a:xfrm>
          <a:prstGeom prst="rect">
            <a:avLst/>
          </a:prstGeom>
          <a:noFill/>
          <a:ln>
            <a:noFill/>
          </a:ln>
        </p:spPr>
        <p:txBody>
          <a:bodyPr spcFirstLastPara="1" wrap="square" lIns="0" tIns="0" rIns="0" bIns="0" anchor="t" anchorCtr="0">
            <a:noAutofit/>
          </a:bodyPr>
          <a:lstStyle/>
          <a:p>
            <a:pPr marL="457200" marR="0" lvl="0" indent="-327025"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The `Fixly/` root directory is systematically divided to ensure logical grouping of all project artifacts. This detailed structure allows developers to quickly locate relevant files, understand the project's scope, and contribute effectively.</a:t>
            </a:r>
            <a:endParaRPr sz="1550" b="0" i="0" u="none" strike="noStrike" cap="none">
              <a:solidFill>
                <a:srgbClr val="3C3939"/>
              </a:solidFill>
              <a:latin typeface="Roboto"/>
              <a:ea typeface="Roboto"/>
              <a:cs typeface="Roboto"/>
              <a:sym typeface="Roboto"/>
            </a:endParaRPr>
          </a:p>
          <a:p>
            <a:pPr marL="457200" lvl="0" indent="-327025" algn="l" rtl="0">
              <a:lnSpc>
                <a:spcPct val="161290"/>
              </a:lnSpc>
              <a:spcBef>
                <a:spcPts val="0"/>
              </a:spcBef>
              <a:spcAft>
                <a:spcPts val="0"/>
              </a:spcAft>
              <a:buClr>
                <a:srgbClr val="3C3939"/>
              </a:buClr>
              <a:buSzPts val="1550"/>
              <a:buChar char="●"/>
            </a:pPr>
            <a:r>
              <a:rPr lang="en-US" sz="1550">
                <a:solidFill>
                  <a:srgbClr val="3C3939"/>
                </a:solidFill>
                <a:highlight>
                  <a:srgbClr val="F2F2F2"/>
                </a:highlight>
                <a:latin typeface="Consolas"/>
                <a:ea typeface="Consolas"/>
                <a:cs typeface="Consolas"/>
                <a:sym typeface="Consolas"/>
              </a:rPr>
              <a:t>Documentation/</a:t>
            </a:r>
            <a:r>
              <a:rPr lang="en-US" sz="1550">
                <a:solidFill>
                  <a:srgbClr val="3C3939"/>
                </a:solidFill>
                <a:latin typeface="Roboto"/>
                <a:ea typeface="Roboto"/>
                <a:cs typeface="Roboto"/>
                <a:sym typeface="Roboto"/>
              </a:rPr>
              <a:t>: All project planning, design, and progress reports.</a:t>
            </a:r>
            <a:endParaRPr sz="1550">
              <a:solidFill>
                <a:srgbClr val="3C3939"/>
              </a:solidFill>
              <a:latin typeface="Roboto"/>
              <a:ea typeface="Roboto"/>
              <a:cs typeface="Roboto"/>
              <a:sym typeface="Roboto"/>
            </a:endParaRPr>
          </a:p>
          <a:p>
            <a:pPr marL="457200" lvl="0" indent="-327025" algn="l" rtl="0">
              <a:lnSpc>
                <a:spcPct val="161290"/>
              </a:lnSpc>
              <a:spcBef>
                <a:spcPts val="0"/>
              </a:spcBef>
              <a:spcAft>
                <a:spcPts val="0"/>
              </a:spcAft>
              <a:buClr>
                <a:srgbClr val="3C3939"/>
              </a:buClr>
              <a:buSzPts val="1550"/>
              <a:buChar char="●"/>
            </a:pPr>
            <a:r>
              <a:rPr lang="en-US" sz="1550">
                <a:solidFill>
                  <a:srgbClr val="3C3939"/>
                </a:solidFill>
                <a:highlight>
                  <a:srgbClr val="F2F2F2"/>
                </a:highlight>
                <a:latin typeface="Consolas"/>
                <a:ea typeface="Consolas"/>
                <a:cs typeface="Consolas"/>
                <a:sym typeface="Consolas"/>
              </a:rPr>
              <a:t>ProductDetails/</a:t>
            </a:r>
            <a:r>
              <a:rPr lang="en-US" sz="1550">
                <a:solidFill>
                  <a:srgbClr val="3C3939"/>
                </a:solidFill>
                <a:latin typeface="Roboto"/>
                <a:ea typeface="Roboto"/>
                <a:cs typeface="Roboto"/>
                <a:sym typeface="Roboto"/>
              </a:rPr>
              <a:t>: Documents related to product management, including roadmaps and sprint planning.</a:t>
            </a:r>
            <a:endParaRPr sz="1550">
              <a:solidFill>
                <a:schemeClr val="dk1"/>
              </a:solidFill>
            </a:endParaRPr>
          </a:p>
          <a:p>
            <a:pPr marL="457200" lvl="0" indent="-327025" algn="l" rtl="0">
              <a:lnSpc>
                <a:spcPct val="161290"/>
              </a:lnSpc>
              <a:spcBef>
                <a:spcPts val="0"/>
              </a:spcBef>
              <a:spcAft>
                <a:spcPts val="0"/>
              </a:spcAft>
              <a:buClr>
                <a:srgbClr val="3C3939"/>
              </a:buClr>
              <a:buSzPts val="1550"/>
              <a:buChar char="●"/>
            </a:pPr>
            <a:r>
              <a:rPr lang="en-US" sz="1550">
                <a:solidFill>
                  <a:srgbClr val="3C3939"/>
                </a:solidFill>
                <a:highlight>
                  <a:srgbClr val="F2F2F2"/>
                </a:highlight>
                <a:latin typeface="Consolas"/>
                <a:ea typeface="Consolas"/>
                <a:cs typeface="Consolas"/>
                <a:sym typeface="Consolas"/>
              </a:rPr>
              <a:t>README.md</a:t>
            </a:r>
            <a:r>
              <a:rPr lang="en-US" sz="1550">
                <a:solidFill>
                  <a:srgbClr val="3C3939"/>
                </a:solidFill>
                <a:latin typeface="Roboto"/>
                <a:ea typeface="Roboto"/>
                <a:cs typeface="Roboto"/>
                <a:sym typeface="Roboto"/>
              </a:rPr>
              <a:t>: Project overview and setup instructions.</a:t>
            </a:r>
            <a:endParaRPr sz="1550">
              <a:solidFill>
                <a:schemeClr val="dk1"/>
              </a:solidFill>
            </a:endParaRPr>
          </a:p>
          <a:p>
            <a:pPr marL="457200" lvl="0" indent="-327025" algn="l" rtl="0">
              <a:lnSpc>
                <a:spcPct val="161290"/>
              </a:lnSpc>
              <a:spcBef>
                <a:spcPts val="0"/>
              </a:spcBef>
              <a:spcAft>
                <a:spcPts val="0"/>
              </a:spcAft>
              <a:buClr>
                <a:srgbClr val="3C3939"/>
              </a:buClr>
              <a:buSzPts val="1550"/>
              <a:buChar char="●"/>
            </a:pPr>
            <a:r>
              <a:rPr lang="en-US" sz="1550">
                <a:solidFill>
                  <a:srgbClr val="3C3939"/>
                </a:solidFill>
                <a:highlight>
                  <a:srgbClr val="F2F2F2"/>
                </a:highlight>
                <a:latin typeface="Consolas"/>
                <a:ea typeface="Consolas"/>
                <a:cs typeface="Consolas"/>
                <a:sym typeface="Consolas"/>
              </a:rPr>
              <a:t>client/</a:t>
            </a:r>
            <a:r>
              <a:rPr lang="en-US" sz="1550">
                <a:solidFill>
                  <a:srgbClr val="3C3939"/>
                </a:solidFill>
                <a:latin typeface="Roboto"/>
                <a:ea typeface="Roboto"/>
                <a:cs typeface="Roboto"/>
                <a:sym typeface="Roboto"/>
              </a:rPr>
              <a:t>: The entire frontend React application.</a:t>
            </a:r>
            <a:endParaRPr sz="1550">
              <a:solidFill>
                <a:schemeClr val="dk1"/>
              </a:solidFill>
            </a:endParaRPr>
          </a:p>
          <a:p>
            <a:pPr marL="457200" lvl="0" indent="-327025" algn="l" rtl="0">
              <a:lnSpc>
                <a:spcPct val="161290"/>
              </a:lnSpc>
              <a:spcBef>
                <a:spcPts val="0"/>
              </a:spcBef>
              <a:spcAft>
                <a:spcPts val="0"/>
              </a:spcAft>
              <a:buClr>
                <a:srgbClr val="3C3939"/>
              </a:buClr>
              <a:buSzPts val="1550"/>
              <a:buChar char="●"/>
            </a:pPr>
            <a:r>
              <a:rPr lang="en-US" sz="1550">
                <a:solidFill>
                  <a:srgbClr val="3C3939"/>
                </a:solidFill>
                <a:highlight>
                  <a:srgbClr val="F2F2F2"/>
                </a:highlight>
                <a:latin typeface="Consolas"/>
                <a:ea typeface="Consolas"/>
                <a:cs typeface="Consolas"/>
                <a:sym typeface="Consolas"/>
              </a:rPr>
              <a:t>server/</a:t>
            </a:r>
            <a:r>
              <a:rPr lang="en-US" sz="1550">
                <a:solidFill>
                  <a:srgbClr val="3C3939"/>
                </a:solidFill>
                <a:latin typeface="Roboto"/>
                <a:ea typeface="Roboto"/>
                <a:cs typeface="Roboto"/>
                <a:sym typeface="Roboto"/>
              </a:rPr>
              <a:t>: The backend Node.js application and its components.</a:t>
            </a:r>
            <a:endParaRPr sz="1550">
              <a:solidFill>
                <a:schemeClr val="dk1"/>
              </a:solidFill>
            </a:endParaRPr>
          </a:p>
          <a:p>
            <a:pPr marL="0" marR="0" lvl="0" indent="0" algn="l" rtl="0">
              <a:lnSpc>
                <a:spcPct val="161290"/>
              </a:lnSpc>
              <a:spcBef>
                <a:spcPts val="0"/>
              </a:spcBef>
              <a:spcAft>
                <a:spcPts val="0"/>
              </a:spcAft>
              <a:buNone/>
            </a:pPr>
            <a:endParaRPr sz="1550">
              <a:solidFill>
                <a:srgbClr val="3C3939"/>
              </a:solidFill>
              <a:latin typeface="Roboto"/>
              <a:ea typeface="Roboto"/>
              <a:cs typeface="Roboto"/>
              <a:sym typeface="Roboto"/>
            </a:endParaRPr>
          </a:p>
        </p:txBody>
      </p:sp>
      <p:sp>
        <p:nvSpPr>
          <p:cNvPr id="130" name="Google Shape;130;p16"/>
          <p:cNvSpPr/>
          <p:nvPr/>
        </p:nvSpPr>
        <p:spPr>
          <a:xfrm>
            <a:off x="793790" y="5814298"/>
            <a:ext cx="13042800" cy="3252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Consolas"/>
              <a:buNone/>
            </a:pPr>
            <a:endParaRPr sz="1550" b="0" i="0" u="none" strike="noStrike" cap="none"/>
          </a:p>
        </p:txBody>
      </p:sp>
      <p:pic>
        <p:nvPicPr>
          <p:cNvPr id="131" name="Google Shape;131;p16" title="Screenshot 2025-11-13 at 9.58.52 AM.png"/>
          <p:cNvPicPr preferRelativeResize="0"/>
          <p:nvPr/>
        </p:nvPicPr>
        <p:blipFill>
          <a:blip r:embed="rId3">
            <a:alphaModFix/>
          </a:blip>
          <a:stretch>
            <a:fillRect/>
          </a:stretch>
        </p:blipFill>
        <p:spPr>
          <a:xfrm>
            <a:off x="9990840" y="388338"/>
            <a:ext cx="3142625" cy="75149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7"/>
          <p:cNvSpPr/>
          <p:nvPr/>
        </p:nvSpPr>
        <p:spPr>
          <a:xfrm>
            <a:off x="787950" y="434125"/>
            <a:ext cx="11872200" cy="1195800"/>
          </a:xfrm>
          <a:prstGeom prst="rect">
            <a:avLst/>
          </a:prstGeom>
          <a:noFill/>
          <a:ln>
            <a:noFill/>
          </a:ln>
        </p:spPr>
        <p:txBody>
          <a:bodyPr spcFirstLastPara="1" wrap="square" lIns="0" tIns="0" rIns="0" bIns="0" anchor="t" anchorCtr="0">
            <a:noAutofit/>
          </a:bodyPr>
          <a:lstStyle/>
          <a:p>
            <a:pPr marL="0" marR="0" lvl="0" indent="0" algn="l" rtl="0">
              <a:lnSpc>
                <a:spcPct val="124193"/>
              </a:lnSpc>
              <a:spcBef>
                <a:spcPts val="0"/>
              </a:spcBef>
              <a:spcAft>
                <a:spcPts val="0"/>
              </a:spcAft>
              <a:buClr>
                <a:srgbClr val="1B1B27"/>
              </a:buClr>
              <a:buSzPts val="3100"/>
              <a:buFont typeface="Raleway"/>
              <a:buNone/>
            </a:pPr>
            <a:r>
              <a:rPr lang="en-US" sz="3100" b="0" i="0" u="none" strike="noStrike" cap="none">
                <a:solidFill>
                  <a:srgbClr val="1B1B27"/>
                </a:solidFill>
                <a:latin typeface="Raleway"/>
                <a:ea typeface="Raleway"/>
                <a:cs typeface="Raleway"/>
                <a:sym typeface="Raleway"/>
              </a:rPr>
              <a:t>Backend Architecture: Server-Side Components</a:t>
            </a:r>
            <a:endParaRPr sz="3100" b="0" i="0" u="none" strike="noStrike" cap="none"/>
          </a:p>
        </p:txBody>
      </p:sp>
      <p:sp>
        <p:nvSpPr>
          <p:cNvPr id="138" name="Google Shape;138;p17"/>
          <p:cNvSpPr/>
          <p:nvPr/>
        </p:nvSpPr>
        <p:spPr>
          <a:xfrm>
            <a:off x="787956" y="1517802"/>
            <a:ext cx="13054500" cy="630600"/>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The `server/` directory embodies a well-defined controller-based architecture, promoting modularity and maintainability. Each core entity within the Fixly platform has its dedicated components, ensuring clear responsibilities and easy navigation for backend developers.</a:t>
            </a:r>
            <a:endParaRPr sz="1550" b="0" i="0" u="none" strike="noStrike" cap="none"/>
          </a:p>
        </p:txBody>
      </p:sp>
      <p:sp>
        <p:nvSpPr>
          <p:cNvPr id="139" name="Google Shape;139;p17"/>
          <p:cNvSpPr/>
          <p:nvPr/>
        </p:nvSpPr>
        <p:spPr>
          <a:xfrm>
            <a:off x="787956" y="2477214"/>
            <a:ext cx="4664869" cy="307777"/>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1B1B27"/>
              </a:buClr>
              <a:buSzPts val="1900"/>
              <a:buFont typeface="Raleway"/>
              <a:buNone/>
            </a:pPr>
            <a:r>
              <a:rPr lang="en-US" sz="1900" b="0" i="0" u="none" strike="noStrike" cap="none">
                <a:solidFill>
                  <a:srgbClr val="1B1B27"/>
                </a:solidFill>
                <a:latin typeface="Raleway"/>
                <a:ea typeface="Raleway"/>
                <a:cs typeface="Raleway"/>
                <a:sym typeface="Raleway"/>
              </a:rPr>
              <a:t>Controllers: Business Logic Orchestrators</a:t>
            </a:r>
            <a:endParaRPr sz="1900" b="0" i="0" u="none" strike="noStrike" cap="none"/>
          </a:p>
        </p:txBody>
      </p:sp>
      <p:sp>
        <p:nvSpPr>
          <p:cNvPr id="140" name="Google Shape;140;p17"/>
          <p:cNvSpPr/>
          <p:nvPr/>
        </p:nvSpPr>
        <p:spPr>
          <a:xfrm>
            <a:off x="787956" y="2981920"/>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adminController.js</a:t>
            </a:r>
            <a:r>
              <a:rPr lang="en-US" sz="1550" b="0" i="0" u="none" strike="noStrike" cap="none">
                <a:solidFill>
                  <a:srgbClr val="3C3939"/>
                </a:solidFill>
                <a:latin typeface="Roboto"/>
                <a:ea typeface="Roboto"/>
                <a:cs typeface="Roboto"/>
                <a:sym typeface="Roboto"/>
              </a:rPr>
              <a:t>: Admin functionality</a:t>
            </a:r>
            <a:endParaRPr sz="1550" b="0" i="0" u="none" strike="noStrike" cap="none"/>
          </a:p>
        </p:txBody>
      </p:sp>
      <p:sp>
        <p:nvSpPr>
          <p:cNvPr id="141" name="Google Shape;141;p17"/>
          <p:cNvSpPr/>
          <p:nvPr/>
        </p:nvSpPr>
        <p:spPr>
          <a:xfrm>
            <a:off x="787956" y="3373755"/>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authController.js</a:t>
            </a:r>
            <a:r>
              <a:rPr lang="en-US" sz="1550" b="0" i="0" u="none" strike="noStrike" cap="none">
                <a:solidFill>
                  <a:srgbClr val="3C3939"/>
                </a:solidFill>
                <a:latin typeface="Roboto"/>
                <a:ea typeface="Roboto"/>
                <a:cs typeface="Roboto"/>
                <a:sym typeface="Roboto"/>
              </a:rPr>
              <a:t>: User authentication &amp; authorization</a:t>
            </a:r>
            <a:endParaRPr sz="1550" b="0" i="0" u="none" strike="noStrike" cap="none"/>
          </a:p>
        </p:txBody>
      </p:sp>
      <p:sp>
        <p:nvSpPr>
          <p:cNvPr id="142" name="Google Shape;142;p17"/>
          <p:cNvSpPr/>
          <p:nvPr/>
        </p:nvSpPr>
        <p:spPr>
          <a:xfrm>
            <a:off x="787956" y="3765590"/>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bookingController.js</a:t>
            </a:r>
            <a:r>
              <a:rPr lang="en-US" sz="1550" b="0" i="0" u="none" strike="noStrike" cap="none">
                <a:solidFill>
                  <a:srgbClr val="3C3939"/>
                </a:solidFill>
                <a:latin typeface="Roboto"/>
                <a:ea typeface="Roboto"/>
                <a:cs typeface="Roboto"/>
                <a:sym typeface="Roboto"/>
              </a:rPr>
              <a:t>: Booking management</a:t>
            </a:r>
            <a:endParaRPr sz="1550" b="0" i="0" u="none" strike="noStrike" cap="none"/>
          </a:p>
        </p:txBody>
      </p:sp>
      <p:sp>
        <p:nvSpPr>
          <p:cNvPr id="143" name="Google Shape;143;p17"/>
          <p:cNvSpPr/>
          <p:nvPr/>
        </p:nvSpPr>
        <p:spPr>
          <a:xfrm>
            <a:off x="787956" y="4157424"/>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paymentController.js</a:t>
            </a:r>
            <a:r>
              <a:rPr lang="en-US" sz="1550" b="0" i="0" u="none" strike="noStrike" cap="none">
                <a:solidFill>
                  <a:srgbClr val="3C3939"/>
                </a:solidFill>
                <a:latin typeface="Roboto"/>
                <a:ea typeface="Roboto"/>
                <a:cs typeface="Roboto"/>
                <a:sym typeface="Roboto"/>
              </a:rPr>
              <a:t>: Payment processing</a:t>
            </a:r>
            <a:endParaRPr sz="1550" b="0" i="0" u="none" strike="noStrike" cap="none"/>
          </a:p>
        </p:txBody>
      </p:sp>
      <p:sp>
        <p:nvSpPr>
          <p:cNvPr id="144" name="Google Shape;144;p17"/>
          <p:cNvSpPr/>
          <p:nvPr/>
        </p:nvSpPr>
        <p:spPr>
          <a:xfrm>
            <a:off x="787956" y="4549259"/>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reviewController.js</a:t>
            </a:r>
            <a:r>
              <a:rPr lang="en-US" sz="1550" b="0" i="0" u="none" strike="noStrike" cap="none">
                <a:solidFill>
                  <a:srgbClr val="3C3939"/>
                </a:solidFill>
                <a:latin typeface="Roboto"/>
                <a:ea typeface="Roboto"/>
                <a:cs typeface="Roboto"/>
                <a:sym typeface="Roboto"/>
              </a:rPr>
              <a:t>: Review and rating system</a:t>
            </a:r>
            <a:endParaRPr sz="1550" b="0" i="0" u="none" strike="noStrike" cap="none"/>
          </a:p>
        </p:txBody>
      </p:sp>
      <p:sp>
        <p:nvSpPr>
          <p:cNvPr id="145" name="Google Shape;145;p17"/>
          <p:cNvSpPr/>
          <p:nvPr/>
        </p:nvSpPr>
        <p:spPr>
          <a:xfrm>
            <a:off x="787956" y="4941094"/>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userController.js</a:t>
            </a:r>
            <a:r>
              <a:rPr lang="en-US" sz="1550" b="0" i="0" u="none" strike="noStrike" cap="none">
                <a:solidFill>
                  <a:srgbClr val="3C3939"/>
                </a:solidFill>
                <a:latin typeface="Roboto"/>
                <a:ea typeface="Roboto"/>
                <a:cs typeface="Roboto"/>
                <a:sym typeface="Roboto"/>
              </a:rPr>
              <a:t>: Comprehensive user management</a:t>
            </a:r>
            <a:endParaRPr sz="1550" b="0" i="0" u="none" strike="noStrike" cap="none"/>
          </a:p>
        </p:txBody>
      </p:sp>
      <p:sp>
        <p:nvSpPr>
          <p:cNvPr id="146" name="Google Shape;146;p17"/>
          <p:cNvSpPr/>
          <p:nvPr/>
        </p:nvSpPr>
        <p:spPr>
          <a:xfrm>
            <a:off x="7563088" y="2477214"/>
            <a:ext cx="3141107" cy="307777"/>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1B1B27"/>
              </a:buClr>
              <a:buSzPts val="1900"/>
              <a:buFont typeface="Raleway"/>
              <a:buNone/>
            </a:pPr>
            <a:r>
              <a:rPr lang="en-US" sz="1900" b="0" i="0" u="none" strike="noStrike" cap="none">
                <a:solidFill>
                  <a:srgbClr val="1B1B27"/>
                </a:solidFill>
                <a:latin typeface="Raleway"/>
                <a:ea typeface="Raleway"/>
                <a:cs typeface="Raleway"/>
                <a:sym typeface="Raleway"/>
              </a:rPr>
              <a:t>Models: Database Schemas</a:t>
            </a:r>
            <a:endParaRPr sz="1900" b="0" i="0" u="none" strike="noStrike" cap="none"/>
          </a:p>
        </p:txBody>
      </p:sp>
      <p:sp>
        <p:nvSpPr>
          <p:cNvPr id="147" name="Google Shape;147;p17"/>
          <p:cNvSpPr/>
          <p:nvPr/>
        </p:nvSpPr>
        <p:spPr>
          <a:xfrm>
            <a:off x="7563088" y="2981920"/>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AdminEarnings.js</a:t>
            </a:r>
            <a:r>
              <a:rPr lang="en-US" sz="1550" b="0" i="0" u="none" strike="noStrike" cap="none">
                <a:solidFill>
                  <a:srgbClr val="3C3939"/>
                </a:solidFill>
                <a:latin typeface="Roboto"/>
                <a:ea typeface="Roboto"/>
                <a:cs typeface="Roboto"/>
                <a:sym typeface="Roboto"/>
              </a:rPr>
              <a:t>: Admin revenue tracking</a:t>
            </a:r>
            <a:endParaRPr sz="1550" b="0" i="0" u="none" strike="noStrike" cap="none"/>
          </a:p>
        </p:txBody>
      </p:sp>
      <p:sp>
        <p:nvSpPr>
          <p:cNvPr id="148" name="Google Shape;148;p17"/>
          <p:cNvSpPr/>
          <p:nvPr/>
        </p:nvSpPr>
        <p:spPr>
          <a:xfrm>
            <a:off x="7563088" y="3373755"/>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Booking.js</a:t>
            </a:r>
            <a:r>
              <a:rPr lang="en-US" sz="1550" b="0" i="0" u="none" strike="noStrike" cap="none">
                <a:solidFill>
                  <a:srgbClr val="3C3939"/>
                </a:solidFill>
                <a:latin typeface="Roboto"/>
                <a:ea typeface="Roboto"/>
                <a:cs typeface="Roboto"/>
                <a:sym typeface="Roboto"/>
              </a:rPr>
              <a:t>: Records for service bookings</a:t>
            </a:r>
            <a:endParaRPr sz="1550" b="0" i="0" u="none" strike="noStrike" cap="none"/>
          </a:p>
        </p:txBody>
      </p:sp>
      <p:sp>
        <p:nvSpPr>
          <p:cNvPr id="149" name="Google Shape;149;p17"/>
          <p:cNvSpPr/>
          <p:nvPr/>
        </p:nvSpPr>
        <p:spPr>
          <a:xfrm>
            <a:off x="7563088" y="3765590"/>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Commission.js</a:t>
            </a:r>
            <a:r>
              <a:rPr lang="en-US" sz="1550" b="0" i="0" u="none" strike="noStrike" cap="none">
                <a:solidFill>
                  <a:srgbClr val="3C3939"/>
                </a:solidFill>
                <a:latin typeface="Roboto"/>
                <a:ea typeface="Roboto"/>
                <a:cs typeface="Roboto"/>
                <a:sym typeface="Roboto"/>
              </a:rPr>
              <a:t>: Commission rate settings</a:t>
            </a:r>
            <a:endParaRPr sz="1550" b="0" i="0" u="none" strike="noStrike" cap="none"/>
          </a:p>
        </p:txBody>
      </p:sp>
      <p:sp>
        <p:nvSpPr>
          <p:cNvPr id="150" name="Google Shape;150;p17"/>
          <p:cNvSpPr/>
          <p:nvPr/>
        </p:nvSpPr>
        <p:spPr>
          <a:xfrm>
            <a:off x="7563088" y="4157424"/>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Payment.js</a:t>
            </a:r>
            <a:r>
              <a:rPr lang="en-US" sz="1550" b="0" i="0" u="none" strike="noStrike" cap="none">
                <a:solidFill>
                  <a:srgbClr val="3C3939"/>
                </a:solidFill>
                <a:latin typeface="Roboto"/>
                <a:ea typeface="Roboto"/>
                <a:cs typeface="Roboto"/>
                <a:sym typeface="Roboto"/>
              </a:rPr>
              <a:t>: Detailed payment transaction records</a:t>
            </a:r>
            <a:endParaRPr sz="1550" b="0" i="0" u="none" strike="noStrike" cap="none"/>
          </a:p>
        </p:txBody>
      </p:sp>
      <p:sp>
        <p:nvSpPr>
          <p:cNvPr id="151" name="Google Shape;151;p17"/>
          <p:cNvSpPr/>
          <p:nvPr/>
        </p:nvSpPr>
        <p:spPr>
          <a:xfrm>
            <a:off x="7563088" y="4549259"/>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Review.js</a:t>
            </a:r>
            <a:r>
              <a:rPr lang="en-US" sz="1550" b="0" i="0" u="none" strike="noStrike" cap="none">
                <a:solidFill>
                  <a:srgbClr val="3C3939"/>
                </a:solidFill>
                <a:latin typeface="Roboto"/>
                <a:ea typeface="Roboto"/>
                <a:cs typeface="Roboto"/>
                <a:sym typeface="Roboto"/>
              </a:rPr>
              <a:t>: User-submitted service reviews</a:t>
            </a:r>
            <a:endParaRPr sz="1550" b="0" i="0" u="none" strike="noStrike" cap="none"/>
          </a:p>
        </p:txBody>
      </p:sp>
      <p:sp>
        <p:nvSpPr>
          <p:cNvPr id="152" name="Google Shape;152;p17"/>
          <p:cNvSpPr/>
          <p:nvPr/>
        </p:nvSpPr>
        <p:spPr>
          <a:xfrm>
            <a:off x="7563088" y="4941094"/>
            <a:ext cx="6286976" cy="322898"/>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User.js</a:t>
            </a:r>
            <a:r>
              <a:rPr lang="en-US" sz="1550" b="0" i="0" u="none" strike="noStrike" cap="none">
                <a:solidFill>
                  <a:srgbClr val="3C3939"/>
                </a:solidFill>
                <a:latin typeface="Roboto"/>
                <a:ea typeface="Roboto"/>
                <a:cs typeface="Roboto"/>
                <a:sym typeface="Roboto"/>
              </a:rPr>
              <a:t>: Core user account definitions</a:t>
            </a:r>
            <a:endParaRPr sz="1550" b="0" i="0" u="none" strike="noStrike" cap="none"/>
          </a:p>
        </p:txBody>
      </p:sp>
      <p:sp>
        <p:nvSpPr>
          <p:cNvPr id="153" name="Google Shape;153;p17"/>
          <p:cNvSpPr/>
          <p:nvPr/>
        </p:nvSpPr>
        <p:spPr>
          <a:xfrm>
            <a:off x="787956" y="5554504"/>
            <a:ext cx="4220170" cy="2134314"/>
          </a:xfrm>
          <a:prstGeom prst="roundRect">
            <a:avLst>
              <a:gd name="adj" fmla="val 3877"/>
            </a:avLst>
          </a:prstGeom>
          <a:solidFill>
            <a:srgbClr val="FFFFFF">
              <a:alpha val="94901"/>
            </a:srgbClr>
          </a:solidFill>
          <a:ln w="22850"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7"/>
          <p:cNvSpPr/>
          <p:nvPr/>
        </p:nvSpPr>
        <p:spPr>
          <a:xfrm>
            <a:off x="1007745" y="5774293"/>
            <a:ext cx="2478286" cy="307777"/>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3C3939"/>
              </a:buClr>
              <a:buSzPts val="1900"/>
              <a:buFont typeface="Raleway"/>
              <a:buNone/>
            </a:pPr>
            <a:r>
              <a:rPr lang="en-US" sz="1900" b="0" i="0" u="none" strike="noStrike" cap="none">
                <a:solidFill>
                  <a:srgbClr val="3C3939"/>
                </a:solidFill>
                <a:latin typeface="Raleway"/>
                <a:ea typeface="Raleway"/>
                <a:cs typeface="Raleway"/>
                <a:sym typeface="Raleway"/>
              </a:rPr>
              <a:t>Routes: API Endpoints</a:t>
            </a:r>
            <a:endParaRPr sz="1900" b="0" i="0" u="none" strike="noStrike" cap="none"/>
          </a:p>
        </p:txBody>
      </p:sp>
      <p:sp>
        <p:nvSpPr>
          <p:cNvPr id="155" name="Google Shape;155;p17"/>
          <p:cNvSpPr/>
          <p:nvPr/>
        </p:nvSpPr>
        <p:spPr>
          <a:xfrm>
            <a:off x="1007745" y="6200180"/>
            <a:ext cx="3780592" cy="638175"/>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Structured API routes for efficient request handling (e.g., </a:t>
            </a:r>
            <a:r>
              <a:rPr lang="en-US" sz="1550" b="0" i="0" u="none" strike="noStrike" cap="none">
                <a:solidFill>
                  <a:srgbClr val="3C3939"/>
                </a:solidFill>
                <a:highlight>
                  <a:srgbClr val="F2F2F2"/>
                </a:highlight>
                <a:latin typeface="Consolas"/>
                <a:ea typeface="Consolas"/>
                <a:cs typeface="Consolas"/>
                <a:sym typeface="Consolas"/>
              </a:rPr>
              <a:t>api/admin.js</a:t>
            </a:r>
            <a:r>
              <a:rPr lang="en-US" sz="1550" b="0" i="0" u="none" strike="noStrike" cap="none">
                <a:solidFill>
                  <a:srgbClr val="3C3939"/>
                </a:solidFill>
                <a:latin typeface="Roboto"/>
                <a:ea typeface="Roboto"/>
                <a:cs typeface="Roboto"/>
                <a:sym typeface="Roboto"/>
              </a:rPr>
              <a:t>, </a:t>
            </a:r>
            <a:r>
              <a:rPr lang="en-US" sz="1550" b="0" i="0" u="none" strike="noStrike" cap="none">
                <a:solidFill>
                  <a:srgbClr val="3C3939"/>
                </a:solidFill>
                <a:highlight>
                  <a:srgbClr val="F2F2F2"/>
                </a:highlight>
                <a:latin typeface="Consolas"/>
                <a:ea typeface="Consolas"/>
                <a:cs typeface="Consolas"/>
                <a:sym typeface="Consolas"/>
              </a:rPr>
              <a:t>api/auth.js</a:t>
            </a:r>
            <a:r>
              <a:rPr lang="en-US" sz="1550" b="0" i="0" u="none" strike="noStrike" cap="none">
                <a:solidFill>
                  <a:srgbClr val="3C3939"/>
                </a:solidFill>
                <a:latin typeface="Roboto"/>
                <a:ea typeface="Roboto"/>
                <a:cs typeface="Roboto"/>
                <a:sym typeface="Roboto"/>
              </a:rPr>
              <a:t>).</a:t>
            </a:r>
            <a:endParaRPr sz="1550" b="0" i="0" u="none" strike="noStrike" cap="none"/>
          </a:p>
        </p:txBody>
      </p:sp>
      <p:sp>
        <p:nvSpPr>
          <p:cNvPr id="156" name="Google Shape;156;p17"/>
          <p:cNvSpPr/>
          <p:nvPr/>
        </p:nvSpPr>
        <p:spPr>
          <a:xfrm>
            <a:off x="5205055" y="5554504"/>
            <a:ext cx="4220170" cy="2134314"/>
          </a:xfrm>
          <a:prstGeom prst="roundRect">
            <a:avLst>
              <a:gd name="adj" fmla="val 3877"/>
            </a:avLst>
          </a:prstGeom>
          <a:solidFill>
            <a:srgbClr val="FFFFFF">
              <a:alpha val="94901"/>
            </a:srgbClr>
          </a:solidFill>
          <a:ln w="22850"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7"/>
          <p:cNvSpPr/>
          <p:nvPr/>
        </p:nvSpPr>
        <p:spPr>
          <a:xfrm>
            <a:off x="5424845" y="5774293"/>
            <a:ext cx="3780592" cy="615553"/>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3C3939"/>
              </a:buClr>
              <a:buSzPts val="1900"/>
              <a:buFont typeface="Raleway"/>
              <a:buNone/>
            </a:pPr>
            <a:r>
              <a:rPr lang="en-US" sz="1900" b="0" i="0" u="none" strike="noStrike" cap="none">
                <a:solidFill>
                  <a:srgbClr val="3C3939"/>
                </a:solidFill>
                <a:latin typeface="Raleway"/>
                <a:ea typeface="Raleway"/>
                <a:cs typeface="Raleway"/>
                <a:sym typeface="Raleway"/>
              </a:rPr>
              <a:t>Middleware: Reusable Functionality</a:t>
            </a:r>
            <a:endParaRPr sz="1900" b="0" i="0" u="none" strike="noStrike" cap="none"/>
          </a:p>
        </p:txBody>
      </p:sp>
      <p:sp>
        <p:nvSpPr>
          <p:cNvPr id="158" name="Google Shape;158;p17"/>
          <p:cNvSpPr/>
          <p:nvPr/>
        </p:nvSpPr>
        <p:spPr>
          <a:xfrm>
            <a:off x="5424845" y="6507956"/>
            <a:ext cx="3780592" cy="961073"/>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Custom middleware like </a:t>
            </a:r>
            <a:r>
              <a:rPr lang="en-US" sz="1550" b="0" i="0" u="none" strike="noStrike" cap="none">
                <a:solidFill>
                  <a:srgbClr val="3C3939"/>
                </a:solidFill>
                <a:highlight>
                  <a:srgbClr val="F2F2F2"/>
                </a:highlight>
                <a:latin typeface="Consolas"/>
                <a:ea typeface="Consolas"/>
                <a:cs typeface="Consolas"/>
                <a:sym typeface="Consolas"/>
              </a:rPr>
              <a:t>auth.js</a:t>
            </a:r>
            <a:r>
              <a:rPr lang="en-US" sz="1550" b="0" i="0" u="none" strike="noStrike" cap="none">
                <a:solidFill>
                  <a:srgbClr val="3C3939"/>
                </a:solidFill>
                <a:latin typeface="Roboto"/>
                <a:ea typeface="Roboto"/>
                <a:cs typeface="Roboto"/>
                <a:sym typeface="Roboto"/>
              </a:rPr>
              <a:t> for authentication and </a:t>
            </a:r>
            <a:r>
              <a:rPr lang="en-US" sz="1550" b="0" i="0" u="none" strike="noStrike" cap="none">
                <a:solidFill>
                  <a:srgbClr val="3C3939"/>
                </a:solidFill>
                <a:highlight>
                  <a:srgbClr val="F2F2F2"/>
                </a:highlight>
                <a:latin typeface="Consolas"/>
                <a:ea typeface="Consolas"/>
                <a:cs typeface="Consolas"/>
                <a:sym typeface="Consolas"/>
              </a:rPr>
              <a:t>errorHandler.js</a:t>
            </a:r>
            <a:r>
              <a:rPr lang="en-US" sz="1550" b="0" i="0" u="none" strike="noStrike" cap="none">
                <a:solidFill>
                  <a:srgbClr val="3C3939"/>
                </a:solidFill>
                <a:latin typeface="Roboto"/>
                <a:ea typeface="Roboto"/>
                <a:cs typeface="Roboto"/>
                <a:sym typeface="Roboto"/>
              </a:rPr>
              <a:t> for global error handling.</a:t>
            </a:r>
            <a:endParaRPr sz="1550" b="0" i="0" u="none" strike="noStrike" cap="none"/>
          </a:p>
        </p:txBody>
      </p:sp>
      <p:sp>
        <p:nvSpPr>
          <p:cNvPr id="159" name="Google Shape;159;p17"/>
          <p:cNvSpPr/>
          <p:nvPr/>
        </p:nvSpPr>
        <p:spPr>
          <a:xfrm>
            <a:off x="9622155" y="5554504"/>
            <a:ext cx="4220170" cy="2134314"/>
          </a:xfrm>
          <a:prstGeom prst="roundRect">
            <a:avLst>
              <a:gd name="adj" fmla="val 3877"/>
            </a:avLst>
          </a:prstGeom>
          <a:solidFill>
            <a:srgbClr val="FFFFFF">
              <a:alpha val="94901"/>
            </a:srgbClr>
          </a:solidFill>
          <a:ln w="22850"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7"/>
          <p:cNvSpPr/>
          <p:nvPr/>
        </p:nvSpPr>
        <p:spPr>
          <a:xfrm>
            <a:off x="9841944" y="5774293"/>
            <a:ext cx="3780592" cy="615553"/>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3C3939"/>
              </a:buClr>
              <a:buSzPts val="1900"/>
              <a:buFont typeface="Raleway"/>
              <a:buNone/>
            </a:pPr>
            <a:r>
              <a:rPr lang="en-US" sz="1900" b="0" i="0" u="none" strike="noStrike" cap="none">
                <a:solidFill>
                  <a:srgbClr val="3C3939"/>
                </a:solidFill>
                <a:latin typeface="Raleway"/>
                <a:ea typeface="Raleway"/>
                <a:cs typeface="Raleway"/>
                <a:sym typeface="Raleway"/>
              </a:rPr>
              <a:t>Configuration: Environment Settings</a:t>
            </a:r>
            <a:endParaRPr sz="1900" b="0" i="0" u="none" strike="noStrike" cap="none"/>
          </a:p>
        </p:txBody>
      </p:sp>
      <p:sp>
        <p:nvSpPr>
          <p:cNvPr id="161" name="Google Shape;161;p17"/>
          <p:cNvSpPr/>
          <p:nvPr/>
        </p:nvSpPr>
        <p:spPr>
          <a:xfrm>
            <a:off x="9841944" y="6507956"/>
            <a:ext cx="3780592" cy="961073"/>
          </a:xfrm>
          <a:prstGeom prst="rect">
            <a:avLst/>
          </a:prstGeom>
          <a:noFill/>
          <a:ln>
            <a:noFill/>
          </a:ln>
        </p:spPr>
        <p:txBody>
          <a:bodyPr spcFirstLastPara="1" wrap="square" lIns="0" tIns="0" rIns="0" bIns="0" anchor="t" anchorCtr="0">
            <a:noAutofit/>
          </a:bodyPr>
          <a:lstStyle/>
          <a:p>
            <a:pPr marL="0" marR="0" lvl="0" indent="0" algn="l" rtl="0">
              <a:lnSpc>
                <a:spcPct val="158064"/>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Dedicated files for external service integrations like </a:t>
            </a:r>
            <a:r>
              <a:rPr lang="en-US" sz="1550" b="0" i="0" u="none" strike="noStrike" cap="none">
                <a:solidFill>
                  <a:srgbClr val="3C3939"/>
                </a:solidFill>
                <a:highlight>
                  <a:srgbClr val="F2F2F2"/>
                </a:highlight>
                <a:latin typeface="Consolas"/>
                <a:ea typeface="Consolas"/>
                <a:cs typeface="Consolas"/>
                <a:sym typeface="Consolas"/>
              </a:rPr>
              <a:t>cloudinary.js</a:t>
            </a:r>
            <a:r>
              <a:rPr lang="en-US" sz="1550" b="0" i="0" u="none" strike="noStrike" cap="none">
                <a:solidFill>
                  <a:srgbClr val="3C3939"/>
                </a:solidFill>
                <a:latin typeface="Roboto"/>
                <a:ea typeface="Roboto"/>
                <a:cs typeface="Roboto"/>
                <a:sym typeface="Roboto"/>
              </a:rPr>
              <a:t> and database connections </a:t>
            </a:r>
            <a:r>
              <a:rPr lang="en-US" sz="1550" b="0" i="0" u="none" strike="noStrike" cap="none">
                <a:solidFill>
                  <a:srgbClr val="3C3939"/>
                </a:solidFill>
                <a:highlight>
                  <a:srgbClr val="F2F2F2"/>
                </a:highlight>
                <a:latin typeface="Consolas"/>
                <a:ea typeface="Consolas"/>
                <a:cs typeface="Consolas"/>
                <a:sym typeface="Consolas"/>
              </a:rPr>
              <a:t>db.js</a:t>
            </a:r>
            <a:r>
              <a:rPr lang="en-US" sz="1550" b="0" i="0" u="none" strike="noStrike" cap="none">
                <a:solidFill>
                  <a:srgbClr val="3C3939"/>
                </a:solidFill>
                <a:latin typeface="Roboto"/>
                <a:ea typeface="Roboto"/>
                <a:cs typeface="Roboto"/>
                <a:sym typeface="Roboto"/>
              </a:rPr>
              <a:t>.</a:t>
            </a:r>
            <a:endParaRPr sz="1550" b="0" i="0" u="none" strike="noStrike" cap="non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8"/>
          <p:cNvSpPr/>
          <p:nvPr/>
        </p:nvSpPr>
        <p:spPr>
          <a:xfrm>
            <a:off x="793790" y="1378744"/>
            <a:ext cx="8942784" cy="49613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B1B27"/>
              </a:buClr>
              <a:buSzPts val="3100"/>
              <a:buFont typeface="Raleway"/>
              <a:buNone/>
            </a:pPr>
            <a:r>
              <a:rPr lang="en-US" sz="3100" b="0" i="0" u="none" strike="noStrike" cap="none" dirty="0">
                <a:solidFill>
                  <a:srgbClr val="1B1B27"/>
                </a:solidFill>
                <a:latin typeface="Raleway"/>
                <a:ea typeface="Raleway"/>
                <a:cs typeface="Raleway"/>
                <a:sym typeface="Raleway"/>
              </a:rPr>
              <a:t>Frontend Architecture: Client-Side Experience</a:t>
            </a:r>
            <a:endParaRPr sz="3100" b="0" i="0" u="none" strike="noStrike" cap="none" dirty="0"/>
          </a:p>
        </p:txBody>
      </p:sp>
      <p:sp>
        <p:nvSpPr>
          <p:cNvPr id="168" name="Google Shape;168;p18"/>
          <p:cNvSpPr/>
          <p:nvPr/>
        </p:nvSpPr>
        <p:spPr>
          <a:xfrm>
            <a:off x="793790" y="2271713"/>
            <a:ext cx="13042821"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The `client/` directory hosts the React application, structured for maintainability and a seamless user experience. This organization promotes reusable components, clear state management, and efficient communication with the backend services.</a:t>
            </a:r>
            <a:endParaRPr sz="1550" b="0" i="0" u="none" strike="noStrike" cap="none"/>
          </a:p>
        </p:txBody>
      </p:sp>
      <p:sp>
        <p:nvSpPr>
          <p:cNvPr id="169" name="Google Shape;169;p18"/>
          <p:cNvSpPr/>
          <p:nvPr/>
        </p:nvSpPr>
        <p:spPr>
          <a:xfrm>
            <a:off x="793790" y="3328392"/>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B1B27"/>
              </a:buClr>
              <a:buSzPts val="1950"/>
              <a:buFont typeface="Raleway"/>
              <a:buNone/>
            </a:pPr>
            <a:r>
              <a:rPr lang="en-US" sz="1950" b="1" i="0" u="none" strike="noStrike" cap="none">
                <a:solidFill>
                  <a:srgbClr val="1B1B27"/>
                </a:solidFill>
                <a:latin typeface="Raleway"/>
                <a:ea typeface="Raleway"/>
                <a:cs typeface="Raleway"/>
                <a:sym typeface="Raleway"/>
              </a:rPr>
              <a:t>Components</a:t>
            </a:r>
            <a:endParaRPr sz="1950" b="1" i="0" u="none" strike="noStrike" cap="none"/>
          </a:p>
        </p:txBody>
      </p:sp>
      <p:sp>
        <p:nvSpPr>
          <p:cNvPr id="170" name="Google Shape;170;p18"/>
          <p:cNvSpPr/>
          <p:nvPr/>
        </p:nvSpPr>
        <p:spPr>
          <a:xfrm>
            <a:off x="793790" y="3836908"/>
            <a:ext cx="3979664"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Reusable UI elements (e.g., Authentication, Booking, Profile Management).</a:t>
            </a:r>
            <a:endParaRPr sz="1550" b="0" i="0" u="none" strike="noStrike" cap="none"/>
          </a:p>
        </p:txBody>
      </p:sp>
      <p:sp>
        <p:nvSpPr>
          <p:cNvPr id="171" name="Google Shape;171;p18"/>
          <p:cNvSpPr/>
          <p:nvPr/>
        </p:nvSpPr>
        <p:spPr>
          <a:xfrm>
            <a:off x="793790" y="4670346"/>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B1B27"/>
              </a:buClr>
              <a:buSzPts val="1950"/>
              <a:buFont typeface="Raleway"/>
              <a:buNone/>
            </a:pPr>
            <a:r>
              <a:rPr lang="en-US" sz="1950" b="1" i="0" u="none" strike="noStrike" cap="none">
                <a:solidFill>
                  <a:srgbClr val="1B1B27"/>
                </a:solidFill>
                <a:latin typeface="Raleway"/>
                <a:ea typeface="Raleway"/>
                <a:cs typeface="Raleway"/>
                <a:sym typeface="Raleway"/>
              </a:rPr>
              <a:t>Pages</a:t>
            </a:r>
            <a:endParaRPr sz="1950" b="1" i="0" u="none" strike="noStrike" cap="none"/>
          </a:p>
        </p:txBody>
      </p:sp>
      <p:sp>
        <p:nvSpPr>
          <p:cNvPr id="172" name="Google Shape;172;p18"/>
          <p:cNvSpPr/>
          <p:nvPr/>
        </p:nvSpPr>
        <p:spPr>
          <a:xfrm>
            <a:off x="793790" y="5178862"/>
            <a:ext cx="3979664"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Top-level views (e.g., Home, Login, Service Browsing, Admin Dashboard).</a:t>
            </a:r>
            <a:endParaRPr sz="1550" b="0" i="0" u="none" strike="noStrike" cap="none"/>
          </a:p>
        </p:txBody>
      </p:sp>
      <p:sp>
        <p:nvSpPr>
          <p:cNvPr id="173" name="Google Shape;173;p18"/>
          <p:cNvSpPr/>
          <p:nvPr/>
        </p:nvSpPr>
        <p:spPr>
          <a:xfrm>
            <a:off x="5265182" y="3328392"/>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B1B27"/>
              </a:buClr>
              <a:buSzPts val="1950"/>
              <a:buFont typeface="Raleway"/>
              <a:buNone/>
            </a:pPr>
            <a:r>
              <a:rPr lang="en-US" sz="1950" b="1" i="0" u="none" strike="noStrike" cap="none">
                <a:solidFill>
                  <a:srgbClr val="1B1B27"/>
                </a:solidFill>
                <a:latin typeface="Raleway"/>
                <a:ea typeface="Raleway"/>
                <a:cs typeface="Raleway"/>
                <a:sym typeface="Raleway"/>
              </a:rPr>
              <a:t>Services</a:t>
            </a:r>
            <a:endParaRPr sz="1950" b="1" i="0" u="none" strike="noStrike" cap="none"/>
          </a:p>
        </p:txBody>
      </p:sp>
      <p:sp>
        <p:nvSpPr>
          <p:cNvPr id="174" name="Google Shape;174;p18"/>
          <p:cNvSpPr/>
          <p:nvPr/>
        </p:nvSpPr>
        <p:spPr>
          <a:xfrm>
            <a:off x="5265182" y="3836908"/>
            <a:ext cx="3979664"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API communication layer (e.g., Authentication services, Payment services).</a:t>
            </a:r>
            <a:endParaRPr sz="1550" b="0" i="0" u="none" strike="noStrike" cap="none"/>
          </a:p>
        </p:txBody>
      </p:sp>
      <p:sp>
        <p:nvSpPr>
          <p:cNvPr id="175" name="Google Shape;175;p18"/>
          <p:cNvSpPr/>
          <p:nvPr/>
        </p:nvSpPr>
        <p:spPr>
          <a:xfrm>
            <a:off x="5265182" y="4670346"/>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B1B27"/>
              </a:buClr>
              <a:buSzPts val="1950"/>
              <a:buFont typeface="Raleway"/>
              <a:buNone/>
            </a:pPr>
            <a:r>
              <a:rPr lang="en-US" sz="1950" b="1" i="0" u="none" strike="noStrike" cap="none">
                <a:solidFill>
                  <a:srgbClr val="1B1B27"/>
                </a:solidFill>
                <a:latin typeface="Raleway"/>
                <a:ea typeface="Raleway"/>
                <a:cs typeface="Raleway"/>
                <a:sym typeface="Raleway"/>
              </a:rPr>
              <a:t>Context</a:t>
            </a:r>
            <a:endParaRPr sz="1950" b="1" i="0" u="none" strike="noStrike" cap="none"/>
          </a:p>
        </p:txBody>
      </p:sp>
      <p:sp>
        <p:nvSpPr>
          <p:cNvPr id="176" name="Google Shape;176;p18"/>
          <p:cNvSpPr/>
          <p:nvPr/>
        </p:nvSpPr>
        <p:spPr>
          <a:xfrm>
            <a:off x="5265182" y="5178862"/>
            <a:ext cx="3979664"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React Context for global state management (e.g., Authentication context, User context).</a:t>
            </a:r>
            <a:endParaRPr sz="1550" b="0" i="0" u="none" strike="noStrike" cap="none"/>
          </a:p>
        </p:txBody>
      </p:sp>
      <p:sp>
        <p:nvSpPr>
          <p:cNvPr id="177" name="Google Shape;177;p18"/>
          <p:cNvSpPr/>
          <p:nvPr/>
        </p:nvSpPr>
        <p:spPr>
          <a:xfrm>
            <a:off x="9736575" y="3328403"/>
            <a:ext cx="3457500" cy="4962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B1B27"/>
              </a:buClr>
              <a:buSzPts val="1950"/>
              <a:buFont typeface="Raleway"/>
              <a:buNone/>
            </a:pPr>
            <a:r>
              <a:rPr lang="en-US" sz="1950" b="1" i="0" u="none" strike="noStrike" cap="none">
                <a:solidFill>
                  <a:srgbClr val="1B1B27"/>
                </a:solidFill>
                <a:latin typeface="Raleway"/>
                <a:ea typeface="Raleway"/>
                <a:cs typeface="Raleway"/>
                <a:sym typeface="Raleway"/>
              </a:rPr>
              <a:t>Utilities &amp; Configuration</a:t>
            </a:r>
            <a:endParaRPr sz="1950" b="1" i="0" u="none" strike="noStrike" cap="none"/>
          </a:p>
        </p:txBody>
      </p:sp>
      <p:sp>
        <p:nvSpPr>
          <p:cNvPr id="178" name="Google Shape;178;p18"/>
          <p:cNvSpPr/>
          <p:nvPr/>
        </p:nvSpPr>
        <p:spPr>
          <a:xfrm>
            <a:off x="9736574" y="3836908"/>
            <a:ext cx="4115038"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Helper functions and frontend-specific configurations.</a:t>
            </a:r>
            <a:endParaRPr sz="1550" b="0" i="0" u="none" strike="noStrike" cap="none"/>
          </a:p>
        </p:txBody>
      </p:sp>
      <p:sp>
        <p:nvSpPr>
          <p:cNvPr id="179" name="Google Shape;179;p18"/>
          <p:cNvSpPr/>
          <p:nvPr/>
        </p:nvSpPr>
        <p:spPr>
          <a:xfrm>
            <a:off x="9736574" y="4670346"/>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B1B27"/>
              </a:buClr>
              <a:buSzPts val="1950"/>
              <a:buFont typeface="Raleway"/>
              <a:buNone/>
            </a:pPr>
            <a:r>
              <a:rPr lang="en-US" sz="1950" b="1" i="0" u="none" strike="noStrike" cap="none">
                <a:solidFill>
                  <a:srgbClr val="1B1B27"/>
                </a:solidFill>
                <a:latin typeface="Raleway"/>
                <a:ea typeface="Raleway"/>
                <a:cs typeface="Raleway"/>
                <a:sym typeface="Raleway"/>
              </a:rPr>
              <a:t>Styling</a:t>
            </a:r>
            <a:endParaRPr sz="1950" b="1" i="0" u="none" strike="noStrike" cap="none"/>
          </a:p>
        </p:txBody>
      </p:sp>
      <p:sp>
        <p:nvSpPr>
          <p:cNvPr id="180" name="Google Shape;180;p18"/>
          <p:cNvSpPr/>
          <p:nvPr/>
        </p:nvSpPr>
        <p:spPr>
          <a:xfrm>
            <a:off x="9736574" y="5178862"/>
            <a:ext cx="4115038"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Centralized styling definitions using Tailwind CSS for a consistent look and feel.</a:t>
            </a:r>
            <a:endParaRPr sz="1550" b="0" i="0" u="none" strike="noStrike" cap="none"/>
          </a:p>
        </p:txBody>
      </p:sp>
      <p:sp>
        <p:nvSpPr>
          <p:cNvPr id="181" name="Google Shape;181;p18"/>
          <p:cNvSpPr/>
          <p:nvPr/>
        </p:nvSpPr>
        <p:spPr>
          <a:xfrm>
            <a:off x="793790" y="6215777"/>
            <a:ext cx="13042821"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This client-side structure ensures that the user interface is modular, scalable, and easy to develop, integrating modern React practices for optimal performance.</a:t>
            </a:r>
            <a:endParaRPr sz="1550" b="0" i="0" u="none" strike="noStrike" cap="non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9"/>
          <p:cNvSpPr/>
          <p:nvPr/>
        </p:nvSpPr>
        <p:spPr>
          <a:xfrm>
            <a:off x="793803" y="731650"/>
            <a:ext cx="12708600" cy="4962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B1B27"/>
              </a:buClr>
              <a:buSzPts val="3100"/>
              <a:buFont typeface="Raleway"/>
              <a:buNone/>
            </a:pPr>
            <a:r>
              <a:rPr lang="en-US" sz="3100" b="0" i="0" u="none" strike="noStrike" cap="none">
                <a:solidFill>
                  <a:srgbClr val="1B1B27"/>
                </a:solidFill>
                <a:latin typeface="Raleway"/>
                <a:ea typeface="Raleway"/>
                <a:cs typeface="Raleway"/>
                <a:sym typeface="Raleway"/>
              </a:rPr>
              <a:t>Fixly Key Modules: Authentication &amp; User Management</a:t>
            </a:r>
            <a:endParaRPr sz="3100" b="0" i="0" u="none" strike="noStrike" cap="none"/>
          </a:p>
        </p:txBody>
      </p:sp>
      <p:sp>
        <p:nvSpPr>
          <p:cNvPr id="188" name="Google Shape;188;p19"/>
          <p:cNvSpPr/>
          <p:nvPr/>
        </p:nvSpPr>
        <p:spPr>
          <a:xfrm>
            <a:off x="793790" y="1624608"/>
            <a:ext cx="13042821"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The authentication and user management system is the bedrock of the Fixly platform, ensuring secure access and personalized experiences for all users. It supports distinct roles: customers, service providers, and administrators, each with specific permissions.</a:t>
            </a:r>
            <a:endParaRPr sz="1550" b="0" i="0" u="none" strike="noStrike" cap="none"/>
          </a:p>
        </p:txBody>
      </p:sp>
      <p:sp>
        <p:nvSpPr>
          <p:cNvPr id="189" name="Google Shape;189;p19"/>
          <p:cNvSpPr/>
          <p:nvPr/>
        </p:nvSpPr>
        <p:spPr>
          <a:xfrm>
            <a:off x="793790" y="2780586"/>
            <a:ext cx="6422231" cy="2114431"/>
          </a:xfrm>
          <a:prstGeom prst="roundRect">
            <a:avLst>
              <a:gd name="adj" fmla="val 5189"/>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9"/>
          <p:cNvSpPr/>
          <p:nvPr/>
        </p:nvSpPr>
        <p:spPr>
          <a:xfrm>
            <a:off x="793790" y="2757726"/>
            <a:ext cx="6422231" cy="91440"/>
          </a:xfrm>
          <a:prstGeom prst="roundRect">
            <a:avLst>
              <a:gd name="adj" fmla="val 9116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9"/>
          <p:cNvSpPr/>
          <p:nvPr/>
        </p:nvSpPr>
        <p:spPr>
          <a:xfrm>
            <a:off x="3707249" y="2482929"/>
            <a:ext cx="595313" cy="595313"/>
          </a:xfrm>
          <a:prstGeom prst="roundRect">
            <a:avLst>
              <a:gd name="adj" fmla="val 153600"/>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9"/>
          <p:cNvSpPr/>
          <p:nvPr/>
        </p:nvSpPr>
        <p:spPr>
          <a:xfrm>
            <a:off x="3885843" y="2631758"/>
            <a:ext cx="238125" cy="29765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Raleway"/>
              <a:buNone/>
            </a:pPr>
            <a:r>
              <a:rPr lang="en-US" sz="1850" b="0" i="0" u="none" strike="noStrike" cap="none">
                <a:solidFill>
                  <a:srgbClr val="FFFFFF"/>
                </a:solidFill>
                <a:latin typeface="Raleway"/>
                <a:ea typeface="Raleway"/>
                <a:cs typeface="Raleway"/>
                <a:sym typeface="Raleway"/>
              </a:rPr>
              <a:t>1</a:t>
            </a:r>
            <a:endParaRPr sz="1850" b="0" i="0" u="none" strike="noStrike" cap="none"/>
          </a:p>
        </p:txBody>
      </p:sp>
      <p:sp>
        <p:nvSpPr>
          <p:cNvPr id="193" name="Google Shape;193;p19"/>
          <p:cNvSpPr/>
          <p:nvPr/>
        </p:nvSpPr>
        <p:spPr>
          <a:xfrm>
            <a:off x="1014998" y="3276726"/>
            <a:ext cx="4881900" cy="3102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1" i="0" u="none" strike="noStrike" cap="none">
                <a:solidFill>
                  <a:srgbClr val="3C3939"/>
                </a:solidFill>
                <a:latin typeface="Raleway"/>
                <a:ea typeface="Raleway"/>
                <a:cs typeface="Raleway"/>
                <a:sym typeface="Raleway"/>
              </a:rPr>
              <a:t>Role-Based Access Control (RBAC)</a:t>
            </a:r>
            <a:endParaRPr sz="1950" b="1" i="0" u="none" strike="noStrike" cap="none"/>
          </a:p>
        </p:txBody>
      </p:sp>
      <p:sp>
        <p:nvSpPr>
          <p:cNvPr id="194" name="Google Shape;194;p19"/>
          <p:cNvSpPr/>
          <p:nvPr/>
        </p:nvSpPr>
        <p:spPr>
          <a:xfrm>
            <a:off x="1015008" y="3705939"/>
            <a:ext cx="5979900" cy="6426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Distinguishes permissions for Customers, Service Providers, and Admins based on their assigned roles in the </a:t>
            </a:r>
            <a:r>
              <a:rPr lang="en-US" sz="1550" b="0" i="0" u="none" strike="noStrike" cap="none">
                <a:solidFill>
                  <a:srgbClr val="3C3939"/>
                </a:solidFill>
                <a:highlight>
                  <a:srgbClr val="F2F2F2"/>
                </a:highlight>
                <a:latin typeface="Consolas"/>
                <a:ea typeface="Consolas"/>
                <a:cs typeface="Consolas"/>
                <a:sym typeface="Consolas"/>
              </a:rPr>
              <a:t>User.js</a:t>
            </a:r>
            <a:r>
              <a:rPr lang="en-US" sz="1550" b="0" i="0" u="none" strike="noStrike" cap="none">
                <a:solidFill>
                  <a:srgbClr val="3C3939"/>
                </a:solidFill>
                <a:latin typeface="Roboto"/>
                <a:ea typeface="Roboto"/>
                <a:cs typeface="Roboto"/>
                <a:sym typeface="Roboto"/>
              </a:rPr>
              <a:t> model.</a:t>
            </a:r>
            <a:endParaRPr sz="1550" b="0" i="0" u="none" strike="noStrike" cap="none"/>
          </a:p>
        </p:txBody>
      </p:sp>
      <p:sp>
        <p:nvSpPr>
          <p:cNvPr id="195" name="Google Shape;195;p19"/>
          <p:cNvSpPr/>
          <p:nvPr/>
        </p:nvSpPr>
        <p:spPr>
          <a:xfrm>
            <a:off x="7414379" y="2780586"/>
            <a:ext cx="6422231" cy="2114431"/>
          </a:xfrm>
          <a:prstGeom prst="roundRect">
            <a:avLst>
              <a:gd name="adj" fmla="val 5189"/>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9"/>
          <p:cNvSpPr/>
          <p:nvPr/>
        </p:nvSpPr>
        <p:spPr>
          <a:xfrm>
            <a:off x="7414379" y="2757726"/>
            <a:ext cx="6422231" cy="91440"/>
          </a:xfrm>
          <a:prstGeom prst="roundRect">
            <a:avLst>
              <a:gd name="adj" fmla="val 9116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9"/>
          <p:cNvSpPr/>
          <p:nvPr/>
        </p:nvSpPr>
        <p:spPr>
          <a:xfrm>
            <a:off x="10327838" y="2482929"/>
            <a:ext cx="595313" cy="595313"/>
          </a:xfrm>
          <a:prstGeom prst="roundRect">
            <a:avLst>
              <a:gd name="adj" fmla="val 153600"/>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a:off x="10506432" y="2631758"/>
            <a:ext cx="238125" cy="29765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Raleway"/>
              <a:buNone/>
            </a:pPr>
            <a:r>
              <a:rPr lang="en-US" sz="1850" b="0" i="0" u="none" strike="noStrike" cap="none">
                <a:solidFill>
                  <a:srgbClr val="FFFFFF"/>
                </a:solidFill>
                <a:latin typeface="Raleway"/>
                <a:ea typeface="Raleway"/>
                <a:cs typeface="Raleway"/>
                <a:sym typeface="Raleway"/>
              </a:rPr>
              <a:t>2</a:t>
            </a:r>
            <a:endParaRPr sz="1850" b="0" i="0" u="none" strike="noStrike" cap="none"/>
          </a:p>
        </p:txBody>
      </p:sp>
      <p:sp>
        <p:nvSpPr>
          <p:cNvPr id="199" name="Google Shape;199;p19"/>
          <p:cNvSpPr/>
          <p:nvPr/>
        </p:nvSpPr>
        <p:spPr>
          <a:xfrm>
            <a:off x="7635602" y="3276726"/>
            <a:ext cx="4881900" cy="3102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1" i="0" u="none" strike="noStrike" cap="none">
                <a:solidFill>
                  <a:srgbClr val="3C3939"/>
                </a:solidFill>
                <a:latin typeface="Raleway"/>
                <a:ea typeface="Raleway"/>
                <a:cs typeface="Raleway"/>
                <a:sym typeface="Raleway"/>
              </a:rPr>
              <a:t>Secure Authentication Flow</a:t>
            </a:r>
            <a:endParaRPr sz="1950" b="1" i="0" u="none" strike="noStrike" cap="none"/>
          </a:p>
        </p:txBody>
      </p:sp>
      <p:sp>
        <p:nvSpPr>
          <p:cNvPr id="200" name="Google Shape;200;p19"/>
          <p:cNvSpPr/>
          <p:nvPr/>
        </p:nvSpPr>
        <p:spPr>
          <a:xfrm>
            <a:off x="7635597" y="3705939"/>
            <a:ext cx="5979900" cy="9678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Utilizes </a:t>
            </a:r>
            <a:r>
              <a:rPr lang="en-US" sz="1550" b="0" i="0" u="none" strike="noStrike" cap="none">
                <a:solidFill>
                  <a:srgbClr val="3C3939"/>
                </a:solidFill>
                <a:highlight>
                  <a:srgbClr val="F2F2F2"/>
                </a:highlight>
                <a:latin typeface="Consolas"/>
                <a:ea typeface="Consolas"/>
                <a:cs typeface="Consolas"/>
                <a:sym typeface="Consolas"/>
              </a:rPr>
              <a:t>authController.js</a:t>
            </a:r>
            <a:r>
              <a:rPr lang="en-US" sz="1550" b="0" i="0" u="none" strike="noStrike" cap="none">
                <a:solidFill>
                  <a:srgbClr val="3C3939"/>
                </a:solidFill>
                <a:latin typeface="Roboto"/>
                <a:ea typeface="Roboto"/>
                <a:cs typeface="Roboto"/>
                <a:sym typeface="Roboto"/>
              </a:rPr>
              <a:t> for registration, login, logout, and password resets, with </a:t>
            </a:r>
            <a:r>
              <a:rPr lang="en-US" sz="1550" b="0" i="0" u="none" strike="noStrike" cap="none">
                <a:solidFill>
                  <a:srgbClr val="3C3939"/>
                </a:solidFill>
                <a:highlight>
                  <a:srgbClr val="F2F2F2"/>
                </a:highlight>
                <a:latin typeface="Consolas"/>
                <a:ea typeface="Consolas"/>
                <a:cs typeface="Consolas"/>
                <a:sym typeface="Consolas"/>
              </a:rPr>
              <a:t>bcrypt</a:t>
            </a:r>
            <a:r>
              <a:rPr lang="en-US" sz="1550" b="0" i="0" u="none" strike="noStrike" cap="none">
                <a:solidFill>
                  <a:srgbClr val="3C3939"/>
                </a:solidFill>
                <a:latin typeface="Roboto"/>
                <a:ea typeface="Roboto"/>
                <a:cs typeface="Roboto"/>
                <a:sym typeface="Roboto"/>
              </a:rPr>
              <a:t> for password hashing and </a:t>
            </a:r>
            <a:r>
              <a:rPr lang="en-US" sz="1550" b="0" i="0" u="none" strike="noStrike" cap="none">
                <a:solidFill>
                  <a:srgbClr val="3C3939"/>
                </a:solidFill>
                <a:highlight>
                  <a:srgbClr val="F2F2F2"/>
                </a:highlight>
                <a:latin typeface="Consolas"/>
                <a:ea typeface="Consolas"/>
                <a:cs typeface="Consolas"/>
                <a:sym typeface="Consolas"/>
              </a:rPr>
              <a:t>JWT</a:t>
            </a:r>
            <a:r>
              <a:rPr lang="en-US" sz="1550" b="0" i="0" u="none" strike="noStrike" cap="none">
                <a:solidFill>
                  <a:srgbClr val="3C3939"/>
                </a:solidFill>
                <a:latin typeface="Roboto"/>
                <a:ea typeface="Roboto"/>
                <a:cs typeface="Roboto"/>
                <a:sym typeface="Roboto"/>
              </a:rPr>
              <a:t> for token-based authentication, secured with HttpOnly cookies.</a:t>
            </a:r>
            <a:endParaRPr sz="1550" b="0" i="0" u="none" strike="noStrike" cap="none"/>
          </a:p>
        </p:txBody>
      </p:sp>
      <p:sp>
        <p:nvSpPr>
          <p:cNvPr id="201" name="Google Shape;201;p19"/>
          <p:cNvSpPr/>
          <p:nvPr/>
        </p:nvSpPr>
        <p:spPr>
          <a:xfrm>
            <a:off x="793790" y="5391031"/>
            <a:ext cx="6422231" cy="2106811"/>
          </a:xfrm>
          <a:prstGeom prst="roundRect">
            <a:avLst>
              <a:gd name="adj" fmla="val 5208"/>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9"/>
          <p:cNvSpPr/>
          <p:nvPr/>
        </p:nvSpPr>
        <p:spPr>
          <a:xfrm>
            <a:off x="793790" y="5368171"/>
            <a:ext cx="6422231" cy="91440"/>
          </a:xfrm>
          <a:prstGeom prst="roundRect">
            <a:avLst>
              <a:gd name="adj" fmla="val 9116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9"/>
          <p:cNvSpPr/>
          <p:nvPr/>
        </p:nvSpPr>
        <p:spPr>
          <a:xfrm>
            <a:off x="3707249" y="5093375"/>
            <a:ext cx="595313" cy="595313"/>
          </a:xfrm>
          <a:prstGeom prst="roundRect">
            <a:avLst>
              <a:gd name="adj" fmla="val 153600"/>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9"/>
          <p:cNvSpPr/>
          <p:nvPr/>
        </p:nvSpPr>
        <p:spPr>
          <a:xfrm>
            <a:off x="3885843" y="5242203"/>
            <a:ext cx="238125" cy="29765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Raleway"/>
              <a:buNone/>
            </a:pPr>
            <a:r>
              <a:rPr lang="en-US" sz="1850" b="0" i="0" u="none" strike="noStrike" cap="none">
                <a:solidFill>
                  <a:srgbClr val="FFFFFF"/>
                </a:solidFill>
                <a:latin typeface="Raleway"/>
                <a:ea typeface="Raleway"/>
                <a:cs typeface="Raleway"/>
                <a:sym typeface="Raleway"/>
              </a:rPr>
              <a:t>3</a:t>
            </a:r>
            <a:endParaRPr sz="1850" b="0" i="0" u="none" strike="noStrike" cap="none"/>
          </a:p>
        </p:txBody>
      </p:sp>
      <p:sp>
        <p:nvSpPr>
          <p:cNvPr id="205" name="Google Shape;205;p19"/>
          <p:cNvSpPr/>
          <p:nvPr/>
        </p:nvSpPr>
        <p:spPr>
          <a:xfrm>
            <a:off x="1015008" y="5887164"/>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1" i="0" u="none" strike="noStrike" cap="none">
                <a:solidFill>
                  <a:srgbClr val="3C3939"/>
                </a:solidFill>
                <a:latin typeface="Raleway"/>
                <a:ea typeface="Raleway"/>
                <a:cs typeface="Raleway"/>
                <a:sym typeface="Raleway"/>
              </a:rPr>
              <a:t>Protected Routes</a:t>
            </a:r>
            <a:endParaRPr sz="1950" b="1" i="0" u="none" strike="noStrike" cap="none"/>
          </a:p>
        </p:txBody>
      </p:sp>
      <p:sp>
        <p:nvSpPr>
          <p:cNvPr id="206" name="Google Shape;206;p19"/>
          <p:cNvSpPr/>
          <p:nvPr/>
        </p:nvSpPr>
        <p:spPr>
          <a:xfrm>
            <a:off x="1015008" y="6316385"/>
            <a:ext cx="5979795" cy="96023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Consolas"/>
              <a:buNone/>
            </a:pPr>
            <a:r>
              <a:rPr lang="en-US" sz="1550" b="0" i="0" u="none" strike="noStrike" cap="none">
                <a:solidFill>
                  <a:srgbClr val="3C3939"/>
                </a:solidFill>
                <a:highlight>
                  <a:srgbClr val="F2F2F2"/>
                </a:highlight>
                <a:latin typeface="Consolas"/>
                <a:ea typeface="Consolas"/>
                <a:cs typeface="Consolas"/>
                <a:sym typeface="Consolas"/>
              </a:rPr>
              <a:t>auth.js</a:t>
            </a:r>
            <a:r>
              <a:rPr lang="en-US" sz="1550" b="0" i="0" u="none" strike="noStrike" cap="none">
                <a:solidFill>
                  <a:srgbClr val="3C3939"/>
                </a:solidFill>
                <a:latin typeface="Roboto"/>
                <a:ea typeface="Roboto"/>
                <a:cs typeface="Roboto"/>
                <a:sym typeface="Roboto"/>
              </a:rPr>
              <a:t> middleware safeguards API endpoints, verifying JWT tokens and ensuring users have the necessary authorization before access is granted.</a:t>
            </a:r>
            <a:endParaRPr sz="1550" b="0" i="0" u="none" strike="noStrike" cap="none"/>
          </a:p>
        </p:txBody>
      </p:sp>
      <p:sp>
        <p:nvSpPr>
          <p:cNvPr id="207" name="Google Shape;207;p19"/>
          <p:cNvSpPr/>
          <p:nvPr/>
        </p:nvSpPr>
        <p:spPr>
          <a:xfrm>
            <a:off x="7414379" y="5391031"/>
            <a:ext cx="6422231" cy="2106811"/>
          </a:xfrm>
          <a:prstGeom prst="roundRect">
            <a:avLst>
              <a:gd name="adj" fmla="val 5208"/>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9"/>
          <p:cNvSpPr/>
          <p:nvPr/>
        </p:nvSpPr>
        <p:spPr>
          <a:xfrm>
            <a:off x="7414379" y="5368171"/>
            <a:ext cx="6422231" cy="91440"/>
          </a:xfrm>
          <a:prstGeom prst="roundRect">
            <a:avLst>
              <a:gd name="adj" fmla="val 9116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9"/>
          <p:cNvSpPr/>
          <p:nvPr/>
        </p:nvSpPr>
        <p:spPr>
          <a:xfrm>
            <a:off x="10327838" y="5093375"/>
            <a:ext cx="595313" cy="595313"/>
          </a:xfrm>
          <a:prstGeom prst="roundRect">
            <a:avLst>
              <a:gd name="adj" fmla="val 153600"/>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9"/>
          <p:cNvSpPr/>
          <p:nvPr/>
        </p:nvSpPr>
        <p:spPr>
          <a:xfrm>
            <a:off x="10506432" y="5242203"/>
            <a:ext cx="238125" cy="29765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Raleway"/>
              <a:buNone/>
            </a:pPr>
            <a:r>
              <a:rPr lang="en-US" sz="1850" b="0" i="0" u="none" strike="noStrike" cap="none">
                <a:solidFill>
                  <a:srgbClr val="FFFFFF"/>
                </a:solidFill>
                <a:latin typeface="Raleway"/>
                <a:ea typeface="Raleway"/>
                <a:cs typeface="Raleway"/>
                <a:sym typeface="Raleway"/>
              </a:rPr>
              <a:t>4</a:t>
            </a:r>
            <a:endParaRPr sz="1850" b="0" i="0" u="none" strike="noStrike" cap="none"/>
          </a:p>
        </p:txBody>
      </p:sp>
      <p:sp>
        <p:nvSpPr>
          <p:cNvPr id="211" name="Google Shape;211;p19"/>
          <p:cNvSpPr/>
          <p:nvPr/>
        </p:nvSpPr>
        <p:spPr>
          <a:xfrm>
            <a:off x="7635600" y="5887191"/>
            <a:ext cx="4881900" cy="2976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1" i="0" u="none" strike="noStrike" cap="none">
                <a:solidFill>
                  <a:srgbClr val="3C3939"/>
                </a:solidFill>
                <a:latin typeface="Raleway"/>
                <a:ea typeface="Raleway"/>
                <a:cs typeface="Raleway"/>
                <a:sym typeface="Raleway"/>
              </a:rPr>
              <a:t>Comprehensive User Features</a:t>
            </a:r>
            <a:endParaRPr sz="1950" b="1" i="0" u="none" strike="noStrike" cap="none"/>
          </a:p>
        </p:txBody>
      </p:sp>
      <p:sp>
        <p:nvSpPr>
          <p:cNvPr id="212" name="Google Shape;212;p19"/>
          <p:cNvSpPr/>
          <p:nvPr/>
        </p:nvSpPr>
        <p:spPr>
          <a:xfrm>
            <a:off x="7635597" y="6316385"/>
            <a:ext cx="5979795"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Includes email/password validation, secure password hashing, JWT token generation, and robust password reset functionality with email verification.</a:t>
            </a:r>
            <a:endParaRPr sz="1550" b="0" i="0" u="none" strike="noStrike" cap="non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0"/>
          <p:cNvSpPr/>
          <p:nvPr/>
        </p:nvSpPr>
        <p:spPr>
          <a:xfrm>
            <a:off x="793790" y="1031319"/>
            <a:ext cx="8870871" cy="49613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B1B27"/>
              </a:buClr>
              <a:buSzPts val="3100"/>
              <a:buFont typeface="Raleway"/>
              <a:buNone/>
            </a:pPr>
            <a:r>
              <a:rPr lang="en-US" sz="3100" b="0" i="0" u="none" strike="noStrike" cap="none">
                <a:solidFill>
                  <a:srgbClr val="1B1B27"/>
                </a:solidFill>
                <a:latin typeface="Raleway"/>
                <a:ea typeface="Raleway"/>
                <a:cs typeface="Raleway"/>
                <a:sym typeface="Raleway"/>
              </a:rPr>
              <a:t>Service Lifecycle: Listings, Bookings &amp; Payments</a:t>
            </a:r>
            <a:endParaRPr sz="3100" b="0" i="0" u="none" strike="noStrike" cap="none"/>
          </a:p>
        </p:txBody>
      </p:sp>
      <p:sp>
        <p:nvSpPr>
          <p:cNvPr id="219" name="Google Shape;219;p20"/>
          <p:cNvSpPr/>
          <p:nvPr/>
        </p:nvSpPr>
        <p:spPr>
          <a:xfrm>
            <a:off x="793790" y="1924288"/>
            <a:ext cx="13042821"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The core functionality of Fixly revolves around service offerings, customer bookings, and secure payment processing. These modules are intricately linked, providing a comprehensive marketplace experience.</a:t>
            </a:r>
            <a:endParaRPr sz="1550" b="0" i="0" u="none" strike="noStrike" cap="none"/>
          </a:p>
        </p:txBody>
      </p:sp>
      <p:sp>
        <p:nvSpPr>
          <p:cNvPr id="220" name="Google Shape;220;p20"/>
          <p:cNvSpPr/>
          <p:nvPr/>
        </p:nvSpPr>
        <p:spPr>
          <a:xfrm>
            <a:off x="793790" y="2782610"/>
            <a:ext cx="4215289" cy="595313"/>
          </a:xfrm>
          <a:prstGeom prst="roundRect">
            <a:avLst>
              <a:gd name="adj" fmla="val 480089"/>
            </a:avLst>
          </a:prstGeom>
          <a:solidFill>
            <a:srgbClr val="E1E1EA"/>
          </a:solidFill>
          <a:ln w="9525"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0"/>
          <p:cNvSpPr/>
          <p:nvPr/>
        </p:nvSpPr>
        <p:spPr>
          <a:xfrm>
            <a:off x="2752606" y="2894171"/>
            <a:ext cx="297656" cy="37207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C3939"/>
              </a:buClr>
              <a:buSzPts val="2300"/>
              <a:buFont typeface="Raleway"/>
              <a:buNone/>
            </a:pPr>
            <a:r>
              <a:rPr lang="en-US" sz="2300" b="0" i="0" u="none" strike="noStrike" cap="none">
                <a:solidFill>
                  <a:srgbClr val="3C3939"/>
                </a:solidFill>
                <a:latin typeface="Raleway"/>
                <a:ea typeface="Raleway"/>
                <a:cs typeface="Raleway"/>
                <a:sym typeface="Raleway"/>
              </a:rPr>
              <a:t>1</a:t>
            </a:r>
            <a:endParaRPr sz="2300" b="0" i="0" u="none" strike="noStrike" cap="none"/>
          </a:p>
        </p:txBody>
      </p:sp>
      <p:sp>
        <p:nvSpPr>
          <p:cNvPr id="222" name="Google Shape;222;p20"/>
          <p:cNvSpPr/>
          <p:nvPr/>
        </p:nvSpPr>
        <p:spPr>
          <a:xfrm>
            <a:off x="992148" y="3576280"/>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1" i="0" u="none" strike="noStrike" cap="none">
                <a:solidFill>
                  <a:srgbClr val="3C3939"/>
                </a:solidFill>
                <a:latin typeface="Raleway"/>
                <a:ea typeface="Raleway"/>
                <a:cs typeface="Raleway"/>
                <a:sym typeface="Raleway"/>
              </a:rPr>
              <a:t>Service Listings</a:t>
            </a:r>
            <a:endParaRPr sz="1950" b="1" i="0" u="none" strike="noStrike" cap="none"/>
          </a:p>
        </p:txBody>
      </p:sp>
      <p:sp>
        <p:nvSpPr>
          <p:cNvPr id="223" name="Google Shape;223;p20"/>
          <p:cNvSpPr/>
          <p:nvPr/>
        </p:nvSpPr>
        <p:spPr>
          <a:xfrm>
            <a:off x="992148" y="4005501"/>
            <a:ext cx="3818573" cy="159531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Providers create and manage detailed service listings (</a:t>
            </a:r>
            <a:r>
              <a:rPr lang="en-US" sz="1550" b="0" i="0" u="none" strike="noStrike" cap="none">
                <a:solidFill>
                  <a:srgbClr val="3C3939"/>
                </a:solidFill>
                <a:highlight>
                  <a:srgbClr val="F2F2F2"/>
                </a:highlight>
                <a:latin typeface="Consolas"/>
                <a:ea typeface="Consolas"/>
                <a:cs typeface="Consolas"/>
                <a:sym typeface="Consolas"/>
              </a:rPr>
              <a:t>ServiceListing.js</a:t>
            </a:r>
            <a:r>
              <a:rPr lang="en-US" sz="1550" b="0" i="0" u="none" strike="noStrike" cap="none">
                <a:solidFill>
                  <a:srgbClr val="3C3939"/>
                </a:solidFill>
                <a:latin typeface="Roboto"/>
                <a:ea typeface="Roboto"/>
                <a:cs typeface="Roboto"/>
                <a:sym typeface="Roboto"/>
              </a:rPr>
              <a:t>) with descriptions, pricing, category association, availability, and images via Cloudinary integration.</a:t>
            </a:r>
            <a:endParaRPr sz="1550" b="0" i="0" u="none" strike="noStrike" cap="none"/>
          </a:p>
        </p:txBody>
      </p:sp>
      <p:sp>
        <p:nvSpPr>
          <p:cNvPr id="224" name="Google Shape;224;p20"/>
          <p:cNvSpPr/>
          <p:nvPr/>
        </p:nvSpPr>
        <p:spPr>
          <a:xfrm>
            <a:off x="5207437" y="2782610"/>
            <a:ext cx="4215408" cy="595313"/>
          </a:xfrm>
          <a:prstGeom prst="roundRect">
            <a:avLst>
              <a:gd name="adj" fmla="val 480089"/>
            </a:avLst>
          </a:prstGeom>
          <a:solidFill>
            <a:srgbClr val="E1E1EA"/>
          </a:solidFill>
          <a:ln w="9525"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0"/>
          <p:cNvSpPr/>
          <p:nvPr/>
        </p:nvSpPr>
        <p:spPr>
          <a:xfrm>
            <a:off x="7166253" y="2894171"/>
            <a:ext cx="297656" cy="37207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C3939"/>
              </a:buClr>
              <a:buSzPts val="2300"/>
              <a:buFont typeface="Raleway"/>
              <a:buNone/>
            </a:pPr>
            <a:r>
              <a:rPr lang="en-US" sz="2300" b="0" i="0" u="none" strike="noStrike" cap="none">
                <a:solidFill>
                  <a:srgbClr val="3C3939"/>
                </a:solidFill>
                <a:latin typeface="Raleway"/>
                <a:ea typeface="Raleway"/>
                <a:cs typeface="Raleway"/>
                <a:sym typeface="Raleway"/>
              </a:rPr>
              <a:t>2</a:t>
            </a:r>
            <a:endParaRPr sz="2300" b="0" i="0" u="none" strike="noStrike" cap="none"/>
          </a:p>
        </p:txBody>
      </p:sp>
      <p:sp>
        <p:nvSpPr>
          <p:cNvPr id="226" name="Google Shape;226;p20"/>
          <p:cNvSpPr/>
          <p:nvPr/>
        </p:nvSpPr>
        <p:spPr>
          <a:xfrm>
            <a:off x="5405795" y="3576280"/>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1" i="0" u="none" strike="noStrike" cap="none">
                <a:solidFill>
                  <a:srgbClr val="3C3939"/>
                </a:solidFill>
                <a:latin typeface="Raleway"/>
                <a:ea typeface="Raleway"/>
                <a:cs typeface="Raleway"/>
                <a:sym typeface="Raleway"/>
              </a:rPr>
              <a:t>Dynamic Bookings</a:t>
            </a:r>
            <a:endParaRPr sz="1950" b="1" i="0" u="none" strike="noStrike" cap="none"/>
          </a:p>
        </p:txBody>
      </p:sp>
      <p:sp>
        <p:nvSpPr>
          <p:cNvPr id="227" name="Google Shape;227;p20"/>
          <p:cNvSpPr/>
          <p:nvPr/>
        </p:nvSpPr>
        <p:spPr>
          <a:xfrm>
            <a:off x="5405795" y="4005501"/>
            <a:ext cx="3818692" cy="159531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Customers schedule appointments using the </a:t>
            </a:r>
            <a:r>
              <a:rPr lang="en-US" sz="1550" b="0" i="0" u="none" strike="noStrike" cap="none">
                <a:solidFill>
                  <a:srgbClr val="3C3939"/>
                </a:solidFill>
                <a:highlight>
                  <a:srgbClr val="F2F2F2"/>
                </a:highlight>
                <a:latin typeface="Consolas"/>
                <a:ea typeface="Consolas"/>
                <a:cs typeface="Consolas"/>
                <a:sym typeface="Consolas"/>
              </a:rPr>
              <a:t>bookingController.js</a:t>
            </a:r>
            <a:r>
              <a:rPr lang="en-US" sz="1550" b="0" i="0" u="none" strike="noStrike" cap="none">
                <a:solidFill>
                  <a:srgbClr val="3C3939"/>
                </a:solidFill>
                <a:latin typeface="Roboto"/>
                <a:ea typeface="Roboto"/>
                <a:cs typeface="Roboto"/>
                <a:sym typeface="Roboto"/>
              </a:rPr>
              <a:t> with real-time availability checks, status tracking (Pending, Confirmed, Cancelled), and automatic conflict prevention.</a:t>
            </a:r>
            <a:endParaRPr sz="1550" b="0" i="0" u="none" strike="noStrike" cap="none"/>
          </a:p>
        </p:txBody>
      </p:sp>
      <p:sp>
        <p:nvSpPr>
          <p:cNvPr id="228" name="Google Shape;228;p20"/>
          <p:cNvSpPr/>
          <p:nvPr/>
        </p:nvSpPr>
        <p:spPr>
          <a:xfrm>
            <a:off x="9621203" y="2782610"/>
            <a:ext cx="4215289" cy="595313"/>
          </a:xfrm>
          <a:prstGeom prst="roundRect">
            <a:avLst>
              <a:gd name="adj" fmla="val 480089"/>
            </a:avLst>
          </a:prstGeom>
          <a:solidFill>
            <a:srgbClr val="E1E1EA"/>
          </a:solidFill>
          <a:ln w="9525"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0"/>
          <p:cNvSpPr/>
          <p:nvPr/>
        </p:nvSpPr>
        <p:spPr>
          <a:xfrm>
            <a:off x="11580019" y="2894171"/>
            <a:ext cx="297656" cy="37207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C3939"/>
              </a:buClr>
              <a:buSzPts val="2300"/>
              <a:buFont typeface="Raleway"/>
              <a:buNone/>
            </a:pPr>
            <a:r>
              <a:rPr lang="en-US" sz="2300" b="0" i="0" u="none" strike="noStrike" cap="none">
                <a:solidFill>
                  <a:srgbClr val="3C3939"/>
                </a:solidFill>
                <a:latin typeface="Raleway"/>
                <a:ea typeface="Raleway"/>
                <a:cs typeface="Raleway"/>
                <a:sym typeface="Raleway"/>
              </a:rPr>
              <a:t>3</a:t>
            </a:r>
            <a:endParaRPr sz="2300" b="0" i="0" u="none" strike="noStrike" cap="none"/>
          </a:p>
        </p:txBody>
      </p:sp>
      <p:sp>
        <p:nvSpPr>
          <p:cNvPr id="230" name="Google Shape;230;p20"/>
          <p:cNvSpPr/>
          <p:nvPr/>
        </p:nvSpPr>
        <p:spPr>
          <a:xfrm>
            <a:off x="9819561" y="3576280"/>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C3939"/>
              </a:buClr>
              <a:buSzPts val="1950"/>
              <a:buFont typeface="Raleway"/>
              <a:buNone/>
            </a:pPr>
            <a:r>
              <a:rPr lang="en-US" sz="1950" b="1" i="0" u="none" strike="noStrike" cap="none">
                <a:solidFill>
                  <a:srgbClr val="3C3939"/>
                </a:solidFill>
                <a:latin typeface="Raleway"/>
                <a:ea typeface="Raleway"/>
                <a:cs typeface="Raleway"/>
                <a:sym typeface="Raleway"/>
              </a:rPr>
              <a:t>Secure Payments</a:t>
            </a:r>
            <a:endParaRPr sz="1950" b="1" i="0" u="none" strike="noStrike" cap="none"/>
          </a:p>
        </p:txBody>
      </p:sp>
      <p:sp>
        <p:nvSpPr>
          <p:cNvPr id="231" name="Google Shape;231;p20"/>
          <p:cNvSpPr/>
          <p:nvPr/>
        </p:nvSpPr>
        <p:spPr>
          <a:xfrm>
            <a:off x="9819561" y="4005501"/>
            <a:ext cx="3818573" cy="159531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The </a:t>
            </a:r>
            <a:r>
              <a:rPr lang="en-US" sz="1550" b="0" i="0" u="none" strike="noStrike" cap="none">
                <a:solidFill>
                  <a:srgbClr val="3C3939"/>
                </a:solidFill>
                <a:highlight>
                  <a:srgbClr val="F2F2F2"/>
                </a:highlight>
                <a:latin typeface="Consolas"/>
                <a:ea typeface="Consolas"/>
                <a:cs typeface="Consolas"/>
                <a:sym typeface="Consolas"/>
              </a:rPr>
              <a:t>paymentController.js</a:t>
            </a:r>
            <a:r>
              <a:rPr lang="en-US" sz="1550" b="0" i="0" u="none" strike="noStrike" cap="none">
                <a:solidFill>
                  <a:srgbClr val="3C3939"/>
                </a:solidFill>
                <a:latin typeface="Roboto"/>
                <a:ea typeface="Roboto"/>
                <a:cs typeface="Roboto"/>
                <a:sym typeface="Roboto"/>
              </a:rPr>
              <a:t> handles secure transactions, integrating with a payment gateway, performing automatic commission calculations (10-15%), and tracking payment statuses.</a:t>
            </a:r>
            <a:endParaRPr sz="1550" b="0" i="0" u="none" strike="noStrike" cap="none"/>
          </a:p>
        </p:txBody>
      </p:sp>
      <p:sp>
        <p:nvSpPr>
          <p:cNvPr id="232" name="Google Shape;232;p20"/>
          <p:cNvSpPr/>
          <p:nvPr/>
        </p:nvSpPr>
        <p:spPr>
          <a:xfrm>
            <a:off x="793790" y="6022419"/>
            <a:ext cx="13042821"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SzPts val="1550"/>
              <a:buFont typeface="Arial"/>
              <a:buNone/>
            </a:pPr>
            <a:endParaRPr sz="1550" b="0" i="0" u="none" strike="noStrike" cap="none"/>
          </a:p>
        </p:txBody>
      </p:sp>
      <p:sp>
        <p:nvSpPr>
          <p:cNvPr id="233" name="Google Shape;233;p20"/>
          <p:cNvSpPr/>
          <p:nvPr/>
        </p:nvSpPr>
        <p:spPr>
          <a:xfrm>
            <a:off x="793790" y="6880741"/>
            <a:ext cx="13042821"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This integrated flow ensures that from service offering to booking completion and payment, all aspects are managed efficiently and securely.</a:t>
            </a:r>
            <a:endParaRPr sz="1550" b="0" i="0" u="none" strike="noStrike" cap="non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1"/>
          <p:cNvSpPr/>
          <p:nvPr/>
        </p:nvSpPr>
        <p:spPr>
          <a:xfrm>
            <a:off x="793803" y="1078475"/>
            <a:ext cx="11808300" cy="4962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1B1B27"/>
              </a:buClr>
              <a:buSzPts val="3100"/>
              <a:buFont typeface="Raleway"/>
              <a:buNone/>
            </a:pPr>
            <a:r>
              <a:rPr lang="en-US" sz="3100" b="0" i="0" u="none" strike="noStrike" cap="none">
                <a:solidFill>
                  <a:srgbClr val="1B1B27"/>
                </a:solidFill>
                <a:latin typeface="Raleway"/>
                <a:ea typeface="Raleway"/>
                <a:cs typeface="Raleway"/>
                <a:sym typeface="Raleway"/>
              </a:rPr>
              <a:t>Trust &amp; Transparency: Reviews &amp; Admin Dashboard</a:t>
            </a:r>
            <a:endParaRPr sz="3100" b="0" i="0" u="none" strike="noStrike" cap="none"/>
          </a:p>
        </p:txBody>
      </p:sp>
      <p:sp>
        <p:nvSpPr>
          <p:cNvPr id="240" name="Google Shape;240;p21"/>
          <p:cNvSpPr/>
          <p:nvPr/>
        </p:nvSpPr>
        <p:spPr>
          <a:xfrm>
            <a:off x="793790" y="1971437"/>
            <a:ext cx="13042821"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Building trust and ensuring platform integrity are paramount for Fixly. The review system provides valuable feedback, while the robust Admin Dashboard empowers administrators to manage and monitor the entire ecosystem effectively.</a:t>
            </a:r>
            <a:endParaRPr sz="1550" b="0" i="0" u="none" strike="noStrike" cap="none"/>
          </a:p>
        </p:txBody>
      </p:sp>
      <p:sp>
        <p:nvSpPr>
          <p:cNvPr id="241" name="Google Shape;241;p21"/>
          <p:cNvSpPr/>
          <p:nvPr/>
        </p:nvSpPr>
        <p:spPr>
          <a:xfrm>
            <a:off x="793801" y="3028127"/>
            <a:ext cx="3722400" cy="496200"/>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B1B27"/>
              </a:buClr>
              <a:buSzPts val="2300"/>
              <a:buFont typeface="Raleway"/>
              <a:buNone/>
            </a:pPr>
            <a:r>
              <a:rPr lang="en-US" sz="2300" b="1" i="0" u="none" strike="noStrike" cap="none">
                <a:solidFill>
                  <a:srgbClr val="1B1B27"/>
                </a:solidFill>
                <a:latin typeface="Raleway"/>
                <a:ea typeface="Raleway"/>
                <a:cs typeface="Raleway"/>
                <a:sym typeface="Raleway"/>
              </a:rPr>
              <a:t>Review &amp; Rating System</a:t>
            </a:r>
            <a:endParaRPr sz="2300" b="1" i="0" u="none" strike="noStrike" cap="none"/>
          </a:p>
        </p:txBody>
      </p:sp>
      <p:sp>
        <p:nvSpPr>
          <p:cNvPr id="242" name="Google Shape;242;p21"/>
          <p:cNvSpPr/>
          <p:nvPr/>
        </p:nvSpPr>
        <p:spPr>
          <a:xfrm>
            <a:off x="793790" y="3598545"/>
            <a:ext cx="6279356" cy="96023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The </a:t>
            </a:r>
            <a:r>
              <a:rPr lang="en-US" sz="1550" b="0" i="0" u="none" strike="noStrike" cap="none">
                <a:solidFill>
                  <a:srgbClr val="3C3939"/>
                </a:solidFill>
                <a:highlight>
                  <a:srgbClr val="F2F2F2"/>
                </a:highlight>
                <a:latin typeface="Consolas"/>
                <a:ea typeface="Consolas"/>
                <a:cs typeface="Consolas"/>
                <a:sym typeface="Consolas"/>
              </a:rPr>
              <a:t>reviewCo</a:t>
            </a:r>
            <a:r>
              <a:rPr lang="en-US" sz="1550">
                <a:solidFill>
                  <a:srgbClr val="3C3939"/>
                </a:solidFill>
                <a:highlight>
                  <a:srgbClr val="F2F2F2"/>
                </a:highlight>
                <a:latin typeface="Consolas"/>
                <a:ea typeface="Consolas"/>
                <a:cs typeface="Consolas"/>
                <a:sym typeface="Consolas"/>
              </a:rPr>
              <a:t>n</a:t>
            </a:r>
            <a:r>
              <a:rPr lang="en-US" sz="1550" b="0" i="0" u="none" strike="noStrike" cap="none">
                <a:solidFill>
                  <a:srgbClr val="3C3939"/>
                </a:solidFill>
                <a:highlight>
                  <a:srgbClr val="F2F2F2"/>
                </a:highlight>
                <a:latin typeface="Consolas"/>
                <a:ea typeface="Consolas"/>
                <a:cs typeface="Consolas"/>
                <a:sym typeface="Consolas"/>
              </a:rPr>
              <a:t>troller.js</a:t>
            </a:r>
            <a:r>
              <a:rPr lang="en-US" sz="1550" b="0" i="0" u="none" strike="noStrike" cap="none">
                <a:solidFill>
                  <a:srgbClr val="3C3939"/>
                </a:solidFill>
                <a:latin typeface="Roboto"/>
                <a:ea typeface="Roboto"/>
                <a:cs typeface="Roboto"/>
                <a:sym typeface="Roboto"/>
              </a:rPr>
              <a:t> and </a:t>
            </a:r>
            <a:r>
              <a:rPr lang="en-US" sz="1550" b="0" i="0" u="none" strike="noStrike" cap="none">
                <a:solidFill>
                  <a:srgbClr val="3C3939"/>
                </a:solidFill>
                <a:highlight>
                  <a:srgbClr val="F2F2F2"/>
                </a:highlight>
                <a:latin typeface="Consolas"/>
                <a:ea typeface="Consolas"/>
                <a:cs typeface="Consolas"/>
                <a:sym typeface="Consolas"/>
              </a:rPr>
              <a:t>Review.js</a:t>
            </a:r>
            <a:r>
              <a:rPr lang="en-US" sz="1550" b="0" i="0" u="none" strike="noStrike" cap="none">
                <a:solidFill>
                  <a:srgbClr val="3C3939"/>
                </a:solidFill>
                <a:latin typeface="Roboto"/>
                <a:ea typeface="Roboto"/>
                <a:cs typeface="Roboto"/>
                <a:sym typeface="Roboto"/>
              </a:rPr>
              <a:t> model enable customers to submit post-service ratings (1-5 stars) and textual reviews. This feedback loop is crucial for:</a:t>
            </a:r>
            <a:endParaRPr sz="1550" b="0" i="0" u="none" strike="noStrike" cap="none"/>
          </a:p>
        </p:txBody>
      </p:sp>
      <p:sp>
        <p:nvSpPr>
          <p:cNvPr id="243" name="Google Shape;243;p21"/>
          <p:cNvSpPr/>
          <p:nvPr/>
        </p:nvSpPr>
        <p:spPr>
          <a:xfrm>
            <a:off x="793790" y="4737378"/>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Building credibility for service providers.</a:t>
            </a:r>
            <a:endParaRPr sz="1550" b="0" i="0" u="none" strike="noStrike" cap="none"/>
          </a:p>
        </p:txBody>
      </p:sp>
      <p:sp>
        <p:nvSpPr>
          <p:cNvPr id="244" name="Google Shape;244;p21"/>
          <p:cNvSpPr/>
          <p:nvPr/>
        </p:nvSpPr>
        <p:spPr>
          <a:xfrm>
            <a:off x="793790" y="5124331"/>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Allowing average rating calculation for providers and listings.</a:t>
            </a:r>
            <a:endParaRPr sz="1550" b="0" i="0" u="none" strike="noStrike" cap="none"/>
          </a:p>
        </p:txBody>
      </p:sp>
      <p:sp>
        <p:nvSpPr>
          <p:cNvPr id="245" name="Google Shape;245;p21"/>
          <p:cNvSpPr/>
          <p:nvPr/>
        </p:nvSpPr>
        <p:spPr>
          <a:xfrm>
            <a:off x="793790" y="5511284"/>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Providing review moderation capabilities for quality control.</a:t>
            </a:r>
            <a:endParaRPr sz="1550" b="0" i="0" u="none" strike="noStrike" cap="none"/>
          </a:p>
        </p:txBody>
      </p:sp>
      <p:sp>
        <p:nvSpPr>
          <p:cNvPr id="246" name="Google Shape;246;p21"/>
          <p:cNvSpPr/>
          <p:nvPr/>
        </p:nvSpPr>
        <p:spPr>
          <a:xfrm>
            <a:off x="793790" y="5898237"/>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Publicly displaying reviews to inform future customers.</a:t>
            </a:r>
            <a:endParaRPr sz="1550" b="0" i="0" u="none" strike="noStrike" cap="none"/>
          </a:p>
        </p:txBody>
      </p:sp>
      <p:sp>
        <p:nvSpPr>
          <p:cNvPr id="247" name="Google Shape;247;p21"/>
          <p:cNvSpPr/>
          <p:nvPr/>
        </p:nvSpPr>
        <p:spPr>
          <a:xfrm>
            <a:off x="7564874" y="3028117"/>
            <a:ext cx="2977039" cy="372070"/>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B1B27"/>
              </a:buClr>
              <a:buSzPts val="2300"/>
              <a:buFont typeface="Raleway"/>
              <a:buNone/>
            </a:pPr>
            <a:r>
              <a:rPr lang="en-US" sz="2300" b="1" i="0" u="none" strike="noStrike" cap="none">
                <a:solidFill>
                  <a:srgbClr val="1B1B27"/>
                </a:solidFill>
                <a:latin typeface="Raleway"/>
                <a:ea typeface="Raleway"/>
                <a:cs typeface="Raleway"/>
                <a:sym typeface="Raleway"/>
              </a:rPr>
              <a:t>Admin Dashboard</a:t>
            </a:r>
            <a:endParaRPr sz="2300" b="1" i="0" u="none" strike="noStrike" cap="none"/>
          </a:p>
        </p:txBody>
      </p:sp>
      <p:sp>
        <p:nvSpPr>
          <p:cNvPr id="248" name="Google Shape;248;p21"/>
          <p:cNvSpPr/>
          <p:nvPr/>
        </p:nvSpPr>
        <p:spPr>
          <a:xfrm>
            <a:off x="7564874" y="3598545"/>
            <a:ext cx="6279356" cy="96785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The </a:t>
            </a:r>
            <a:r>
              <a:rPr lang="en-US" sz="1550" b="0" i="0" u="none" strike="noStrike" cap="none">
                <a:solidFill>
                  <a:srgbClr val="3C3939"/>
                </a:solidFill>
                <a:highlight>
                  <a:srgbClr val="F2F2F2"/>
                </a:highlight>
                <a:latin typeface="Consolas"/>
                <a:ea typeface="Consolas"/>
                <a:cs typeface="Consolas"/>
                <a:sym typeface="Consolas"/>
              </a:rPr>
              <a:t>adminController.js</a:t>
            </a:r>
            <a:r>
              <a:rPr lang="en-US" sz="1550" b="0" i="0" u="none" strike="noStrike" cap="none">
                <a:solidFill>
                  <a:srgbClr val="3C3939"/>
                </a:solidFill>
                <a:latin typeface="Roboto"/>
                <a:ea typeface="Roboto"/>
                <a:cs typeface="Roboto"/>
                <a:sym typeface="Roboto"/>
              </a:rPr>
              <a:t> and related models (</a:t>
            </a:r>
            <a:r>
              <a:rPr lang="en-US" sz="1550" b="0" i="0" u="none" strike="noStrike" cap="none">
                <a:solidFill>
                  <a:srgbClr val="3C3939"/>
                </a:solidFill>
                <a:highlight>
                  <a:srgbClr val="F2F2F2"/>
                </a:highlight>
                <a:latin typeface="Consolas"/>
                <a:ea typeface="Consolas"/>
                <a:cs typeface="Consolas"/>
                <a:sym typeface="Consolas"/>
              </a:rPr>
              <a:t>AdminEarnings.js</a:t>
            </a:r>
            <a:r>
              <a:rPr lang="en-US" sz="1550" b="0" i="0" u="none" strike="noStrike" cap="none">
                <a:solidFill>
                  <a:srgbClr val="3C3939"/>
                </a:solidFill>
                <a:latin typeface="Roboto"/>
                <a:ea typeface="Roboto"/>
                <a:cs typeface="Roboto"/>
                <a:sym typeface="Roboto"/>
              </a:rPr>
              <a:t>, </a:t>
            </a:r>
            <a:r>
              <a:rPr lang="en-US" sz="1550" b="0" i="0" u="none" strike="noStrike" cap="none">
                <a:solidFill>
                  <a:srgbClr val="3C3939"/>
                </a:solidFill>
                <a:highlight>
                  <a:srgbClr val="F2F2F2"/>
                </a:highlight>
                <a:latin typeface="Consolas"/>
                <a:ea typeface="Consolas"/>
                <a:cs typeface="Consolas"/>
                <a:sym typeface="Consolas"/>
              </a:rPr>
              <a:t>Commission.js</a:t>
            </a:r>
            <a:r>
              <a:rPr lang="en-US" sz="1550" b="0" i="0" u="none" strike="noStrike" cap="none">
                <a:solidFill>
                  <a:srgbClr val="3C3939"/>
                </a:solidFill>
                <a:latin typeface="Roboto"/>
                <a:ea typeface="Roboto"/>
                <a:cs typeface="Roboto"/>
                <a:sym typeface="Roboto"/>
              </a:rPr>
              <a:t>) power a comprehensive dashboard, offering administrators control over:</a:t>
            </a:r>
            <a:endParaRPr sz="1550" b="0" i="0" u="none" strike="noStrike" cap="none"/>
          </a:p>
        </p:txBody>
      </p:sp>
      <p:sp>
        <p:nvSpPr>
          <p:cNvPr id="249" name="Google Shape;249;p21"/>
          <p:cNvSpPr/>
          <p:nvPr/>
        </p:nvSpPr>
        <p:spPr>
          <a:xfrm>
            <a:off x="7564874" y="4744998"/>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User account activation/deactivation and management.</a:t>
            </a:r>
            <a:endParaRPr sz="1550" b="0" i="0" u="none" strike="noStrike" cap="none"/>
          </a:p>
        </p:txBody>
      </p:sp>
      <p:sp>
        <p:nvSpPr>
          <p:cNvPr id="250" name="Google Shape;250;p21"/>
          <p:cNvSpPr/>
          <p:nvPr/>
        </p:nvSpPr>
        <p:spPr>
          <a:xfrm>
            <a:off x="7564874" y="5131951"/>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Approval and rejection of new service listings.</a:t>
            </a:r>
            <a:endParaRPr sz="1550" b="0" i="0" u="none" strike="noStrike" cap="none"/>
          </a:p>
        </p:txBody>
      </p:sp>
      <p:sp>
        <p:nvSpPr>
          <p:cNvPr id="251" name="Google Shape;251;p21"/>
          <p:cNvSpPr/>
          <p:nvPr/>
        </p:nvSpPr>
        <p:spPr>
          <a:xfrm>
            <a:off x="7564874" y="5518904"/>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Configuration of commission rates and platform settings.</a:t>
            </a:r>
            <a:endParaRPr sz="1550" b="0" i="0" u="none" strike="noStrike" cap="none"/>
          </a:p>
        </p:txBody>
      </p:sp>
      <p:sp>
        <p:nvSpPr>
          <p:cNvPr id="252" name="Google Shape;252;p21"/>
          <p:cNvSpPr/>
          <p:nvPr/>
        </p:nvSpPr>
        <p:spPr>
          <a:xfrm>
            <a:off x="7564874" y="5905857"/>
            <a:ext cx="6279356" cy="317540"/>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3C3939"/>
              </a:buClr>
              <a:buSzPts val="1550"/>
              <a:buFont typeface="Roboto"/>
              <a:buChar char="•"/>
            </a:pPr>
            <a:r>
              <a:rPr lang="en-US" sz="1550" b="0" i="0" u="none" strike="noStrike" cap="none">
                <a:solidFill>
                  <a:srgbClr val="3C3939"/>
                </a:solidFill>
                <a:latin typeface="Roboto"/>
                <a:ea typeface="Roboto"/>
                <a:cs typeface="Roboto"/>
                <a:sym typeface="Roboto"/>
              </a:rPr>
              <a:t>Financial reporting, dispute resolution, and platform analytics.</a:t>
            </a:r>
            <a:endParaRPr sz="1550" b="0" i="0" u="none" strike="noStrike" cap="none"/>
          </a:p>
        </p:txBody>
      </p:sp>
      <p:sp>
        <p:nvSpPr>
          <p:cNvPr id="253" name="Google Shape;253;p21"/>
          <p:cNvSpPr/>
          <p:nvPr/>
        </p:nvSpPr>
        <p:spPr>
          <a:xfrm>
            <a:off x="793790" y="6516053"/>
            <a:ext cx="13042821"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C3939"/>
              </a:buClr>
              <a:buSzPts val="1550"/>
              <a:buFont typeface="Roboto"/>
              <a:buNone/>
            </a:pPr>
            <a:r>
              <a:rPr lang="en-US" sz="1550" b="0" i="0" u="none" strike="noStrike" cap="none">
                <a:solidFill>
                  <a:srgbClr val="3C3939"/>
                </a:solidFill>
                <a:latin typeface="Roboto"/>
                <a:ea typeface="Roboto"/>
                <a:cs typeface="Roboto"/>
                <a:sym typeface="Roboto"/>
              </a:rPr>
              <a:t>Together, these systems foster a transparent environment for users and provide administrators with the tools needed for efficient platform governance.</a:t>
            </a:r>
            <a:endParaRPr sz="1550" b="0" i="0" u="none" strike="noStrike" cap="non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2"/>
          <p:cNvSpPr/>
          <p:nvPr/>
        </p:nvSpPr>
        <p:spPr>
          <a:xfrm>
            <a:off x="793790" y="619720"/>
            <a:ext cx="10018990" cy="471249"/>
          </a:xfrm>
          <a:prstGeom prst="rect">
            <a:avLst/>
          </a:prstGeom>
          <a:noFill/>
          <a:ln>
            <a:noFill/>
          </a:ln>
        </p:spPr>
        <p:txBody>
          <a:bodyPr spcFirstLastPara="1" wrap="square" lIns="0" tIns="0" rIns="0" bIns="0" anchor="t" anchorCtr="0">
            <a:noAutofit/>
          </a:bodyPr>
          <a:lstStyle/>
          <a:p>
            <a:pPr marL="0" marR="0" lvl="0" indent="0" algn="l" rtl="0">
              <a:lnSpc>
                <a:spcPct val="125423"/>
              </a:lnSpc>
              <a:spcBef>
                <a:spcPts val="0"/>
              </a:spcBef>
              <a:spcAft>
                <a:spcPts val="0"/>
              </a:spcAft>
              <a:buClr>
                <a:srgbClr val="1B1B27"/>
              </a:buClr>
              <a:buSzPts val="2950"/>
              <a:buFont typeface="Raleway"/>
              <a:buNone/>
            </a:pPr>
            <a:r>
              <a:rPr lang="en-US" sz="2950" b="0" i="0" u="none" strike="noStrike" cap="none" dirty="0" err="1">
                <a:solidFill>
                  <a:srgbClr val="1B1B27"/>
                </a:solidFill>
                <a:latin typeface="Raleway"/>
                <a:ea typeface="Raleway"/>
                <a:cs typeface="Raleway"/>
                <a:sym typeface="Raleway"/>
              </a:rPr>
              <a:t>Cloudinary</a:t>
            </a:r>
            <a:r>
              <a:rPr lang="en-US" sz="2950" b="0" i="0" u="none" strike="noStrike" cap="none" dirty="0">
                <a:solidFill>
                  <a:srgbClr val="1B1B27"/>
                </a:solidFill>
                <a:latin typeface="Raleway"/>
                <a:ea typeface="Raleway"/>
                <a:cs typeface="Raleway"/>
                <a:sym typeface="Raleway"/>
              </a:rPr>
              <a:t> Integration: Advanced Image Management</a:t>
            </a:r>
            <a:endParaRPr sz="2950" b="0" i="0" u="none" strike="noStrike" cap="none" dirty="0"/>
          </a:p>
        </p:txBody>
      </p:sp>
      <p:sp>
        <p:nvSpPr>
          <p:cNvPr id="260" name="Google Shape;260;p22"/>
          <p:cNvSpPr/>
          <p:nvPr/>
        </p:nvSpPr>
        <p:spPr>
          <a:xfrm>
            <a:off x="793790" y="1468041"/>
            <a:ext cx="13042821" cy="60340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Fixly leverages Cloudinary for all image storage and processing needs, ensuring optimal performance, scalability, and security for visual content across the platform. This integration streamlines image handling from upload to display.</a:t>
            </a:r>
            <a:endParaRPr sz="1450" b="0" i="0" u="none" strike="noStrike" cap="none"/>
          </a:p>
        </p:txBody>
      </p:sp>
      <p:sp>
        <p:nvSpPr>
          <p:cNvPr id="261" name="Google Shape;261;p22"/>
          <p:cNvSpPr/>
          <p:nvPr/>
        </p:nvSpPr>
        <p:spPr>
          <a:xfrm>
            <a:off x="793790" y="2283500"/>
            <a:ext cx="6427113" cy="2165033"/>
          </a:xfrm>
          <a:prstGeom prst="roundRect">
            <a:avLst>
              <a:gd name="adj" fmla="val 3658"/>
            </a:avLst>
          </a:prstGeom>
          <a:solidFill>
            <a:srgbClr val="E1E1EA"/>
          </a:solidFill>
          <a:ln w="9525"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2"/>
          <p:cNvSpPr/>
          <p:nvPr/>
        </p:nvSpPr>
        <p:spPr>
          <a:xfrm>
            <a:off x="989886" y="2479596"/>
            <a:ext cx="565547" cy="565547"/>
          </a:xfrm>
          <a:prstGeom prst="roundRect">
            <a:avLst>
              <a:gd name="adj" fmla="val 16166801"/>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3" name="Google Shape;263;p22" descr="preencoded.png"/>
          <p:cNvPicPr preferRelativeResize="0"/>
          <p:nvPr/>
        </p:nvPicPr>
        <p:blipFill rotWithShape="1">
          <a:blip r:embed="rId3">
            <a:alphaModFix/>
          </a:blip>
          <a:srcRect/>
          <a:stretch/>
        </p:blipFill>
        <p:spPr>
          <a:xfrm>
            <a:off x="1145381" y="2635091"/>
            <a:ext cx="254437" cy="254437"/>
          </a:xfrm>
          <a:prstGeom prst="rect">
            <a:avLst/>
          </a:prstGeom>
          <a:noFill/>
          <a:ln>
            <a:noFill/>
          </a:ln>
        </p:spPr>
      </p:pic>
      <p:sp>
        <p:nvSpPr>
          <p:cNvPr id="264" name="Google Shape;264;p22"/>
          <p:cNvSpPr/>
          <p:nvPr/>
        </p:nvSpPr>
        <p:spPr>
          <a:xfrm>
            <a:off x="989886" y="3233618"/>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C3939"/>
              </a:buClr>
              <a:buSzPts val="1850"/>
              <a:buFont typeface="Raleway"/>
              <a:buNone/>
            </a:pPr>
            <a:r>
              <a:rPr lang="en-US" sz="1850" b="0" i="0" u="none" strike="noStrike" cap="none">
                <a:solidFill>
                  <a:srgbClr val="3C3939"/>
                </a:solidFill>
                <a:latin typeface="Raleway"/>
                <a:ea typeface="Raleway"/>
                <a:cs typeface="Raleway"/>
                <a:sym typeface="Raleway"/>
              </a:rPr>
              <a:t>Automated Uploads</a:t>
            </a:r>
            <a:endParaRPr sz="1850" b="0" i="0" u="none" strike="noStrike" cap="none"/>
          </a:p>
        </p:txBody>
      </p:sp>
      <p:sp>
        <p:nvSpPr>
          <p:cNvPr id="265" name="Google Shape;265;p22"/>
          <p:cNvSpPr/>
          <p:nvPr/>
        </p:nvSpPr>
        <p:spPr>
          <a:xfrm>
            <a:off x="989886" y="3641407"/>
            <a:ext cx="6034921" cy="61102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Seamless image upload for service listings, profiles, and categories with specific configurations (</a:t>
            </a:r>
            <a:r>
              <a:rPr lang="en-US" sz="1450" b="0" i="0" u="none" strike="noStrike" cap="none">
                <a:solidFill>
                  <a:srgbClr val="3C3939"/>
                </a:solidFill>
                <a:highlight>
                  <a:srgbClr val="F2F2F2"/>
                </a:highlight>
                <a:latin typeface="Consolas"/>
                <a:ea typeface="Consolas"/>
                <a:cs typeface="Consolas"/>
                <a:sym typeface="Consolas"/>
              </a:rPr>
              <a:t>cloudinary.js</a:t>
            </a:r>
            <a:r>
              <a:rPr lang="en-US" sz="1450" b="0" i="0" u="none" strike="noStrike" cap="none">
                <a:solidFill>
                  <a:srgbClr val="3C3939"/>
                </a:solidFill>
                <a:latin typeface="Roboto"/>
                <a:ea typeface="Roboto"/>
                <a:cs typeface="Roboto"/>
                <a:sym typeface="Roboto"/>
              </a:rPr>
              <a:t>).</a:t>
            </a:r>
            <a:endParaRPr sz="1450" b="0" i="0" u="none" strike="noStrike" cap="none"/>
          </a:p>
        </p:txBody>
      </p:sp>
      <p:sp>
        <p:nvSpPr>
          <p:cNvPr id="266" name="Google Shape;266;p22"/>
          <p:cNvSpPr/>
          <p:nvPr/>
        </p:nvSpPr>
        <p:spPr>
          <a:xfrm>
            <a:off x="7409378" y="2283500"/>
            <a:ext cx="6427232" cy="2165033"/>
          </a:xfrm>
          <a:prstGeom prst="roundRect">
            <a:avLst>
              <a:gd name="adj" fmla="val 3658"/>
            </a:avLst>
          </a:prstGeom>
          <a:solidFill>
            <a:srgbClr val="E1E1EA"/>
          </a:solidFill>
          <a:ln w="9525"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2"/>
          <p:cNvSpPr/>
          <p:nvPr/>
        </p:nvSpPr>
        <p:spPr>
          <a:xfrm>
            <a:off x="7605474" y="2479596"/>
            <a:ext cx="565547" cy="565547"/>
          </a:xfrm>
          <a:prstGeom prst="roundRect">
            <a:avLst>
              <a:gd name="adj" fmla="val 16166801"/>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8" name="Google Shape;268;p22" descr="preencoded.png"/>
          <p:cNvPicPr preferRelativeResize="0"/>
          <p:nvPr/>
        </p:nvPicPr>
        <p:blipFill rotWithShape="1">
          <a:blip r:embed="rId4">
            <a:alphaModFix/>
          </a:blip>
          <a:srcRect/>
          <a:stretch/>
        </p:blipFill>
        <p:spPr>
          <a:xfrm>
            <a:off x="7760970" y="2635091"/>
            <a:ext cx="254437" cy="254437"/>
          </a:xfrm>
          <a:prstGeom prst="rect">
            <a:avLst/>
          </a:prstGeom>
          <a:noFill/>
          <a:ln>
            <a:noFill/>
          </a:ln>
        </p:spPr>
      </p:pic>
      <p:sp>
        <p:nvSpPr>
          <p:cNvPr id="269" name="Google Shape;269;p22"/>
          <p:cNvSpPr/>
          <p:nvPr/>
        </p:nvSpPr>
        <p:spPr>
          <a:xfrm>
            <a:off x="7605476" y="3233625"/>
            <a:ext cx="4933200" cy="29460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C3939"/>
              </a:buClr>
              <a:buSzPts val="1850"/>
              <a:buFont typeface="Raleway"/>
              <a:buNone/>
            </a:pPr>
            <a:r>
              <a:rPr lang="en-US" sz="1850" b="0" i="0" u="none" strike="noStrike" cap="none">
                <a:solidFill>
                  <a:srgbClr val="3C3939"/>
                </a:solidFill>
                <a:latin typeface="Raleway"/>
                <a:ea typeface="Raleway"/>
                <a:cs typeface="Raleway"/>
                <a:sym typeface="Raleway"/>
              </a:rPr>
              <a:t>Optimized Transformations</a:t>
            </a:r>
            <a:endParaRPr sz="1850" b="0" i="0" u="none" strike="noStrike" cap="none"/>
          </a:p>
        </p:txBody>
      </p:sp>
      <p:sp>
        <p:nvSpPr>
          <p:cNvPr id="270" name="Google Shape;270;p22"/>
          <p:cNvSpPr/>
          <p:nvPr/>
        </p:nvSpPr>
        <p:spPr>
          <a:xfrm>
            <a:off x="7605474" y="3641407"/>
            <a:ext cx="6035040" cy="60340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Automatic resizing (e.g., 500x500px for services), cropping, and format conversion for various use cases, reducing load times.</a:t>
            </a:r>
            <a:endParaRPr sz="1450" b="0" i="0" u="none" strike="noStrike" cap="none"/>
          </a:p>
        </p:txBody>
      </p:sp>
      <p:sp>
        <p:nvSpPr>
          <p:cNvPr id="271" name="Google Shape;271;p22"/>
          <p:cNvSpPr/>
          <p:nvPr/>
        </p:nvSpPr>
        <p:spPr>
          <a:xfrm>
            <a:off x="793790" y="4637008"/>
            <a:ext cx="6427113" cy="2157413"/>
          </a:xfrm>
          <a:prstGeom prst="roundRect">
            <a:avLst>
              <a:gd name="adj" fmla="val 3671"/>
            </a:avLst>
          </a:prstGeom>
          <a:solidFill>
            <a:srgbClr val="E1E1EA"/>
          </a:solidFill>
          <a:ln w="9525"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2"/>
          <p:cNvSpPr/>
          <p:nvPr/>
        </p:nvSpPr>
        <p:spPr>
          <a:xfrm>
            <a:off x="989886" y="4833104"/>
            <a:ext cx="565547" cy="565547"/>
          </a:xfrm>
          <a:prstGeom prst="roundRect">
            <a:avLst>
              <a:gd name="adj" fmla="val 16166801"/>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3" name="Google Shape;273;p22" descr="preencoded.png"/>
          <p:cNvPicPr preferRelativeResize="0"/>
          <p:nvPr/>
        </p:nvPicPr>
        <p:blipFill rotWithShape="1">
          <a:blip r:embed="rId5">
            <a:alphaModFix/>
          </a:blip>
          <a:srcRect/>
          <a:stretch/>
        </p:blipFill>
        <p:spPr>
          <a:xfrm>
            <a:off x="1145381" y="4988600"/>
            <a:ext cx="254437" cy="254437"/>
          </a:xfrm>
          <a:prstGeom prst="rect">
            <a:avLst/>
          </a:prstGeom>
          <a:noFill/>
          <a:ln>
            <a:noFill/>
          </a:ln>
        </p:spPr>
      </p:pic>
      <p:sp>
        <p:nvSpPr>
          <p:cNvPr id="274" name="Google Shape;274;p22"/>
          <p:cNvSpPr/>
          <p:nvPr/>
        </p:nvSpPr>
        <p:spPr>
          <a:xfrm>
            <a:off x="989886" y="5587127"/>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C3939"/>
              </a:buClr>
              <a:buSzPts val="1850"/>
              <a:buFont typeface="Raleway"/>
              <a:buNone/>
            </a:pPr>
            <a:r>
              <a:rPr lang="en-US" sz="1850" b="0" i="0" u="none" strike="noStrike" cap="none">
                <a:solidFill>
                  <a:srgbClr val="3C3939"/>
                </a:solidFill>
                <a:latin typeface="Raleway"/>
                <a:ea typeface="Raleway"/>
                <a:cs typeface="Raleway"/>
                <a:sym typeface="Raleway"/>
              </a:rPr>
              <a:t>Organized Storage</a:t>
            </a:r>
            <a:endParaRPr sz="1850" b="0" i="0" u="none" strike="noStrike" cap="none"/>
          </a:p>
        </p:txBody>
      </p:sp>
      <p:sp>
        <p:nvSpPr>
          <p:cNvPr id="275" name="Google Shape;275;p22"/>
          <p:cNvSpPr/>
          <p:nvPr/>
        </p:nvSpPr>
        <p:spPr>
          <a:xfrm>
            <a:off x="989886" y="5994916"/>
            <a:ext cx="6034921" cy="60340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Images are categorized into dedicated Cloudinary folders (`services/`, `categories/`, `profiles/`) for better management.</a:t>
            </a:r>
            <a:endParaRPr sz="1450" b="0" i="0" u="none" strike="noStrike" cap="none"/>
          </a:p>
        </p:txBody>
      </p:sp>
      <p:sp>
        <p:nvSpPr>
          <p:cNvPr id="276" name="Google Shape;276;p22"/>
          <p:cNvSpPr/>
          <p:nvPr/>
        </p:nvSpPr>
        <p:spPr>
          <a:xfrm>
            <a:off x="7409378" y="4637008"/>
            <a:ext cx="6427232" cy="2157413"/>
          </a:xfrm>
          <a:prstGeom prst="roundRect">
            <a:avLst>
              <a:gd name="adj" fmla="val 3671"/>
            </a:avLst>
          </a:prstGeom>
          <a:solidFill>
            <a:srgbClr val="E1E1EA"/>
          </a:solidFill>
          <a:ln w="9525"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2"/>
          <p:cNvSpPr/>
          <p:nvPr/>
        </p:nvSpPr>
        <p:spPr>
          <a:xfrm>
            <a:off x="7605474" y="4833104"/>
            <a:ext cx="565547" cy="565547"/>
          </a:xfrm>
          <a:prstGeom prst="roundRect">
            <a:avLst>
              <a:gd name="adj" fmla="val 16166801"/>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8" name="Google Shape;278;p22" descr="preencoded.png"/>
          <p:cNvPicPr preferRelativeResize="0"/>
          <p:nvPr/>
        </p:nvPicPr>
        <p:blipFill rotWithShape="1">
          <a:blip r:embed="rId6">
            <a:alphaModFix/>
          </a:blip>
          <a:srcRect/>
          <a:stretch/>
        </p:blipFill>
        <p:spPr>
          <a:xfrm>
            <a:off x="7760970" y="4988600"/>
            <a:ext cx="254437" cy="254437"/>
          </a:xfrm>
          <a:prstGeom prst="rect">
            <a:avLst/>
          </a:prstGeom>
          <a:noFill/>
          <a:ln>
            <a:noFill/>
          </a:ln>
        </p:spPr>
      </p:pic>
      <p:sp>
        <p:nvSpPr>
          <p:cNvPr id="279" name="Google Shape;279;p22"/>
          <p:cNvSpPr/>
          <p:nvPr/>
        </p:nvSpPr>
        <p:spPr>
          <a:xfrm>
            <a:off x="7605474" y="5587127"/>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C3939"/>
              </a:buClr>
              <a:buSzPts val="1850"/>
              <a:buFont typeface="Raleway"/>
              <a:buNone/>
            </a:pPr>
            <a:r>
              <a:rPr lang="en-US" sz="1850" b="0" i="0" u="none" strike="noStrike" cap="none">
                <a:solidFill>
                  <a:srgbClr val="3C3939"/>
                </a:solidFill>
                <a:latin typeface="Raleway"/>
                <a:ea typeface="Raleway"/>
                <a:cs typeface="Raleway"/>
                <a:sym typeface="Raleway"/>
              </a:rPr>
              <a:t>Validation &amp; Security</a:t>
            </a:r>
            <a:endParaRPr sz="1850" b="0" i="0" u="none" strike="noStrike" cap="none"/>
          </a:p>
        </p:txBody>
      </p:sp>
      <p:sp>
        <p:nvSpPr>
          <p:cNvPr id="280" name="Google Shape;280;p22"/>
          <p:cNvSpPr/>
          <p:nvPr/>
        </p:nvSpPr>
        <p:spPr>
          <a:xfrm>
            <a:off x="7605474" y="5994916"/>
            <a:ext cx="6035040" cy="60340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Strict file validation (JPG, JPEG, PNG, size limits) and secure deletion ensure data integrity and platform security.</a:t>
            </a:r>
            <a:endParaRPr sz="1450" b="0" i="0" u="none" strike="noStrike" cap="none"/>
          </a:p>
        </p:txBody>
      </p:sp>
      <p:sp>
        <p:nvSpPr>
          <p:cNvPr id="281" name="Google Shape;281;p22"/>
          <p:cNvSpPr/>
          <p:nvPr/>
        </p:nvSpPr>
        <p:spPr>
          <a:xfrm>
            <a:off x="793790" y="7006471"/>
            <a:ext cx="13042821" cy="60340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This robust image management system ensures that all visual assets are delivered efficiently and maintain high quality, enhancing the overall user experience.</a:t>
            </a:r>
            <a:endParaRPr sz="1450" b="0" i="0" u="none" strike="noStrike" cap="non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3"/>
          <p:cNvSpPr/>
          <p:nvPr/>
        </p:nvSpPr>
        <p:spPr>
          <a:xfrm>
            <a:off x="793804" y="611625"/>
            <a:ext cx="12911700" cy="471300"/>
          </a:xfrm>
          <a:prstGeom prst="rect">
            <a:avLst/>
          </a:prstGeom>
          <a:noFill/>
          <a:ln>
            <a:noFill/>
          </a:ln>
        </p:spPr>
        <p:txBody>
          <a:bodyPr spcFirstLastPara="1" wrap="square" lIns="0" tIns="0" rIns="0" bIns="0" anchor="t" anchorCtr="0">
            <a:noAutofit/>
          </a:bodyPr>
          <a:lstStyle/>
          <a:p>
            <a:pPr marL="0" marR="0" lvl="0" indent="0" algn="l" rtl="0">
              <a:lnSpc>
                <a:spcPct val="125423"/>
              </a:lnSpc>
              <a:spcBef>
                <a:spcPts val="0"/>
              </a:spcBef>
              <a:spcAft>
                <a:spcPts val="0"/>
              </a:spcAft>
              <a:buClr>
                <a:srgbClr val="1B1B27"/>
              </a:buClr>
              <a:buSzPts val="2950"/>
              <a:buFont typeface="Raleway"/>
              <a:buNone/>
            </a:pPr>
            <a:r>
              <a:rPr lang="en-US" sz="2950" b="0" i="0" u="none" strike="noStrike" cap="none">
                <a:solidFill>
                  <a:srgbClr val="1B1B27"/>
                </a:solidFill>
                <a:latin typeface="Raleway"/>
                <a:ea typeface="Raleway"/>
                <a:cs typeface="Raleway"/>
                <a:sym typeface="Raleway"/>
              </a:rPr>
              <a:t>Collaborative Version Control Workflow: GitFlow Model</a:t>
            </a:r>
            <a:endParaRPr sz="2950" b="0" i="0" u="none" strike="noStrike" cap="none"/>
          </a:p>
        </p:txBody>
      </p:sp>
      <p:sp>
        <p:nvSpPr>
          <p:cNvPr id="288" name="Google Shape;288;p23"/>
          <p:cNvSpPr/>
          <p:nvPr/>
        </p:nvSpPr>
        <p:spPr>
          <a:xfrm>
            <a:off x="793790" y="1459944"/>
            <a:ext cx="13042821" cy="60340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Fixly adheres to a structured GitFlow branching strategy to ensure organized, collaborative development, efficient code reviews, and reliable releases. This systematic approach minimizes conflicts and maintains code quality throughout the project lifecycle.</a:t>
            </a:r>
            <a:endParaRPr sz="1450" b="0" i="0" u="none" strike="noStrike" cap="none"/>
          </a:p>
        </p:txBody>
      </p:sp>
      <p:sp>
        <p:nvSpPr>
          <p:cNvPr id="289" name="Google Shape;289;p23"/>
          <p:cNvSpPr/>
          <p:nvPr/>
        </p:nvSpPr>
        <p:spPr>
          <a:xfrm>
            <a:off x="1230570" y="2662587"/>
            <a:ext cx="3661500" cy="294600"/>
          </a:xfrm>
          <a:prstGeom prst="rect">
            <a:avLst/>
          </a:prstGeom>
          <a:noFill/>
          <a:ln>
            <a:noFill/>
          </a:ln>
        </p:spPr>
        <p:txBody>
          <a:bodyPr spcFirstLastPara="1" wrap="square" lIns="0" tIns="0" rIns="0" bIns="0" anchor="t" anchorCtr="0">
            <a:noAutofit/>
          </a:bodyPr>
          <a:lstStyle/>
          <a:p>
            <a:pPr marL="0" marR="0" lvl="0" indent="0" algn="r" rtl="0">
              <a:lnSpc>
                <a:spcPct val="124324"/>
              </a:lnSpc>
              <a:spcBef>
                <a:spcPts val="0"/>
              </a:spcBef>
              <a:spcAft>
                <a:spcPts val="0"/>
              </a:spcAft>
              <a:buClr>
                <a:srgbClr val="3C3939"/>
              </a:buClr>
              <a:buSzPts val="1850"/>
              <a:buFont typeface="Raleway"/>
              <a:buNone/>
            </a:pPr>
            <a:r>
              <a:rPr lang="en-US" sz="1850" b="0" i="0" u="none" strike="noStrike" cap="none">
                <a:solidFill>
                  <a:srgbClr val="3C3939"/>
                </a:solidFill>
                <a:latin typeface="Raleway"/>
                <a:ea typeface="Raleway"/>
                <a:cs typeface="Raleway"/>
                <a:sym typeface="Raleway"/>
              </a:rPr>
              <a:t>Feature Development</a:t>
            </a:r>
            <a:endParaRPr sz="1850" b="0" i="0" u="none" strike="noStrike" cap="none"/>
          </a:p>
        </p:txBody>
      </p:sp>
      <p:sp>
        <p:nvSpPr>
          <p:cNvPr id="290" name="Google Shape;290;p23"/>
          <p:cNvSpPr/>
          <p:nvPr/>
        </p:nvSpPr>
        <p:spPr>
          <a:xfrm>
            <a:off x="821865" y="3070384"/>
            <a:ext cx="4070400" cy="920400"/>
          </a:xfrm>
          <a:prstGeom prst="rect">
            <a:avLst/>
          </a:prstGeom>
          <a:noFill/>
          <a:ln>
            <a:noFill/>
          </a:ln>
        </p:spPr>
        <p:txBody>
          <a:bodyPr spcFirstLastPara="1" wrap="square" lIns="0" tIns="0" rIns="0" bIns="0" anchor="t" anchorCtr="0">
            <a:noAutofit/>
          </a:bodyPr>
          <a:lstStyle/>
          <a:p>
            <a:pPr marL="0" marR="0" lvl="0" indent="0" algn="r"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Developers create </a:t>
            </a:r>
            <a:r>
              <a:rPr lang="en-US" sz="1450" b="0" i="0" u="none" strike="noStrike" cap="none">
                <a:solidFill>
                  <a:srgbClr val="3C3939"/>
                </a:solidFill>
                <a:highlight>
                  <a:srgbClr val="F2F2F2"/>
                </a:highlight>
                <a:latin typeface="Consolas"/>
                <a:ea typeface="Consolas"/>
                <a:cs typeface="Consolas"/>
                <a:sym typeface="Consolas"/>
              </a:rPr>
              <a:t>feature/*</a:t>
            </a:r>
            <a:r>
              <a:rPr lang="en-US" sz="1450" b="0" i="0" u="none" strike="noStrike" cap="none">
                <a:solidFill>
                  <a:srgbClr val="3C3939"/>
                </a:solidFill>
                <a:latin typeface="Roboto"/>
                <a:ea typeface="Roboto"/>
                <a:cs typeface="Roboto"/>
                <a:sym typeface="Roboto"/>
              </a:rPr>
              <a:t> branches from </a:t>
            </a:r>
            <a:r>
              <a:rPr lang="en-US" sz="1450" b="0" i="0" u="none" strike="noStrike" cap="none">
                <a:solidFill>
                  <a:srgbClr val="3C3939"/>
                </a:solidFill>
                <a:highlight>
                  <a:srgbClr val="F2F2F2"/>
                </a:highlight>
                <a:latin typeface="Consolas"/>
                <a:ea typeface="Consolas"/>
                <a:cs typeface="Consolas"/>
                <a:sym typeface="Consolas"/>
              </a:rPr>
              <a:t>develop</a:t>
            </a:r>
            <a:r>
              <a:rPr lang="en-US" sz="1450" b="0" i="0" u="none" strike="noStrike" cap="none">
                <a:solidFill>
                  <a:srgbClr val="3C3939"/>
                </a:solidFill>
                <a:latin typeface="Roboto"/>
                <a:ea typeface="Roboto"/>
                <a:cs typeface="Roboto"/>
                <a:sym typeface="Roboto"/>
              </a:rPr>
              <a:t>, implement functionality, and submit Pull Requests for review.</a:t>
            </a:r>
            <a:endParaRPr sz="1450" b="0" i="0" u="none" strike="noStrike" cap="none"/>
          </a:p>
        </p:txBody>
      </p:sp>
      <p:sp>
        <p:nvSpPr>
          <p:cNvPr id="291" name="Google Shape;291;p23"/>
          <p:cNvSpPr/>
          <p:nvPr/>
        </p:nvSpPr>
        <p:spPr>
          <a:xfrm>
            <a:off x="9888717" y="2662587"/>
            <a:ext cx="3736200" cy="29460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C3939"/>
              </a:buClr>
              <a:buSzPts val="1850"/>
              <a:buFont typeface="Raleway"/>
              <a:buNone/>
            </a:pPr>
            <a:r>
              <a:rPr lang="en-US" sz="1850" b="0" i="0" u="none" strike="noStrike" cap="none">
                <a:solidFill>
                  <a:srgbClr val="3C3939"/>
                </a:solidFill>
                <a:latin typeface="Raleway"/>
                <a:ea typeface="Raleway"/>
                <a:cs typeface="Raleway"/>
                <a:sym typeface="Raleway"/>
              </a:rPr>
              <a:t>Code Review &amp; Merge</a:t>
            </a:r>
            <a:endParaRPr sz="1850" b="0" i="0" u="none" strike="noStrike" cap="none"/>
          </a:p>
        </p:txBody>
      </p:sp>
      <p:sp>
        <p:nvSpPr>
          <p:cNvPr id="292" name="Google Shape;292;p23"/>
          <p:cNvSpPr/>
          <p:nvPr/>
        </p:nvSpPr>
        <p:spPr>
          <a:xfrm>
            <a:off x="9888702" y="3070379"/>
            <a:ext cx="4070400" cy="912600"/>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All PRs undergo rigorous code review, automated CI checks, and merge into the </a:t>
            </a:r>
            <a:r>
              <a:rPr lang="en-US" sz="1450" b="0" i="0" u="none" strike="noStrike" cap="none">
                <a:solidFill>
                  <a:srgbClr val="3C3939"/>
                </a:solidFill>
                <a:highlight>
                  <a:srgbClr val="F2F2F2"/>
                </a:highlight>
                <a:latin typeface="Consolas"/>
                <a:ea typeface="Consolas"/>
                <a:cs typeface="Consolas"/>
                <a:sym typeface="Consolas"/>
              </a:rPr>
              <a:t>develop</a:t>
            </a:r>
            <a:r>
              <a:rPr lang="en-US" sz="1450" b="0" i="0" u="none" strike="noStrike" cap="none">
                <a:solidFill>
                  <a:srgbClr val="3C3939"/>
                </a:solidFill>
                <a:latin typeface="Roboto"/>
                <a:ea typeface="Roboto"/>
                <a:cs typeface="Roboto"/>
                <a:sym typeface="Roboto"/>
              </a:rPr>
              <a:t> branch upon approval.</a:t>
            </a:r>
            <a:endParaRPr sz="1450" b="0" i="0" u="none" strike="noStrike" cap="none"/>
          </a:p>
        </p:txBody>
      </p:sp>
      <p:sp>
        <p:nvSpPr>
          <p:cNvPr id="293" name="Google Shape;293;p23"/>
          <p:cNvSpPr/>
          <p:nvPr/>
        </p:nvSpPr>
        <p:spPr>
          <a:xfrm>
            <a:off x="9860637" y="3921348"/>
            <a:ext cx="2356800" cy="29460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C3939"/>
              </a:buClr>
              <a:buSzPts val="1850"/>
              <a:buFont typeface="Raleway"/>
              <a:buNone/>
            </a:pPr>
            <a:endParaRPr sz="1850" b="0" i="0" u="none" strike="noStrike" cap="none"/>
          </a:p>
        </p:txBody>
      </p:sp>
      <p:sp>
        <p:nvSpPr>
          <p:cNvPr id="294" name="Google Shape;294;p23"/>
          <p:cNvSpPr/>
          <p:nvPr/>
        </p:nvSpPr>
        <p:spPr>
          <a:xfrm>
            <a:off x="9860637" y="4286488"/>
            <a:ext cx="3975973" cy="912733"/>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Consolas"/>
              <a:buNone/>
            </a:pPr>
            <a:endParaRPr sz="1450" b="0" i="0" u="none" strike="noStrike" cap="none"/>
          </a:p>
        </p:txBody>
      </p:sp>
      <p:sp>
        <p:nvSpPr>
          <p:cNvPr id="295" name="Google Shape;295;p23"/>
          <p:cNvSpPr/>
          <p:nvPr/>
        </p:nvSpPr>
        <p:spPr>
          <a:xfrm>
            <a:off x="9888708" y="4480248"/>
            <a:ext cx="4725300" cy="29460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C3939"/>
              </a:buClr>
              <a:buSzPts val="1850"/>
              <a:buFont typeface="Raleway"/>
              <a:buNone/>
            </a:pPr>
            <a:r>
              <a:rPr lang="en-US" sz="1850" b="0" i="0" u="none" strike="noStrike" cap="none">
                <a:solidFill>
                  <a:srgbClr val="3C3939"/>
                </a:solidFill>
                <a:latin typeface="Raleway"/>
                <a:ea typeface="Raleway"/>
                <a:cs typeface="Raleway"/>
                <a:sym typeface="Raleway"/>
              </a:rPr>
              <a:t>Production Deployment</a:t>
            </a:r>
            <a:endParaRPr sz="1850" b="0" i="0" u="none" strike="noStrike" cap="none"/>
          </a:p>
        </p:txBody>
      </p:sp>
      <p:sp>
        <p:nvSpPr>
          <p:cNvPr id="296" name="Google Shape;296;p23"/>
          <p:cNvSpPr/>
          <p:nvPr/>
        </p:nvSpPr>
        <p:spPr>
          <a:xfrm>
            <a:off x="9888690" y="4888009"/>
            <a:ext cx="4070400" cy="912600"/>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Once a release is stable, it's merged into both </a:t>
            </a:r>
            <a:r>
              <a:rPr lang="en-US" sz="1450" b="0" i="0" u="none" strike="noStrike" cap="none">
                <a:solidFill>
                  <a:srgbClr val="3C3939"/>
                </a:solidFill>
                <a:highlight>
                  <a:srgbClr val="F2F2F2"/>
                </a:highlight>
                <a:latin typeface="Consolas"/>
                <a:ea typeface="Consolas"/>
                <a:cs typeface="Consolas"/>
                <a:sym typeface="Consolas"/>
              </a:rPr>
              <a:t>main</a:t>
            </a:r>
            <a:r>
              <a:rPr lang="en-US" sz="1450" b="0" i="0" u="none" strike="noStrike" cap="none">
                <a:solidFill>
                  <a:srgbClr val="3C3939"/>
                </a:solidFill>
                <a:latin typeface="Roboto"/>
                <a:ea typeface="Roboto"/>
                <a:cs typeface="Roboto"/>
                <a:sym typeface="Roboto"/>
              </a:rPr>
              <a:t> (production) and </a:t>
            </a:r>
            <a:r>
              <a:rPr lang="en-US" sz="1450" b="0" i="0" u="none" strike="noStrike" cap="none">
                <a:solidFill>
                  <a:srgbClr val="3C3939"/>
                </a:solidFill>
                <a:highlight>
                  <a:srgbClr val="F2F2F2"/>
                </a:highlight>
                <a:latin typeface="Consolas"/>
                <a:ea typeface="Consolas"/>
                <a:cs typeface="Consolas"/>
                <a:sym typeface="Consolas"/>
              </a:rPr>
              <a:t>develop</a:t>
            </a:r>
            <a:r>
              <a:rPr lang="en-US" sz="1450" b="0" i="0" u="none" strike="noStrike" cap="none">
                <a:solidFill>
                  <a:srgbClr val="3C3939"/>
                </a:solidFill>
                <a:latin typeface="Roboto"/>
                <a:ea typeface="Roboto"/>
                <a:cs typeface="Roboto"/>
                <a:sym typeface="Roboto"/>
              </a:rPr>
              <a:t>, then tagged for version control.</a:t>
            </a:r>
            <a:endParaRPr sz="1450" b="0" i="0" u="none" strike="noStrike" cap="none"/>
          </a:p>
        </p:txBody>
      </p:sp>
      <p:sp>
        <p:nvSpPr>
          <p:cNvPr id="297" name="Google Shape;297;p23"/>
          <p:cNvSpPr/>
          <p:nvPr/>
        </p:nvSpPr>
        <p:spPr>
          <a:xfrm>
            <a:off x="2507218" y="4480211"/>
            <a:ext cx="2356800" cy="294600"/>
          </a:xfrm>
          <a:prstGeom prst="rect">
            <a:avLst/>
          </a:prstGeom>
          <a:noFill/>
          <a:ln>
            <a:noFill/>
          </a:ln>
        </p:spPr>
        <p:txBody>
          <a:bodyPr spcFirstLastPara="1" wrap="square" lIns="0" tIns="0" rIns="0" bIns="0" anchor="t" anchorCtr="0">
            <a:noAutofit/>
          </a:bodyPr>
          <a:lstStyle/>
          <a:p>
            <a:pPr marL="0" marR="0" lvl="0" indent="0" algn="r" rtl="0">
              <a:lnSpc>
                <a:spcPct val="124324"/>
              </a:lnSpc>
              <a:spcBef>
                <a:spcPts val="0"/>
              </a:spcBef>
              <a:spcAft>
                <a:spcPts val="0"/>
              </a:spcAft>
              <a:buClr>
                <a:srgbClr val="3C3939"/>
              </a:buClr>
              <a:buSzPts val="1850"/>
              <a:buFont typeface="Raleway"/>
              <a:buNone/>
            </a:pPr>
            <a:r>
              <a:rPr lang="en-US" sz="1850" b="0" i="0" u="none" strike="noStrike" cap="none">
                <a:solidFill>
                  <a:srgbClr val="3C3939"/>
                </a:solidFill>
                <a:latin typeface="Raleway"/>
                <a:ea typeface="Raleway"/>
                <a:cs typeface="Raleway"/>
                <a:sym typeface="Raleway"/>
              </a:rPr>
              <a:t>Hotfix Management</a:t>
            </a:r>
            <a:endParaRPr sz="1850" b="0" i="0" u="none" strike="noStrike" cap="none"/>
          </a:p>
        </p:txBody>
      </p:sp>
      <p:sp>
        <p:nvSpPr>
          <p:cNvPr id="298" name="Google Shape;298;p23"/>
          <p:cNvSpPr/>
          <p:nvPr/>
        </p:nvSpPr>
        <p:spPr>
          <a:xfrm>
            <a:off x="821715" y="4884090"/>
            <a:ext cx="4070400" cy="920400"/>
          </a:xfrm>
          <a:prstGeom prst="rect">
            <a:avLst/>
          </a:prstGeom>
          <a:noFill/>
          <a:ln>
            <a:noFill/>
          </a:ln>
        </p:spPr>
        <p:txBody>
          <a:bodyPr spcFirstLastPara="1" wrap="square" lIns="0" tIns="0" rIns="0" bIns="0" anchor="t" anchorCtr="0">
            <a:noAutofit/>
          </a:bodyPr>
          <a:lstStyle/>
          <a:p>
            <a:pPr marL="0" marR="0" lvl="0" indent="0" algn="r"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Urgent fixes for production issues are handled via </a:t>
            </a:r>
            <a:r>
              <a:rPr lang="en-US" sz="1450" b="0" i="0" u="none" strike="noStrike" cap="none">
                <a:solidFill>
                  <a:srgbClr val="3C3939"/>
                </a:solidFill>
                <a:highlight>
                  <a:srgbClr val="F2F2F2"/>
                </a:highlight>
                <a:latin typeface="Consolas"/>
                <a:ea typeface="Consolas"/>
                <a:cs typeface="Consolas"/>
                <a:sym typeface="Consolas"/>
              </a:rPr>
              <a:t>hotfix/*</a:t>
            </a:r>
            <a:r>
              <a:rPr lang="en-US" sz="1450" b="0" i="0" u="none" strike="noStrike" cap="none">
                <a:solidFill>
                  <a:srgbClr val="3C3939"/>
                </a:solidFill>
                <a:latin typeface="Roboto"/>
                <a:ea typeface="Roboto"/>
                <a:cs typeface="Roboto"/>
                <a:sym typeface="Roboto"/>
              </a:rPr>
              <a:t> branches, branched from </a:t>
            </a:r>
            <a:r>
              <a:rPr lang="en-US" sz="1450" b="0" i="0" u="none" strike="noStrike" cap="none">
                <a:solidFill>
                  <a:srgbClr val="3C3939"/>
                </a:solidFill>
                <a:highlight>
                  <a:srgbClr val="F2F2F2"/>
                </a:highlight>
                <a:latin typeface="Consolas"/>
                <a:ea typeface="Consolas"/>
                <a:cs typeface="Consolas"/>
                <a:sym typeface="Consolas"/>
              </a:rPr>
              <a:t>main</a:t>
            </a:r>
            <a:r>
              <a:rPr lang="en-US" sz="1450" b="0" i="0" u="none" strike="noStrike" cap="none">
                <a:solidFill>
                  <a:srgbClr val="3C3939"/>
                </a:solidFill>
                <a:latin typeface="Roboto"/>
                <a:ea typeface="Roboto"/>
                <a:cs typeface="Roboto"/>
                <a:sym typeface="Roboto"/>
              </a:rPr>
              <a:t>, and merged back to </a:t>
            </a:r>
            <a:r>
              <a:rPr lang="en-US" sz="1450" b="0" i="0" u="none" strike="noStrike" cap="none">
                <a:solidFill>
                  <a:srgbClr val="3C3939"/>
                </a:solidFill>
                <a:highlight>
                  <a:srgbClr val="F2F2F2"/>
                </a:highlight>
                <a:latin typeface="Consolas"/>
                <a:ea typeface="Consolas"/>
                <a:cs typeface="Consolas"/>
                <a:sym typeface="Consolas"/>
              </a:rPr>
              <a:t>main</a:t>
            </a:r>
            <a:r>
              <a:rPr lang="en-US" sz="1450" b="0" i="0" u="none" strike="noStrike" cap="none">
                <a:solidFill>
                  <a:srgbClr val="3C3939"/>
                </a:solidFill>
                <a:latin typeface="Roboto"/>
                <a:ea typeface="Roboto"/>
                <a:cs typeface="Roboto"/>
                <a:sym typeface="Roboto"/>
              </a:rPr>
              <a:t> and </a:t>
            </a:r>
            <a:r>
              <a:rPr lang="en-US" sz="1450" b="0" i="0" u="none" strike="noStrike" cap="none">
                <a:solidFill>
                  <a:srgbClr val="3C3939"/>
                </a:solidFill>
                <a:highlight>
                  <a:srgbClr val="F2F2F2"/>
                </a:highlight>
                <a:latin typeface="Consolas"/>
                <a:ea typeface="Consolas"/>
                <a:cs typeface="Consolas"/>
                <a:sym typeface="Consolas"/>
              </a:rPr>
              <a:t>develop</a:t>
            </a:r>
            <a:r>
              <a:rPr lang="en-US" sz="1450" b="0" i="0" u="none" strike="noStrike" cap="none">
                <a:solidFill>
                  <a:srgbClr val="3C3939"/>
                </a:solidFill>
                <a:latin typeface="Roboto"/>
                <a:ea typeface="Roboto"/>
                <a:cs typeface="Roboto"/>
                <a:sym typeface="Roboto"/>
              </a:rPr>
              <a:t>.</a:t>
            </a:r>
            <a:endParaRPr sz="1450" b="0" i="0" u="none" strike="noStrike" cap="none"/>
          </a:p>
        </p:txBody>
      </p:sp>
      <p:sp>
        <p:nvSpPr>
          <p:cNvPr id="299" name="Google Shape;299;p23"/>
          <p:cNvSpPr/>
          <p:nvPr/>
        </p:nvSpPr>
        <p:spPr>
          <a:xfrm>
            <a:off x="793790" y="7014567"/>
            <a:ext cx="13042821" cy="603409"/>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3C3939"/>
              </a:buClr>
              <a:buSzPts val="1450"/>
              <a:buFont typeface="Roboto"/>
              <a:buNone/>
            </a:pPr>
            <a:r>
              <a:rPr lang="en-US" sz="1450" b="0" i="0" u="none" strike="noStrike" cap="none">
                <a:solidFill>
                  <a:srgbClr val="3C3939"/>
                </a:solidFill>
                <a:latin typeface="Roboto"/>
                <a:ea typeface="Roboto"/>
                <a:cs typeface="Roboto"/>
                <a:sym typeface="Roboto"/>
              </a:rPr>
              <a:t>This workflow, combined with strict commit message guidelines and continuous integration, fosters a highly efficient and quality-driven development environment.</a:t>
            </a:r>
            <a:endParaRPr sz="1450" b="0" i="0" u="none" strike="noStrike" cap="none"/>
          </a:p>
        </p:txBody>
      </p:sp>
      <p:pic>
        <p:nvPicPr>
          <p:cNvPr id="300" name="Google Shape;300;p23" title="images-removebg-preview.png"/>
          <p:cNvPicPr preferRelativeResize="0"/>
          <p:nvPr/>
        </p:nvPicPr>
        <p:blipFill rotWithShape="1">
          <a:blip r:embed="rId3">
            <a:alphaModFix/>
          </a:blip>
          <a:srcRect t="9063" b="16526"/>
          <a:stretch/>
        </p:blipFill>
        <p:spPr>
          <a:xfrm rot="-259374">
            <a:off x="4708506" y="2166039"/>
            <a:ext cx="5313650" cy="4265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4"/>
          <p:cNvSpPr txBox="1"/>
          <p:nvPr/>
        </p:nvSpPr>
        <p:spPr>
          <a:xfrm>
            <a:off x="2663100" y="2247975"/>
            <a:ext cx="9304200" cy="373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100"/>
              <a:t>THANK YOU</a:t>
            </a:r>
            <a:endParaRPr sz="81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1605</Words>
  <Application>Microsoft Office PowerPoint</Application>
  <PresentationFormat>Custom</PresentationFormat>
  <Paragraphs>156</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Consolas</vt:lpstr>
      <vt:lpstr>DM Sans</vt:lpstr>
      <vt:lpstr>Arial</vt:lpstr>
      <vt:lpstr>Raleway</vt:lpstr>
      <vt:lpstr>Inter</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Smit Kachhadiya</cp:lastModifiedBy>
  <cp:revision>1</cp:revision>
  <dcterms:modified xsi:type="dcterms:W3CDTF">2025-11-16T12:55:16Z</dcterms:modified>
</cp:coreProperties>
</file>