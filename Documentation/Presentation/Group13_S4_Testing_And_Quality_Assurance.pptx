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Inter"/>
      <p:regular r:id="rId17"/>
      <p:bold r:id="rId18"/>
      <p:italic r:id="rId19"/>
      <p:boldItalic r:id="rId20"/>
    </p:embeddedFont>
    <p:embeddedFont>
      <p:font typeface="Alexandria"/>
      <p:regular r:id="rId21"/>
      <p:bold r:id="rId22"/>
    </p:embeddedFont>
    <p:embeddedFont>
      <p:font typeface="Sora"/>
      <p:regular r:id="rId23"/>
      <p:bold r:id="rId24"/>
    </p:embeddedFont>
    <p:embeddedFont>
      <p:font typeface="DM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22" Type="http://schemas.openxmlformats.org/officeDocument/2006/relationships/font" Target="fonts/Alexandria-bold.fntdata"/><Relationship Id="rId21" Type="http://schemas.openxmlformats.org/officeDocument/2006/relationships/font" Target="fonts/Alexandria-regular.fntdata"/><Relationship Id="rId24" Type="http://schemas.openxmlformats.org/officeDocument/2006/relationships/font" Target="fonts/Sora-bold.fntdata"/><Relationship Id="rId23" Type="http://schemas.openxmlformats.org/officeDocument/2006/relationships/font" Target="fonts/Sor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DMSans-bold.fntdata"/><Relationship Id="rId25" Type="http://schemas.openxmlformats.org/officeDocument/2006/relationships/font" Target="fonts/DMSans-regular.fntdata"/><Relationship Id="rId28" Type="http://schemas.openxmlformats.org/officeDocument/2006/relationships/font" Target="fonts/DMSans-boldItalic.fntdata"/><Relationship Id="rId27" Type="http://schemas.openxmlformats.org/officeDocument/2006/relationships/font" Target="fonts/DMSans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Inter-regular.fntdata"/><Relationship Id="rId16" Type="http://schemas.openxmlformats.org/officeDocument/2006/relationships/slide" Target="slides/slide10.xml"/><Relationship Id="rId19" Type="http://schemas.openxmlformats.org/officeDocument/2006/relationships/font" Target="fonts/Inter-italic.fntdata"/><Relationship Id="rId1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494b5154c_0_18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a494b5154c_0_18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a494b5154c_0_18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4922faeb2_0_62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a4922faeb2_0_62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a4922faeb2_0_62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4922faeb2_0_187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a4922faeb2_0_187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a4922faeb2_0_187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4922faeb2_0_114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a4922faeb2_0_114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a4922faeb2_0_114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55f9b0645_0_0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a55f9b0645_0_0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a55f9b0645_0_0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4922faeb2_0_251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a4922faeb2_0_251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a4922faeb2_0_251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4922faeb2_0_304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a4922faeb2_0_304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a4922faeb2_0_304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4922faeb2_0_363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a4922faeb2_0_363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a4922faeb2_0_363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4922faeb2_0_430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g3a4922faeb2_0_430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a4922faeb2_0_430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ab9a63b1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ab9a63b1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2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2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9F8F5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7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smitkachhadiya/Fixly/tree/main/server/tests" TargetMode="External"/><Relationship Id="rId4" Type="http://schemas.openxmlformats.org/officeDocument/2006/relationships/hyperlink" Target="https://github.com/smitkachhadiya/Fixly/tree/main/client/test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smitkachhadiya/Fixly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/>
          <p:nvPr/>
        </p:nvSpPr>
        <p:spPr>
          <a:xfrm>
            <a:off x="496119" y="408310"/>
            <a:ext cx="26361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100"/>
              <a:buFont typeface="DM Sans"/>
              <a:buNone/>
            </a:pPr>
            <a:r>
              <a:rPr b="0" i="0" lang="en" sz="2200" u="none" cap="none" strike="noStrik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Fixly</a:t>
            </a:r>
            <a:endParaRPr b="0" i="0" sz="2200" u="none" cap="none" strike="noStrike"/>
          </a:p>
        </p:txBody>
      </p:sp>
      <p:sp>
        <p:nvSpPr>
          <p:cNvPr id="98" name="Google Shape;98;p25"/>
          <p:cNvSpPr/>
          <p:nvPr/>
        </p:nvSpPr>
        <p:spPr>
          <a:xfrm>
            <a:off x="496046" y="750224"/>
            <a:ext cx="25476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1" lang="en" sz="13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Convenience at Your Doorstep</a:t>
            </a:r>
            <a:endParaRPr b="0" i="0" sz="1300" u="none" cap="none" strike="noStrike"/>
          </a:p>
        </p:txBody>
      </p:sp>
      <p:sp>
        <p:nvSpPr>
          <p:cNvPr id="99" name="Google Shape;99;p25"/>
          <p:cNvSpPr/>
          <p:nvPr/>
        </p:nvSpPr>
        <p:spPr>
          <a:xfrm>
            <a:off x="496125" y="1277982"/>
            <a:ext cx="81519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00"/>
              <a:buFont typeface="Inter"/>
              <a:buNone/>
            </a:pPr>
            <a:r>
              <a:rPr b="0" i="0" lang="en" sz="12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 web-based service marketplace connecting customers with skilled professionals for household and commercial needs. Designed for simplicity, efficiency, and trust.</a:t>
            </a:r>
            <a:endParaRPr b="0" i="0" sz="1200" u="none" cap="none" strike="noStrike"/>
          </a:p>
        </p:txBody>
      </p:sp>
      <p:sp>
        <p:nvSpPr>
          <p:cNvPr id="100" name="Google Shape;100;p25"/>
          <p:cNvSpPr/>
          <p:nvPr/>
        </p:nvSpPr>
        <p:spPr>
          <a:xfrm>
            <a:off x="496044" y="1923761"/>
            <a:ext cx="8151900" cy="18000"/>
          </a:xfrm>
          <a:prstGeom prst="rect">
            <a:avLst/>
          </a:prstGeom>
          <a:solidFill>
            <a:srgbClr val="161613">
              <a:alpha val="49800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5"/>
          <p:cNvSpPr/>
          <p:nvPr/>
        </p:nvSpPr>
        <p:spPr>
          <a:xfrm>
            <a:off x="496128" y="2122625"/>
            <a:ext cx="41331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00"/>
              <a:buFont typeface="Inter"/>
              <a:buNone/>
            </a:pPr>
            <a:r>
              <a:rPr b="0" i="0" lang="en" sz="17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Group 13 | IT644: Web Services &amp; SOA</a:t>
            </a:r>
            <a:endParaRPr b="0" i="0" sz="1700" u="none" cap="none" strike="noStrike"/>
          </a:p>
        </p:txBody>
      </p:sp>
      <p:sp>
        <p:nvSpPr>
          <p:cNvPr id="102" name="Google Shape;102;p25"/>
          <p:cNvSpPr/>
          <p:nvPr/>
        </p:nvSpPr>
        <p:spPr>
          <a:xfrm>
            <a:off x="496119" y="2210544"/>
            <a:ext cx="8151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</a:pPr>
            <a:r>
              <a:t/>
            </a:r>
            <a:endParaRPr b="0" i="0" sz="800" u="none" cap="none" strike="noStrike"/>
          </a:p>
        </p:txBody>
      </p:sp>
      <p:sp>
        <p:nvSpPr>
          <p:cNvPr id="103" name="Google Shape;103;p25"/>
          <p:cNvSpPr/>
          <p:nvPr/>
        </p:nvSpPr>
        <p:spPr>
          <a:xfrm>
            <a:off x="496119" y="2706068"/>
            <a:ext cx="21087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00"/>
              <a:buFont typeface="DM Sans"/>
              <a:buNone/>
            </a:pPr>
            <a:r>
              <a:rPr b="0" i="0" lang="en" sz="1700" u="none" cap="none" strike="noStrik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Team Members</a:t>
            </a:r>
            <a:endParaRPr b="0" i="0" sz="1700" u="none" cap="none" strike="noStrike"/>
          </a:p>
        </p:txBody>
      </p:sp>
      <p:sp>
        <p:nvSpPr>
          <p:cNvPr id="104" name="Google Shape;104;p25"/>
          <p:cNvSpPr/>
          <p:nvPr/>
        </p:nvSpPr>
        <p:spPr>
          <a:xfrm>
            <a:off x="496119" y="3127772"/>
            <a:ext cx="81519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900" lvl="0" marL="21590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00"/>
              <a:buFont typeface="Inter"/>
              <a:buChar char="•"/>
            </a:pPr>
            <a:r>
              <a:rPr b="0" i="0" lang="en" sz="8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202412031 - Kachhadiya Smit - Team Lead &amp; Project Manager</a:t>
            </a:r>
            <a:endParaRPr b="0" i="0" sz="800" u="none" cap="none" strike="noStrike"/>
          </a:p>
        </p:txBody>
      </p:sp>
      <p:sp>
        <p:nvSpPr>
          <p:cNvPr id="105" name="Google Shape;105;p25"/>
          <p:cNvSpPr/>
          <p:nvPr/>
        </p:nvSpPr>
        <p:spPr>
          <a:xfrm>
            <a:off x="496119" y="3333304"/>
            <a:ext cx="81519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900" lvl="0" marL="21590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00"/>
              <a:buFont typeface="Inter"/>
              <a:buChar char="•"/>
            </a:pPr>
            <a:r>
              <a:rPr b="0" i="0" lang="en" sz="8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202412036 - Kathrotiya Harsh - BackEnd Developer &amp; Product Owner</a:t>
            </a:r>
            <a:endParaRPr b="0" i="0" sz="800" u="none" cap="none" strike="noStrike"/>
          </a:p>
        </p:txBody>
      </p:sp>
      <p:sp>
        <p:nvSpPr>
          <p:cNvPr id="106" name="Google Shape;106;p25"/>
          <p:cNvSpPr/>
          <p:nvPr/>
        </p:nvSpPr>
        <p:spPr>
          <a:xfrm>
            <a:off x="496119" y="3538835"/>
            <a:ext cx="81519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900" lvl="0" marL="21590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00"/>
              <a:buFont typeface="Inter"/>
              <a:buChar char="•"/>
            </a:pPr>
            <a:r>
              <a:rPr b="0" i="0" lang="en" sz="8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202412052 - Navadiya Krishn - Backend Developer</a:t>
            </a:r>
            <a:endParaRPr b="0" i="0" sz="800" u="none" cap="none" strike="noStrike"/>
          </a:p>
        </p:txBody>
      </p:sp>
      <p:sp>
        <p:nvSpPr>
          <p:cNvPr id="107" name="Google Shape;107;p25"/>
          <p:cNvSpPr/>
          <p:nvPr/>
        </p:nvSpPr>
        <p:spPr>
          <a:xfrm>
            <a:off x="496119" y="3744367"/>
            <a:ext cx="81519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900" lvl="0" marL="21590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00"/>
              <a:buFont typeface="Inter"/>
              <a:buChar char="•"/>
            </a:pPr>
            <a:r>
              <a:rPr b="0" i="0" lang="en" sz="8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202412030 - Kachhadiya Princy - FrontEnd Developer</a:t>
            </a:r>
            <a:endParaRPr b="0" i="0" sz="800" u="none" cap="none" strike="noStrike"/>
          </a:p>
        </p:txBody>
      </p:sp>
      <p:sp>
        <p:nvSpPr>
          <p:cNvPr id="108" name="Google Shape;108;p25"/>
          <p:cNvSpPr/>
          <p:nvPr/>
        </p:nvSpPr>
        <p:spPr>
          <a:xfrm>
            <a:off x="496119" y="3949899"/>
            <a:ext cx="81519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900" lvl="0" marL="21590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00"/>
              <a:buFont typeface="Inter"/>
              <a:buChar char="•"/>
            </a:pPr>
            <a:r>
              <a:rPr b="0" i="0" lang="en" sz="8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202412043 - Lakkad Vishva - UI/UX Designer &amp; Business Analyst</a:t>
            </a:r>
            <a:endParaRPr b="0" i="0" sz="800" u="none" cap="none" strike="noStrike"/>
          </a:p>
        </p:txBody>
      </p:sp>
      <p:sp>
        <p:nvSpPr>
          <p:cNvPr id="109" name="Google Shape;109;p25"/>
          <p:cNvSpPr/>
          <p:nvPr/>
        </p:nvSpPr>
        <p:spPr>
          <a:xfrm>
            <a:off x="496119" y="4155430"/>
            <a:ext cx="81519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900" lvl="0" marL="21590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00"/>
              <a:buFont typeface="Inter"/>
              <a:buChar char="•"/>
            </a:pPr>
            <a:r>
              <a:rPr b="0" i="0" lang="en" sz="8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202412044 - Limbachiya Parth - QA Tester &amp; Solution Architecture</a:t>
            </a:r>
            <a:endParaRPr b="0" i="0" sz="800" u="none" cap="none" strike="noStrike"/>
          </a:p>
        </p:txBody>
      </p:sp>
      <p:sp>
        <p:nvSpPr>
          <p:cNvPr id="110" name="Google Shape;110;p25"/>
          <p:cNvSpPr/>
          <p:nvPr/>
        </p:nvSpPr>
        <p:spPr>
          <a:xfrm>
            <a:off x="496119" y="4360962"/>
            <a:ext cx="81519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900" lvl="0" marL="21590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00"/>
              <a:buFont typeface="Inter"/>
              <a:buChar char="•"/>
            </a:pPr>
            <a:r>
              <a:rPr b="0" i="0" lang="en" sz="8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202412104 - Shekhda Miraj - FrontEnd Developer</a:t>
            </a:r>
            <a:endParaRPr b="0" i="0" sz="800" u="none" cap="none" strike="noStrike"/>
          </a:p>
        </p:txBody>
      </p:sp>
      <p:sp>
        <p:nvSpPr>
          <p:cNvPr id="111" name="Google Shape;111;p25"/>
          <p:cNvSpPr/>
          <p:nvPr/>
        </p:nvSpPr>
        <p:spPr>
          <a:xfrm>
            <a:off x="496119" y="4566493"/>
            <a:ext cx="81519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900" lvl="0" marL="21590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00"/>
              <a:buFont typeface="Inter"/>
              <a:buChar char="•"/>
            </a:pPr>
            <a:r>
              <a:rPr b="0" i="0" lang="en" sz="8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202412010 - Asodariya Gaurav - </a:t>
            </a:r>
            <a:r>
              <a:rPr lang="en" sz="80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QA Tester &amp; </a:t>
            </a:r>
            <a:r>
              <a:rPr b="0" i="0" lang="en" sz="8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Technical Writer</a:t>
            </a:r>
            <a:endParaRPr b="0" i="0" sz="8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7" name="Google Shape;117;p26"/>
          <p:cNvPicPr preferRelativeResize="0"/>
          <p:nvPr/>
        </p:nvPicPr>
        <p:blipFill rotWithShape="1">
          <a:blip r:embed="rId3">
            <a:alphaModFix/>
          </a:blip>
          <a:srcRect b="10974" l="6100" r="8698" t="802"/>
          <a:stretch/>
        </p:blipFill>
        <p:spPr>
          <a:xfrm>
            <a:off x="0" y="0"/>
            <a:ext cx="33116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6"/>
          <p:cNvSpPr/>
          <p:nvPr/>
        </p:nvSpPr>
        <p:spPr>
          <a:xfrm>
            <a:off x="3902937" y="1397344"/>
            <a:ext cx="4875000" cy="10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800"/>
              <a:buFont typeface="Alexandria"/>
              <a:buNone/>
            </a:pPr>
            <a:r>
              <a:rPr b="0" i="0" lang="en" sz="2800" u="none" cap="none" strike="noStrike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Verification, Validation &amp;</a:t>
            </a:r>
            <a:r>
              <a:rPr lang="en" sz="2800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 </a:t>
            </a:r>
            <a:r>
              <a:rPr b="0" i="0" lang="en" sz="2800" u="none" cap="none" strike="noStrike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System Robustness</a:t>
            </a:r>
            <a:endParaRPr b="0" i="0" sz="2800" u="none" cap="none" strike="noStrike"/>
          </a:p>
        </p:txBody>
      </p:sp>
      <p:sp>
        <p:nvSpPr>
          <p:cNvPr id="119" name="Google Shape;119;p26"/>
          <p:cNvSpPr/>
          <p:nvPr/>
        </p:nvSpPr>
        <p:spPr>
          <a:xfrm>
            <a:off x="3902938" y="2779492"/>
            <a:ext cx="49689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200"/>
              <a:buFont typeface="Alexandria"/>
              <a:buNone/>
            </a:pPr>
            <a:r>
              <a:rPr b="0" i="0" lang="en" sz="1300" u="none" cap="none" strike="noStrike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Fixly Platform: Testing Strategy, Coverage &amp; Quality</a:t>
            </a:r>
            <a:r>
              <a:rPr lang="en" sz="1300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 </a:t>
            </a:r>
            <a:r>
              <a:rPr b="0" i="0" lang="en" sz="1300" u="none" cap="none" strike="noStrike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Assurance</a:t>
            </a:r>
            <a:endParaRPr b="0" i="0" sz="1300" u="none" cap="none" strike="noStrike"/>
          </a:p>
        </p:txBody>
      </p:sp>
      <p:cxnSp>
        <p:nvCxnSpPr>
          <p:cNvPr id="120" name="Google Shape;120;p26"/>
          <p:cNvCxnSpPr/>
          <p:nvPr/>
        </p:nvCxnSpPr>
        <p:spPr>
          <a:xfrm flipH="1" rot="10800000">
            <a:off x="3853000" y="2530109"/>
            <a:ext cx="4812300" cy="16500"/>
          </a:xfrm>
          <a:prstGeom prst="straightConnector1">
            <a:avLst/>
          </a:prstGeom>
          <a:noFill/>
          <a:ln cap="flat" cmpd="sng" w="59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7"/>
          <p:cNvSpPr/>
          <p:nvPr/>
        </p:nvSpPr>
        <p:spPr>
          <a:xfrm>
            <a:off x="473943" y="693316"/>
            <a:ext cx="28509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200"/>
              <a:buFont typeface="Alexandria"/>
              <a:buNone/>
            </a:pPr>
            <a:r>
              <a:rPr lang="en" sz="2200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Test Coverage</a:t>
            </a:r>
            <a:endParaRPr sz="2200">
              <a:solidFill>
                <a:srgbClr val="1F1E1E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200"/>
              <a:buFont typeface="Alexandria"/>
              <a:buNone/>
            </a:pPr>
            <a:r>
              <a:t/>
            </a:r>
            <a:endParaRPr sz="2200">
              <a:solidFill>
                <a:srgbClr val="1F1E1E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200"/>
              <a:buFont typeface="Alexandria"/>
              <a:buNone/>
            </a:pPr>
            <a:r>
              <a:t/>
            </a:r>
            <a:endParaRPr sz="2200">
              <a:solidFill>
                <a:srgbClr val="1F1E1E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200"/>
              <a:buFont typeface="Alexandria"/>
              <a:buNone/>
            </a:pPr>
            <a:r>
              <a:t/>
            </a:r>
            <a:endParaRPr sz="2200">
              <a:solidFill>
                <a:srgbClr val="1F1E1E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pic>
        <p:nvPicPr>
          <p:cNvPr descr="preencoded.png" id="127" name="Google Shape;12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943" y="1320403"/>
            <a:ext cx="338510" cy="33851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7"/>
          <p:cNvSpPr/>
          <p:nvPr/>
        </p:nvSpPr>
        <p:spPr>
          <a:xfrm>
            <a:off x="473943" y="1828130"/>
            <a:ext cx="17817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Home</a:t>
            </a:r>
            <a:endParaRPr b="0" i="0" sz="1400" u="none" cap="none" strike="noStrike"/>
          </a:p>
        </p:txBody>
      </p:sp>
      <p:sp>
        <p:nvSpPr>
          <p:cNvPr id="129" name="Google Shape;129;p27"/>
          <p:cNvSpPr/>
          <p:nvPr/>
        </p:nvSpPr>
        <p:spPr>
          <a:xfrm>
            <a:off x="473943" y="2131963"/>
            <a:ext cx="26193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en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Main landing page and initial user experience.</a:t>
            </a:r>
            <a:endParaRPr b="0" i="0" sz="1100" u="none" cap="none" strike="noStrike"/>
          </a:p>
        </p:txBody>
      </p:sp>
      <p:pic>
        <p:nvPicPr>
          <p:cNvPr descr="preencoded.png" id="130" name="Google Shape;13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2387" y="1320403"/>
            <a:ext cx="338510" cy="33851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7"/>
          <p:cNvSpPr/>
          <p:nvPr/>
        </p:nvSpPr>
        <p:spPr>
          <a:xfrm>
            <a:off x="3262387" y="1828130"/>
            <a:ext cx="17817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Services</a:t>
            </a:r>
            <a:endParaRPr b="0" i="0" sz="1400" u="none" cap="none" strike="noStrike"/>
          </a:p>
        </p:txBody>
      </p:sp>
      <p:sp>
        <p:nvSpPr>
          <p:cNvPr id="132" name="Google Shape;132;p27"/>
          <p:cNvSpPr/>
          <p:nvPr/>
        </p:nvSpPr>
        <p:spPr>
          <a:xfrm>
            <a:off x="3262387" y="2131963"/>
            <a:ext cx="26193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en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Browsing, selection, and details of available services.</a:t>
            </a:r>
            <a:endParaRPr b="0" i="0" sz="1100" u="none" cap="none" strike="noStrike"/>
          </a:p>
        </p:txBody>
      </p:sp>
      <p:pic>
        <p:nvPicPr>
          <p:cNvPr descr="preencoded.png" id="133" name="Google Shape;13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6060" y="1320403"/>
            <a:ext cx="338510" cy="33851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7"/>
          <p:cNvSpPr/>
          <p:nvPr/>
        </p:nvSpPr>
        <p:spPr>
          <a:xfrm>
            <a:off x="6086060" y="1828130"/>
            <a:ext cx="17817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Login/Signup</a:t>
            </a:r>
            <a:endParaRPr b="0" i="0" sz="1400" u="none" cap="none" strike="noStrike"/>
          </a:p>
        </p:txBody>
      </p:sp>
      <p:sp>
        <p:nvSpPr>
          <p:cNvPr id="135" name="Google Shape;135;p27"/>
          <p:cNvSpPr/>
          <p:nvPr/>
        </p:nvSpPr>
        <p:spPr>
          <a:xfrm>
            <a:off x="6086060" y="2131963"/>
            <a:ext cx="26193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en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Secure user authentication and registration processes.</a:t>
            </a:r>
            <a:endParaRPr b="0" i="0" sz="1100" u="none" cap="none" strike="noStrike"/>
          </a:p>
        </p:txBody>
      </p:sp>
      <p:pic>
        <p:nvPicPr>
          <p:cNvPr descr="preencoded.png" id="136" name="Google Shape;13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3943" y="2937181"/>
            <a:ext cx="338510" cy="33851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7"/>
          <p:cNvSpPr/>
          <p:nvPr/>
        </p:nvSpPr>
        <p:spPr>
          <a:xfrm>
            <a:off x="473943" y="3343871"/>
            <a:ext cx="23511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User/Provider Dashboards</a:t>
            </a:r>
            <a:endParaRPr b="0" i="0" sz="1400" u="none" cap="none" strike="noStrike"/>
          </a:p>
        </p:txBody>
      </p:sp>
      <p:sp>
        <p:nvSpPr>
          <p:cNvPr id="138" name="Google Shape;138;p27"/>
          <p:cNvSpPr/>
          <p:nvPr/>
        </p:nvSpPr>
        <p:spPr>
          <a:xfrm>
            <a:off x="473943" y="3647703"/>
            <a:ext cx="26193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en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Personalized interfaces for users </a:t>
            </a:r>
            <a:endParaRPr b="0" i="0" sz="1100" u="none" cap="none" strike="noStrike">
              <a:solidFill>
                <a:srgbClr val="3B3535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en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and service providers.</a:t>
            </a:r>
            <a:endParaRPr b="0" i="0" sz="1100" u="none" cap="none" strike="noStrike"/>
          </a:p>
        </p:txBody>
      </p:sp>
      <p:pic>
        <p:nvPicPr>
          <p:cNvPr descr="preencoded.png" id="139" name="Google Shape;139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62387" y="2937181"/>
            <a:ext cx="338510" cy="33851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7"/>
          <p:cNvSpPr/>
          <p:nvPr/>
        </p:nvSpPr>
        <p:spPr>
          <a:xfrm>
            <a:off x="3262387" y="3343871"/>
            <a:ext cx="17817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Admin Panel</a:t>
            </a:r>
            <a:endParaRPr b="0" i="0" sz="1400" u="none" cap="none" strike="noStrike"/>
          </a:p>
        </p:txBody>
      </p:sp>
      <p:sp>
        <p:nvSpPr>
          <p:cNvPr id="141" name="Google Shape;141;p27"/>
          <p:cNvSpPr/>
          <p:nvPr/>
        </p:nvSpPr>
        <p:spPr>
          <a:xfrm>
            <a:off x="3262387" y="3647703"/>
            <a:ext cx="26193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en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Backend management and operational control.</a:t>
            </a:r>
            <a:endParaRPr b="0" i="0" sz="1100" u="none" cap="none" strike="noStrike"/>
          </a:p>
        </p:txBody>
      </p:sp>
      <p:sp>
        <p:nvSpPr>
          <p:cNvPr id="142" name="Google Shape;142;p27"/>
          <p:cNvSpPr/>
          <p:nvPr/>
        </p:nvSpPr>
        <p:spPr>
          <a:xfrm>
            <a:off x="331100" y="1213200"/>
            <a:ext cx="2619300" cy="1459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7"/>
          <p:cNvSpPr/>
          <p:nvPr/>
        </p:nvSpPr>
        <p:spPr>
          <a:xfrm>
            <a:off x="3106375" y="1213175"/>
            <a:ext cx="2713200" cy="1459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7"/>
          <p:cNvSpPr/>
          <p:nvPr/>
        </p:nvSpPr>
        <p:spPr>
          <a:xfrm>
            <a:off x="5975550" y="1209675"/>
            <a:ext cx="2619300" cy="1459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7"/>
          <p:cNvSpPr/>
          <p:nvPr/>
        </p:nvSpPr>
        <p:spPr>
          <a:xfrm>
            <a:off x="339850" y="2823125"/>
            <a:ext cx="2619300" cy="1459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7"/>
          <p:cNvSpPr/>
          <p:nvPr/>
        </p:nvSpPr>
        <p:spPr>
          <a:xfrm>
            <a:off x="3153350" y="2823113"/>
            <a:ext cx="2619300" cy="1459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/>
          <p:nvPr/>
        </p:nvSpPr>
        <p:spPr>
          <a:xfrm>
            <a:off x="473943" y="572765"/>
            <a:ext cx="63597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200"/>
              <a:buFont typeface="Alexandria"/>
              <a:buNone/>
            </a:pPr>
            <a:r>
              <a:rPr b="0" i="0" lang="en" sz="2200" u="none" cap="none" strike="noStrike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Comprehensive Testing Strategy &amp; Coverage</a:t>
            </a:r>
            <a:endParaRPr b="0" i="0" sz="2200" u="none" cap="none" strike="noStrike"/>
          </a:p>
        </p:txBody>
      </p:sp>
      <p:sp>
        <p:nvSpPr>
          <p:cNvPr id="153" name="Google Shape;153;p28"/>
          <p:cNvSpPr/>
          <p:nvPr/>
        </p:nvSpPr>
        <p:spPr>
          <a:xfrm>
            <a:off x="473943" y="1402928"/>
            <a:ext cx="4030200" cy="1230300"/>
          </a:xfrm>
          <a:prstGeom prst="roundRect">
            <a:avLst>
              <a:gd fmla="val 7433" name="adj"/>
            </a:avLst>
          </a:prstGeom>
          <a:solidFill>
            <a:srgbClr val="FFFAF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8"/>
          <p:cNvSpPr/>
          <p:nvPr/>
        </p:nvSpPr>
        <p:spPr>
          <a:xfrm>
            <a:off x="473943" y="1383878"/>
            <a:ext cx="4030200" cy="76200"/>
          </a:xfrm>
          <a:prstGeom prst="roundRect">
            <a:avLst>
              <a:gd fmla="val 74638" name="adj"/>
            </a:avLst>
          </a:prstGeom>
          <a:solidFill>
            <a:srgbClr val="1A2D7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8"/>
          <p:cNvSpPr/>
          <p:nvPr/>
        </p:nvSpPr>
        <p:spPr>
          <a:xfrm>
            <a:off x="2285963" y="1199853"/>
            <a:ext cx="406200" cy="406200"/>
          </a:xfrm>
          <a:prstGeom prst="roundRect">
            <a:avLst>
              <a:gd fmla="val 140685" name="adj"/>
            </a:avLst>
          </a:prstGeom>
          <a:solidFill>
            <a:srgbClr val="1A2D7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8"/>
          <p:cNvSpPr/>
          <p:nvPr/>
        </p:nvSpPr>
        <p:spPr>
          <a:xfrm>
            <a:off x="2407853" y="1301428"/>
            <a:ext cx="162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lexandria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1</a:t>
            </a:r>
            <a:endParaRPr b="0" i="0" sz="1300" u="none" cap="none" strike="noStrike"/>
          </a:p>
        </p:txBody>
      </p:sp>
      <p:sp>
        <p:nvSpPr>
          <p:cNvPr id="157" name="Google Shape;157;p28"/>
          <p:cNvSpPr/>
          <p:nvPr/>
        </p:nvSpPr>
        <p:spPr>
          <a:xfrm>
            <a:off x="628353" y="1741438"/>
            <a:ext cx="17817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Unit Testing</a:t>
            </a:r>
            <a:endParaRPr b="0" i="0" sz="1400" u="none" cap="none" strike="noStrike"/>
          </a:p>
        </p:txBody>
      </p:sp>
      <p:sp>
        <p:nvSpPr>
          <p:cNvPr id="158" name="Google Shape;158;p28"/>
          <p:cNvSpPr/>
          <p:nvPr/>
        </p:nvSpPr>
        <p:spPr>
          <a:xfrm>
            <a:off x="628353" y="2045271"/>
            <a:ext cx="3721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lang="en" sz="1100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111 </a:t>
            </a:r>
            <a:r>
              <a:rPr b="0" i="0" lang="en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 suites with </a:t>
            </a:r>
            <a:r>
              <a:rPr lang="en" sz="1100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573 </a:t>
            </a:r>
            <a:r>
              <a:rPr b="0" i="0" lang="en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individual tests passed, focusing on isolated code components.</a:t>
            </a:r>
            <a:endParaRPr b="0" i="0" sz="1100" u="none" cap="none" strike="noStrike"/>
          </a:p>
        </p:txBody>
      </p:sp>
      <p:sp>
        <p:nvSpPr>
          <p:cNvPr id="159" name="Google Shape;159;p28"/>
          <p:cNvSpPr/>
          <p:nvPr/>
        </p:nvSpPr>
        <p:spPr>
          <a:xfrm>
            <a:off x="4639643" y="1402928"/>
            <a:ext cx="4030500" cy="1230300"/>
          </a:xfrm>
          <a:prstGeom prst="roundRect">
            <a:avLst>
              <a:gd fmla="val 7433" name="adj"/>
            </a:avLst>
          </a:prstGeom>
          <a:solidFill>
            <a:srgbClr val="FFFAF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8"/>
          <p:cNvSpPr/>
          <p:nvPr/>
        </p:nvSpPr>
        <p:spPr>
          <a:xfrm>
            <a:off x="4639643" y="1383878"/>
            <a:ext cx="4030500" cy="76200"/>
          </a:xfrm>
          <a:prstGeom prst="roundRect">
            <a:avLst>
              <a:gd fmla="val 74638" name="adj"/>
            </a:avLst>
          </a:prstGeom>
          <a:solidFill>
            <a:srgbClr val="1A2D7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8"/>
          <p:cNvSpPr/>
          <p:nvPr/>
        </p:nvSpPr>
        <p:spPr>
          <a:xfrm>
            <a:off x="6451736" y="1199853"/>
            <a:ext cx="406200" cy="406200"/>
          </a:xfrm>
          <a:prstGeom prst="roundRect">
            <a:avLst>
              <a:gd fmla="val 140685" name="adj"/>
            </a:avLst>
          </a:prstGeom>
          <a:solidFill>
            <a:srgbClr val="1A2D7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8"/>
          <p:cNvSpPr/>
          <p:nvPr/>
        </p:nvSpPr>
        <p:spPr>
          <a:xfrm>
            <a:off x="6573627" y="1301428"/>
            <a:ext cx="162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lexandria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2</a:t>
            </a:r>
            <a:endParaRPr b="0" i="0" sz="1300" u="none" cap="none" strike="noStrike"/>
          </a:p>
        </p:txBody>
      </p:sp>
      <p:sp>
        <p:nvSpPr>
          <p:cNvPr id="163" name="Google Shape;163;p28"/>
          <p:cNvSpPr/>
          <p:nvPr/>
        </p:nvSpPr>
        <p:spPr>
          <a:xfrm>
            <a:off x="4794052" y="1741438"/>
            <a:ext cx="17817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lang="en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Testing Code</a:t>
            </a:r>
            <a:endParaRPr>
              <a:solidFill>
                <a:srgbClr val="3B353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t/>
            </a:r>
            <a:endParaRPr>
              <a:solidFill>
                <a:srgbClr val="3B353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4" name="Google Shape;164;p28"/>
          <p:cNvSpPr/>
          <p:nvPr/>
        </p:nvSpPr>
        <p:spPr>
          <a:xfrm>
            <a:off x="4794052" y="2045271"/>
            <a:ext cx="37218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lang="en" sz="1100" u="sng">
                <a:solidFill>
                  <a:schemeClr val="hlink"/>
                </a:solidFill>
                <a:latin typeface="Sora"/>
                <a:ea typeface="Sora"/>
                <a:cs typeface="Sora"/>
                <a:sym typeface="Sora"/>
                <a:hlinkClick r:id="rId3"/>
              </a:rPr>
              <a:t>Backend</a:t>
            </a:r>
            <a:endParaRPr sz="1100"/>
          </a:p>
          <a:p>
            <a:pPr indent="0" lvl="0" marL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latin typeface="Sora"/>
                <a:ea typeface="Sora"/>
                <a:cs typeface="Sora"/>
                <a:sym typeface="Sora"/>
                <a:hlinkClick r:id="rId4"/>
              </a:rPr>
              <a:t>Frontend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t/>
            </a:r>
            <a:endParaRPr sz="1100"/>
          </a:p>
        </p:txBody>
      </p:sp>
      <p:sp>
        <p:nvSpPr>
          <p:cNvPr id="165" name="Google Shape;165;p28"/>
          <p:cNvSpPr/>
          <p:nvPr/>
        </p:nvSpPr>
        <p:spPr>
          <a:xfrm>
            <a:off x="473943" y="2971503"/>
            <a:ext cx="4030200" cy="1230300"/>
          </a:xfrm>
          <a:prstGeom prst="roundRect">
            <a:avLst>
              <a:gd fmla="val 7433" name="adj"/>
            </a:avLst>
          </a:prstGeom>
          <a:solidFill>
            <a:srgbClr val="FFFAF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8"/>
          <p:cNvSpPr/>
          <p:nvPr/>
        </p:nvSpPr>
        <p:spPr>
          <a:xfrm>
            <a:off x="473943" y="2952453"/>
            <a:ext cx="4030200" cy="76200"/>
          </a:xfrm>
          <a:prstGeom prst="roundRect">
            <a:avLst>
              <a:gd fmla="val 74638" name="adj"/>
            </a:avLst>
          </a:prstGeom>
          <a:solidFill>
            <a:srgbClr val="1A2D7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8"/>
          <p:cNvSpPr/>
          <p:nvPr/>
        </p:nvSpPr>
        <p:spPr>
          <a:xfrm>
            <a:off x="2285963" y="2768426"/>
            <a:ext cx="406200" cy="406200"/>
          </a:xfrm>
          <a:prstGeom prst="roundRect">
            <a:avLst>
              <a:gd fmla="val 140685" name="adj"/>
            </a:avLst>
          </a:prstGeom>
          <a:solidFill>
            <a:srgbClr val="1A2D7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8"/>
          <p:cNvSpPr/>
          <p:nvPr/>
        </p:nvSpPr>
        <p:spPr>
          <a:xfrm>
            <a:off x="2407853" y="2870002"/>
            <a:ext cx="162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lexandria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3</a:t>
            </a:r>
            <a:endParaRPr b="0" i="0" sz="1300" u="none" cap="none" strike="noStrike"/>
          </a:p>
        </p:txBody>
      </p:sp>
      <p:sp>
        <p:nvSpPr>
          <p:cNvPr id="169" name="Google Shape;169;p28"/>
          <p:cNvSpPr/>
          <p:nvPr/>
        </p:nvSpPr>
        <p:spPr>
          <a:xfrm>
            <a:off x="628353" y="3310012"/>
            <a:ext cx="17817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System Testing</a:t>
            </a:r>
            <a:endParaRPr b="0" i="0" sz="1400" u="none" cap="none" strike="noStrike"/>
          </a:p>
        </p:txBody>
      </p:sp>
      <p:sp>
        <p:nvSpPr>
          <p:cNvPr id="170" name="Google Shape;170;p28"/>
          <p:cNvSpPr/>
          <p:nvPr/>
        </p:nvSpPr>
        <p:spPr>
          <a:xfrm>
            <a:off x="628353" y="3613844"/>
            <a:ext cx="3721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en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End-to-end testing of complete modules and features, mimicking user scenarios.</a:t>
            </a:r>
            <a:endParaRPr b="0" i="0" sz="1100" u="none" cap="none" strike="noStrike"/>
          </a:p>
        </p:txBody>
      </p:sp>
      <p:sp>
        <p:nvSpPr>
          <p:cNvPr id="171" name="Google Shape;171;p28"/>
          <p:cNvSpPr/>
          <p:nvPr/>
        </p:nvSpPr>
        <p:spPr>
          <a:xfrm>
            <a:off x="4639643" y="2971503"/>
            <a:ext cx="4030500" cy="1230300"/>
          </a:xfrm>
          <a:prstGeom prst="roundRect">
            <a:avLst>
              <a:gd fmla="val 7433" name="adj"/>
            </a:avLst>
          </a:prstGeom>
          <a:solidFill>
            <a:srgbClr val="FFFAF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8"/>
          <p:cNvSpPr/>
          <p:nvPr/>
        </p:nvSpPr>
        <p:spPr>
          <a:xfrm>
            <a:off x="4639643" y="2952453"/>
            <a:ext cx="4030500" cy="76200"/>
          </a:xfrm>
          <a:prstGeom prst="roundRect">
            <a:avLst>
              <a:gd fmla="val 74638" name="adj"/>
            </a:avLst>
          </a:prstGeom>
          <a:solidFill>
            <a:srgbClr val="1A2D7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8"/>
          <p:cNvSpPr/>
          <p:nvPr/>
        </p:nvSpPr>
        <p:spPr>
          <a:xfrm>
            <a:off x="6451736" y="2768426"/>
            <a:ext cx="406200" cy="406200"/>
          </a:xfrm>
          <a:prstGeom prst="roundRect">
            <a:avLst>
              <a:gd fmla="val 140685" name="adj"/>
            </a:avLst>
          </a:prstGeom>
          <a:solidFill>
            <a:srgbClr val="1A2D7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8"/>
          <p:cNvSpPr/>
          <p:nvPr/>
        </p:nvSpPr>
        <p:spPr>
          <a:xfrm>
            <a:off x="6573627" y="2870002"/>
            <a:ext cx="162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lexandria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4</a:t>
            </a:r>
            <a:endParaRPr b="0" i="0" sz="1300" u="none" cap="none" strike="noStrike"/>
          </a:p>
        </p:txBody>
      </p:sp>
      <p:sp>
        <p:nvSpPr>
          <p:cNvPr id="175" name="Google Shape;175;p28"/>
          <p:cNvSpPr/>
          <p:nvPr/>
        </p:nvSpPr>
        <p:spPr>
          <a:xfrm>
            <a:off x="4794052" y="3310012"/>
            <a:ext cx="17817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UI/UX Testing</a:t>
            </a:r>
            <a:endParaRPr b="0" i="0" sz="1400" u="none" cap="none" strike="noStrike"/>
          </a:p>
        </p:txBody>
      </p:sp>
      <p:sp>
        <p:nvSpPr>
          <p:cNvPr id="176" name="Google Shape;176;p28"/>
          <p:cNvSpPr/>
          <p:nvPr/>
        </p:nvSpPr>
        <p:spPr>
          <a:xfrm>
            <a:off x="4794052" y="3613844"/>
            <a:ext cx="37218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en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Functional UI, cross-browser compatibility, responsiveness, and aesthetic reviews.</a:t>
            </a:r>
            <a:endParaRPr b="0" i="0" sz="1100" u="none" cap="none" strike="noStrike"/>
          </a:p>
        </p:txBody>
      </p:sp>
      <p:sp>
        <p:nvSpPr>
          <p:cNvPr id="177" name="Google Shape;177;p28"/>
          <p:cNvSpPr/>
          <p:nvPr/>
        </p:nvSpPr>
        <p:spPr>
          <a:xfrm>
            <a:off x="473943" y="4353967"/>
            <a:ext cx="81963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en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Our multi-faceted approach guarantees all critical aspects of the Fixly platform are thoroughly examined for quality.</a:t>
            </a:r>
            <a:endParaRPr b="0" i="0" sz="1100" u="none" cap="none" strike="noStrike"/>
          </a:p>
        </p:txBody>
      </p:sp>
      <p:sp>
        <p:nvSpPr>
          <p:cNvPr id="178" name="Google Shape;178;p28"/>
          <p:cNvSpPr txBox="1"/>
          <p:nvPr/>
        </p:nvSpPr>
        <p:spPr>
          <a:xfrm>
            <a:off x="4733575" y="21892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/>
          <p:nvPr/>
        </p:nvSpPr>
        <p:spPr>
          <a:xfrm>
            <a:off x="473943" y="572765"/>
            <a:ext cx="63597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200"/>
              <a:buFont typeface="Alexandria"/>
              <a:buNone/>
            </a:pPr>
            <a:r>
              <a:rPr lang="en" sz="2200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Mock Data and Tree Structure</a:t>
            </a:r>
            <a:endParaRPr sz="2200">
              <a:solidFill>
                <a:srgbClr val="1F1E1E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200"/>
              <a:buFont typeface="Alexandria"/>
              <a:buNone/>
            </a:pPr>
            <a:r>
              <a:t/>
            </a:r>
            <a:endParaRPr sz="2200">
              <a:solidFill>
                <a:srgbClr val="1F1E1E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5" name="Google Shape;185;p29"/>
          <p:cNvSpPr/>
          <p:nvPr/>
        </p:nvSpPr>
        <p:spPr>
          <a:xfrm>
            <a:off x="474000" y="1383870"/>
            <a:ext cx="4030200" cy="3263700"/>
          </a:xfrm>
          <a:prstGeom prst="roundRect">
            <a:avLst>
              <a:gd fmla="val 7433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9"/>
          <p:cNvSpPr/>
          <p:nvPr/>
        </p:nvSpPr>
        <p:spPr>
          <a:xfrm>
            <a:off x="473943" y="1383878"/>
            <a:ext cx="4030200" cy="76200"/>
          </a:xfrm>
          <a:prstGeom prst="roundRect">
            <a:avLst>
              <a:gd fmla="val 74638" name="adj"/>
            </a:avLst>
          </a:prstGeom>
          <a:solidFill>
            <a:srgbClr val="1A2D7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9"/>
          <p:cNvSpPr/>
          <p:nvPr/>
        </p:nvSpPr>
        <p:spPr>
          <a:xfrm>
            <a:off x="2285963" y="1199853"/>
            <a:ext cx="406200" cy="406200"/>
          </a:xfrm>
          <a:prstGeom prst="roundRect">
            <a:avLst>
              <a:gd fmla="val 140685" name="adj"/>
            </a:avLst>
          </a:prstGeom>
          <a:solidFill>
            <a:srgbClr val="1A2D7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9"/>
          <p:cNvSpPr/>
          <p:nvPr/>
        </p:nvSpPr>
        <p:spPr>
          <a:xfrm>
            <a:off x="2407853" y="1301428"/>
            <a:ext cx="162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lexandria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1</a:t>
            </a:r>
            <a:endParaRPr b="0" i="0" sz="1300" u="none" cap="none" strike="noStrike"/>
          </a:p>
        </p:txBody>
      </p:sp>
      <p:sp>
        <p:nvSpPr>
          <p:cNvPr id="189" name="Google Shape;189;p29"/>
          <p:cNvSpPr/>
          <p:nvPr/>
        </p:nvSpPr>
        <p:spPr>
          <a:xfrm>
            <a:off x="1598153" y="1656801"/>
            <a:ext cx="17817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lang="en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Mock Data Example</a:t>
            </a:r>
            <a:endParaRPr>
              <a:solidFill>
                <a:srgbClr val="3B353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90" name="Google Shape;190;p29"/>
          <p:cNvSpPr/>
          <p:nvPr/>
        </p:nvSpPr>
        <p:spPr>
          <a:xfrm>
            <a:off x="4639650" y="1402920"/>
            <a:ext cx="4030500" cy="3263700"/>
          </a:xfrm>
          <a:prstGeom prst="roundRect">
            <a:avLst>
              <a:gd fmla="val 7433" name="adj"/>
            </a:avLst>
          </a:prstGeom>
          <a:solidFill>
            <a:srgbClr val="FFFAF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9"/>
          <p:cNvSpPr/>
          <p:nvPr/>
        </p:nvSpPr>
        <p:spPr>
          <a:xfrm>
            <a:off x="4639643" y="1383878"/>
            <a:ext cx="4030500" cy="76200"/>
          </a:xfrm>
          <a:prstGeom prst="roundRect">
            <a:avLst>
              <a:gd fmla="val 74638" name="adj"/>
            </a:avLst>
          </a:prstGeom>
          <a:solidFill>
            <a:srgbClr val="1A2D7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9"/>
          <p:cNvSpPr/>
          <p:nvPr/>
        </p:nvSpPr>
        <p:spPr>
          <a:xfrm>
            <a:off x="6451736" y="1199853"/>
            <a:ext cx="406200" cy="406200"/>
          </a:xfrm>
          <a:prstGeom prst="roundRect">
            <a:avLst>
              <a:gd fmla="val 140685" name="adj"/>
            </a:avLst>
          </a:prstGeom>
          <a:solidFill>
            <a:srgbClr val="1A2D7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9"/>
          <p:cNvSpPr/>
          <p:nvPr/>
        </p:nvSpPr>
        <p:spPr>
          <a:xfrm>
            <a:off x="6573627" y="1301428"/>
            <a:ext cx="162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lexandria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2</a:t>
            </a:r>
            <a:endParaRPr b="0" i="0" sz="1300" u="none" cap="none" strike="noStrike"/>
          </a:p>
        </p:txBody>
      </p:sp>
      <p:sp>
        <p:nvSpPr>
          <p:cNvPr id="194" name="Google Shape;194;p29"/>
          <p:cNvSpPr/>
          <p:nvPr/>
        </p:nvSpPr>
        <p:spPr>
          <a:xfrm>
            <a:off x="5662674" y="1660200"/>
            <a:ext cx="19842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lang="en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Testing Tree Structure</a:t>
            </a:r>
            <a:endParaRPr b="0" i="0" sz="1400" u="none" cap="none" strike="noStrike"/>
          </a:p>
        </p:txBody>
      </p:sp>
      <p:pic>
        <p:nvPicPr>
          <p:cNvPr id="195" name="Google Shape;19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375" y="1930150"/>
            <a:ext cx="3187446" cy="283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9"/>
          <p:cNvPicPr preferRelativeResize="0"/>
          <p:nvPr/>
        </p:nvPicPr>
        <p:blipFill rotWithShape="1">
          <a:blip r:embed="rId4">
            <a:alphaModFix/>
          </a:blip>
          <a:srcRect b="0" l="0" r="12907" t="0"/>
          <a:stretch/>
        </p:blipFill>
        <p:spPr>
          <a:xfrm>
            <a:off x="4639651" y="1936950"/>
            <a:ext cx="2302900" cy="283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78000" y="1936949"/>
            <a:ext cx="1592150" cy="1981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/>
          <p:nvPr/>
        </p:nvSpPr>
        <p:spPr>
          <a:xfrm>
            <a:off x="439713" y="345504"/>
            <a:ext cx="66237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100"/>
              <a:buFont typeface="Alexandria"/>
              <a:buNone/>
            </a:pPr>
            <a:r>
              <a:rPr b="0" i="0" lang="en" sz="2100" u="none" cap="none" strike="noStrike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System Robustness: The Foundation of Reliability</a:t>
            </a:r>
            <a:endParaRPr b="0" i="0" sz="2100" u="none" cap="none" strike="noStrike"/>
          </a:p>
        </p:txBody>
      </p:sp>
      <p:pic>
        <p:nvPicPr>
          <p:cNvPr descr="preencoded.png" id="204" name="Google Shape;20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713" y="1005855"/>
            <a:ext cx="3979072" cy="397907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0"/>
          <p:cNvSpPr/>
          <p:nvPr/>
        </p:nvSpPr>
        <p:spPr>
          <a:xfrm>
            <a:off x="4729981" y="990154"/>
            <a:ext cx="1983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53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500"/>
              <a:buFont typeface="Alexandria"/>
              <a:buNone/>
            </a:pPr>
            <a:r>
              <a:rPr lang="en" sz="1500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Test </a:t>
            </a:r>
            <a:r>
              <a:rPr b="0" i="0" lang="en" sz="1500" u="none" cap="none" strike="noStrike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Strength</a:t>
            </a:r>
            <a:endParaRPr b="0" i="0" sz="1500" u="none" cap="none" strike="noStrike"/>
          </a:p>
        </p:txBody>
      </p:sp>
      <p:sp>
        <p:nvSpPr>
          <p:cNvPr id="206" name="Google Shape;206;p30"/>
          <p:cNvSpPr/>
          <p:nvPr/>
        </p:nvSpPr>
        <p:spPr>
          <a:xfrm>
            <a:off x="4729981" y="1363712"/>
            <a:ext cx="39792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00"/>
              <a:buFont typeface="Sora"/>
              <a:buNone/>
            </a:pPr>
            <a:r>
              <a:rPr b="0" i="0" lang="en" sz="10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A total of </a:t>
            </a:r>
            <a:r>
              <a:rPr b="1" i="0" lang="en" sz="10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215 backend unit and integration tests and 358 Frontend unit tests </a:t>
            </a:r>
            <a:r>
              <a:rPr b="0" i="0" lang="en" sz="10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 have been successfully passed, demonstrating the core stability and reliability of the Fixly platform's server-side logic and database interactions.</a:t>
            </a:r>
            <a:endParaRPr b="0" i="0" sz="1000" u="none" cap="none" strike="noStrike"/>
          </a:p>
        </p:txBody>
      </p:sp>
      <p:sp>
        <p:nvSpPr>
          <p:cNvPr id="207" name="Google Shape;207;p30"/>
          <p:cNvSpPr/>
          <p:nvPr/>
        </p:nvSpPr>
        <p:spPr>
          <a:xfrm>
            <a:off x="4720560" y="2387300"/>
            <a:ext cx="23334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53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500"/>
              <a:buFont typeface="Alexandria"/>
              <a:buNone/>
            </a:pPr>
            <a:r>
              <a:rPr lang="en" sz="1500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Frontend Testing </a:t>
            </a:r>
            <a:r>
              <a:rPr lang="en" sz="1500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Result</a:t>
            </a:r>
            <a:endParaRPr sz="1500">
              <a:solidFill>
                <a:srgbClr val="1F1E1E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653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500"/>
              <a:buFont typeface="Alexandria"/>
              <a:buNone/>
            </a:pPr>
            <a:r>
              <a:rPr b="0" i="0" lang="en" sz="1500" u="none" cap="none" strike="noStrike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 </a:t>
            </a:r>
            <a:endParaRPr b="0" i="0" sz="1500" u="none" cap="none" strike="noStrike"/>
          </a:p>
        </p:txBody>
      </p:sp>
      <p:pic>
        <p:nvPicPr>
          <p:cNvPr id="208" name="Google Shape;20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9972" y="2635105"/>
            <a:ext cx="2314575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0"/>
          <p:cNvPicPr preferRelativeResize="0"/>
          <p:nvPr/>
        </p:nvPicPr>
        <p:blipFill rotWithShape="1">
          <a:blip r:embed="rId5">
            <a:alphaModFix/>
          </a:blip>
          <a:srcRect b="0" l="0" r="19120" t="0"/>
          <a:stretch/>
        </p:blipFill>
        <p:spPr>
          <a:xfrm>
            <a:off x="4729975" y="3784447"/>
            <a:ext cx="2314574" cy="94325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0"/>
          <p:cNvSpPr/>
          <p:nvPr/>
        </p:nvSpPr>
        <p:spPr>
          <a:xfrm>
            <a:off x="4720573" y="3540750"/>
            <a:ext cx="23334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53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500"/>
              <a:buFont typeface="Alexandria"/>
              <a:buNone/>
            </a:pPr>
            <a:r>
              <a:rPr lang="en" sz="1500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Backend </a:t>
            </a:r>
            <a:r>
              <a:rPr lang="en" sz="1500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Testing Result</a:t>
            </a:r>
            <a:endParaRPr sz="1500">
              <a:solidFill>
                <a:srgbClr val="1F1E1E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653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500"/>
              <a:buFont typeface="Alexandria"/>
              <a:buNone/>
            </a:pPr>
            <a:r>
              <a:rPr b="0" i="0" lang="en" sz="1500" u="none" cap="none" strike="noStrike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 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6" name="Google Shape;21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1"/>
          <p:cNvSpPr/>
          <p:nvPr/>
        </p:nvSpPr>
        <p:spPr>
          <a:xfrm>
            <a:off x="473943" y="463898"/>
            <a:ext cx="4767300" cy="10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200"/>
              <a:buFont typeface="Alexandria"/>
              <a:buNone/>
            </a:pPr>
            <a:r>
              <a:rPr b="0" i="0" lang="en" sz="2000" u="none" cap="none" strike="noStrike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Outstanding Test Results: Functional, Cross-Browser &amp; Responsiveness</a:t>
            </a:r>
            <a:endParaRPr b="0" i="0" sz="2000" u="none" cap="none" strike="noStrike"/>
          </a:p>
        </p:txBody>
      </p:sp>
      <p:sp>
        <p:nvSpPr>
          <p:cNvPr id="218" name="Google Shape;218;p31"/>
          <p:cNvSpPr/>
          <p:nvPr/>
        </p:nvSpPr>
        <p:spPr>
          <a:xfrm>
            <a:off x="548349" y="1356609"/>
            <a:ext cx="14763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3500"/>
              <a:buFont typeface="Alexandria"/>
              <a:buNone/>
            </a:pPr>
            <a:r>
              <a:rPr b="0" i="0" lang="en" sz="30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19/ 19</a:t>
            </a:r>
            <a:endParaRPr b="0" i="0" sz="3000" u="none" cap="none" strike="noStrike"/>
          </a:p>
        </p:txBody>
      </p:sp>
      <p:sp>
        <p:nvSpPr>
          <p:cNvPr id="219" name="Google Shape;219;p31"/>
          <p:cNvSpPr/>
          <p:nvPr/>
        </p:nvSpPr>
        <p:spPr>
          <a:xfrm>
            <a:off x="473943" y="1882061"/>
            <a:ext cx="14763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Functional Tests Passed</a:t>
            </a:r>
            <a:endParaRPr b="0" i="0" sz="1400" u="none" cap="none" strike="noStrike"/>
          </a:p>
        </p:txBody>
      </p:sp>
      <p:sp>
        <p:nvSpPr>
          <p:cNvPr id="220" name="Google Shape;220;p31"/>
          <p:cNvSpPr/>
          <p:nvPr/>
        </p:nvSpPr>
        <p:spPr>
          <a:xfrm>
            <a:off x="548326" y="2516041"/>
            <a:ext cx="1476300" cy="17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en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All core functionalities, including login, booking, profile management, and admin tasks, are validated and working flawlessly.</a:t>
            </a:r>
            <a:endParaRPr b="0" i="0" sz="1100" u="none" cap="none" strike="noStrike"/>
          </a:p>
        </p:txBody>
      </p:sp>
      <p:sp>
        <p:nvSpPr>
          <p:cNvPr id="221" name="Google Shape;221;p31"/>
          <p:cNvSpPr/>
          <p:nvPr/>
        </p:nvSpPr>
        <p:spPr>
          <a:xfrm>
            <a:off x="2119363" y="1356617"/>
            <a:ext cx="14763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3500"/>
              <a:buFont typeface="Alexandria"/>
              <a:buNone/>
            </a:pPr>
            <a:r>
              <a:rPr b="0" i="0" lang="en" sz="30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4/ 4</a:t>
            </a:r>
            <a:endParaRPr b="0" i="0" sz="3000" u="none" cap="none" strike="noStrike"/>
          </a:p>
        </p:txBody>
      </p:sp>
      <p:sp>
        <p:nvSpPr>
          <p:cNvPr id="222" name="Google Shape;222;p31"/>
          <p:cNvSpPr/>
          <p:nvPr/>
        </p:nvSpPr>
        <p:spPr>
          <a:xfrm>
            <a:off x="2119387" y="1882069"/>
            <a:ext cx="14763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Cross-Browser Compatibility</a:t>
            </a:r>
            <a:endParaRPr b="0" i="0" sz="1400" u="none" cap="none" strike="noStrike"/>
          </a:p>
        </p:txBody>
      </p:sp>
      <p:sp>
        <p:nvSpPr>
          <p:cNvPr id="223" name="Google Shape;223;p31"/>
          <p:cNvSpPr/>
          <p:nvPr/>
        </p:nvSpPr>
        <p:spPr>
          <a:xfrm>
            <a:off x="2156559" y="2516080"/>
            <a:ext cx="1476300" cy="17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en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Fixly performs consistently across Chrome, Edge, Firefox, and Safari, ensuring a broad reach for all users. Only minor visual differences observed.</a:t>
            </a:r>
            <a:endParaRPr b="0" i="0" sz="1100" u="none" cap="none" strike="noStrike"/>
          </a:p>
        </p:txBody>
      </p:sp>
      <p:sp>
        <p:nvSpPr>
          <p:cNvPr id="224" name="Google Shape;224;p31"/>
          <p:cNvSpPr/>
          <p:nvPr/>
        </p:nvSpPr>
        <p:spPr>
          <a:xfrm>
            <a:off x="3764784" y="1356617"/>
            <a:ext cx="14763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3500"/>
              <a:buFont typeface="Alexandria"/>
              <a:buNone/>
            </a:pPr>
            <a:r>
              <a:rPr b="0" i="0" lang="en" sz="30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10/ 10</a:t>
            </a:r>
            <a:endParaRPr b="0" i="0" sz="3000" u="none" cap="none" strike="noStrike"/>
          </a:p>
        </p:txBody>
      </p:sp>
      <p:sp>
        <p:nvSpPr>
          <p:cNvPr id="225" name="Google Shape;225;p31"/>
          <p:cNvSpPr/>
          <p:nvPr/>
        </p:nvSpPr>
        <p:spPr>
          <a:xfrm>
            <a:off x="3764846" y="1882069"/>
            <a:ext cx="14763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Responsiveness Score</a:t>
            </a:r>
            <a:endParaRPr b="0" i="0" sz="1400" u="none" cap="none" strike="noStrike"/>
          </a:p>
        </p:txBody>
      </p:sp>
      <p:sp>
        <p:nvSpPr>
          <p:cNvPr id="226" name="Google Shape;226;p31"/>
          <p:cNvSpPr/>
          <p:nvPr/>
        </p:nvSpPr>
        <p:spPr>
          <a:xfrm>
            <a:off x="3764799" y="2516080"/>
            <a:ext cx="1476300" cy="17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en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Tested across 6 different screen sizes, the platform adapts perfectly to mobile, tablet, and desktop views, providing an optimal experience regardless of device.</a:t>
            </a:r>
            <a:endParaRPr b="0" i="0" sz="1100" u="none" cap="none" strike="noStrike"/>
          </a:p>
        </p:txBody>
      </p:sp>
      <p:cxnSp>
        <p:nvCxnSpPr>
          <p:cNvPr id="227" name="Google Shape;227;p31"/>
          <p:cNvCxnSpPr/>
          <p:nvPr/>
        </p:nvCxnSpPr>
        <p:spPr>
          <a:xfrm>
            <a:off x="2075328" y="1405594"/>
            <a:ext cx="8400" cy="3390000"/>
          </a:xfrm>
          <a:prstGeom prst="straightConnector1">
            <a:avLst/>
          </a:prstGeom>
          <a:noFill/>
          <a:ln cap="flat" cmpd="sng" w="59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31"/>
          <p:cNvCxnSpPr/>
          <p:nvPr/>
        </p:nvCxnSpPr>
        <p:spPr>
          <a:xfrm>
            <a:off x="3667128" y="1385089"/>
            <a:ext cx="8400" cy="3390000"/>
          </a:xfrm>
          <a:prstGeom prst="straightConnector1">
            <a:avLst/>
          </a:prstGeom>
          <a:noFill/>
          <a:ln cap="flat" cmpd="sng" w="59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/>
          <p:nvPr/>
        </p:nvSpPr>
        <p:spPr>
          <a:xfrm>
            <a:off x="473943" y="1224781"/>
            <a:ext cx="46977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200"/>
              <a:buFont typeface="Alexandria"/>
              <a:buNone/>
            </a:pPr>
            <a:r>
              <a:rPr b="0" i="0" lang="en" sz="2200" u="none" cap="none" strike="noStrike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Comprehensive Testing Artifacts</a:t>
            </a:r>
            <a:endParaRPr b="0" i="0" sz="2200" u="none" cap="none" strike="noStrike"/>
          </a:p>
        </p:txBody>
      </p:sp>
      <p:sp>
        <p:nvSpPr>
          <p:cNvPr id="235" name="Google Shape;235;p32"/>
          <p:cNvSpPr/>
          <p:nvPr/>
        </p:nvSpPr>
        <p:spPr>
          <a:xfrm>
            <a:off x="473943" y="1851868"/>
            <a:ext cx="81963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en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Our rigorous testing process has generated a suite of detailed documentation:</a:t>
            </a:r>
            <a:endParaRPr b="0" i="0" sz="1100" u="none" cap="none" strike="noStrike"/>
          </a:p>
        </p:txBody>
      </p:sp>
      <p:sp>
        <p:nvSpPr>
          <p:cNvPr id="236" name="Google Shape;236;p32"/>
          <p:cNvSpPr/>
          <p:nvPr/>
        </p:nvSpPr>
        <p:spPr>
          <a:xfrm>
            <a:off x="473943" y="2220888"/>
            <a:ext cx="8196300" cy="1328700"/>
          </a:xfrm>
          <a:prstGeom prst="roundRect">
            <a:avLst>
              <a:gd fmla="val 4280" name="adj"/>
            </a:avLst>
          </a:prstGeom>
          <a:solidFill>
            <a:srgbClr val="D5DCF6"/>
          </a:solidFill>
          <a:ln cap="flat" cmpd="sng" w="5950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2"/>
          <p:cNvSpPr/>
          <p:nvPr/>
        </p:nvSpPr>
        <p:spPr>
          <a:xfrm>
            <a:off x="478706" y="2225650"/>
            <a:ext cx="2728800" cy="1319400"/>
          </a:xfrm>
          <a:prstGeom prst="roundRect">
            <a:avLst>
              <a:gd fmla="val 4311" name="adj"/>
            </a:avLst>
          </a:prstGeom>
          <a:solidFill>
            <a:srgbClr val="D2D2E0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2"/>
          <p:cNvSpPr/>
          <p:nvPr/>
        </p:nvSpPr>
        <p:spPr>
          <a:xfrm>
            <a:off x="614065" y="2361009"/>
            <a:ext cx="22878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Strategic Documentation</a:t>
            </a:r>
            <a:endParaRPr b="0" i="0" sz="1400" u="none" cap="none" strike="noStrike"/>
          </a:p>
        </p:txBody>
      </p:sp>
      <p:sp>
        <p:nvSpPr>
          <p:cNvPr id="239" name="Google Shape;239;p32"/>
          <p:cNvSpPr/>
          <p:nvPr/>
        </p:nvSpPr>
        <p:spPr>
          <a:xfrm>
            <a:off x="614065" y="2664842"/>
            <a:ext cx="2458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2250" lvl="0" marL="215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Char char="•"/>
            </a:pPr>
            <a:r>
              <a:rPr b="0" i="0" lang="en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Test Plan (Strategy &amp; Coverage)</a:t>
            </a:r>
            <a:endParaRPr b="0" i="0" sz="1100" u="none" cap="none" strike="noStrike"/>
          </a:p>
        </p:txBody>
      </p:sp>
      <p:sp>
        <p:nvSpPr>
          <p:cNvPr id="240" name="Google Shape;240;p32"/>
          <p:cNvSpPr/>
          <p:nvPr/>
        </p:nvSpPr>
        <p:spPr>
          <a:xfrm>
            <a:off x="614065" y="2928863"/>
            <a:ext cx="2458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2250" lvl="0" marL="215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Char char="•"/>
            </a:pPr>
            <a:r>
              <a:rPr b="0" i="0" lang="en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UI/UX Improvement Log</a:t>
            </a:r>
            <a:endParaRPr b="0" i="0" sz="1100" u="none" cap="none" strike="noStrike"/>
          </a:p>
        </p:txBody>
      </p:sp>
      <p:sp>
        <p:nvSpPr>
          <p:cNvPr id="241" name="Google Shape;241;p32"/>
          <p:cNvSpPr/>
          <p:nvPr/>
        </p:nvSpPr>
        <p:spPr>
          <a:xfrm>
            <a:off x="3207544" y="2225650"/>
            <a:ext cx="2728800" cy="1319400"/>
          </a:xfrm>
          <a:prstGeom prst="rect">
            <a:avLst/>
          </a:prstGeom>
          <a:solidFill>
            <a:srgbClr val="D2D2E0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2"/>
          <p:cNvSpPr/>
          <p:nvPr/>
        </p:nvSpPr>
        <p:spPr>
          <a:xfrm>
            <a:off x="3207544" y="2225650"/>
            <a:ext cx="19200" cy="1319400"/>
          </a:xfrm>
          <a:prstGeom prst="roundRect">
            <a:avLst>
              <a:gd fmla="val 298550" name="adj"/>
            </a:avLst>
          </a:prstGeom>
          <a:solidFill>
            <a:srgbClr val="BBC2DC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2"/>
          <p:cNvSpPr/>
          <p:nvPr/>
        </p:nvSpPr>
        <p:spPr>
          <a:xfrm>
            <a:off x="3342903" y="2361009"/>
            <a:ext cx="17817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Detailed Reports</a:t>
            </a:r>
            <a:endParaRPr b="0" i="0" sz="1400" u="none" cap="none" strike="noStrike"/>
          </a:p>
        </p:txBody>
      </p:sp>
      <p:sp>
        <p:nvSpPr>
          <p:cNvPr id="244" name="Google Shape;244;p32"/>
          <p:cNvSpPr/>
          <p:nvPr/>
        </p:nvSpPr>
        <p:spPr>
          <a:xfrm>
            <a:off x="3342903" y="2664842"/>
            <a:ext cx="2458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2250" lvl="0" marL="215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Char char="•"/>
            </a:pPr>
            <a:r>
              <a:rPr b="0" i="0" lang="en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Functional UI Report</a:t>
            </a:r>
            <a:endParaRPr b="0" i="0" sz="1100" u="none" cap="none" strike="noStrike"/>
          </a:p>
        </p:txBody>
      </p:sp>
      <p:sp>
        <p:nvSpPr>
          <p:cNvPr id="245" name="Google Shape;245;p32"/>
          <p:cNvSpPr/>
          <p:nvPr/>
        </p:nvSpPr>
        <p:spPr>
          <a:xfrm>
            <a:off x="3342903" y="2928863"/>
            <a:ext cx="2458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2250" lvl="0" marL="215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Char char="•"/>
            </a:pPr>
            <a:r>
              <a:rPr b="0" i="0" lang="en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Cross-Browser Report</a:t>
            </a:r>
            <a:endParaRPr b="0" i="0" sz="1100" u="none" cap="none" strike="noStrike"/>
          </a:p>
        </p:txBody>
      </p:sp>
      <p:sp>
        <p:nvSpPr>
          <p:cNvPr id="246" name="Google Shape;246;p32"/>
          <p:cNvSpPr/>
          <p:nvPr/>
        </p:nvSpPr>
        <p:spPr>
          <a:xfrm>
            <a:off x="3342903" y="3192884"/>
            <a:ext cx="2458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2250" lvl="0" marL="215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Char char="•"/>
            </a:pPr>
            <a:r>
              <a:rPr b="0" i="0" lang="en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Responsiveness Report</a:t>
            </a:r>
            <a:endParaRPr b="0" i="0" sz="1100" u="none" cap="none" strike="noStrike"/>
          </a:p>
        </p:txBody>
      </p:sp>
      <p:sp>
        <p:nvSpPr>
          <p:cNvPr id="247" name="Google Shape;247;p32"/>
          <p:cNvSpPr/>
          <p:nvPr/>
        </p:nvSpPr>
        <p:spPr>
          <a:xfrm>
            <a:off x="5936382" y="2225650"/>
            <a:ext cx="2728800" cy="1319400"/>
          </a:xfrm>
          <a:prstGeom prst="rect">
            <a:avLst/>
          </a:prstGeom>
          <a:solidFill>
            <a:srgbClr val="D2D2E0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2"/>
          <p:cNvSpPr/>
          <p:nvPr/>
        </p:nvSpPr>
        <p:spPr>
          <a:xfrm>
            <a:off x="5936382" y="2225650"/>
            <a:ext cx="19200" cy="1319400"/>
          </a:xfrm>
          <a:prstGeom prst="roundRect">
            <a:avLst>
              <a:gd fmla="val 298550" name="adj"/>
            </a:avLst>
          </a:prstGeom>
          <a:solidFill>
            <a:srgbClr val="BBC2DC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2"/>
          <p:cNvSpPr/>
          <p:nvPr/>
        </p:nvSpPr>
        <p:spPr>
          <a:xfrm>
            <a:off x="6071741" y="2361009"/>
            <a:ext cx="17817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Supporting Files</a:t>
            </a:r>
            <a:endParaRPr b="0" i="0" sz="1400" u="none" cap="none" strike="noStrike"/>
          </a:p>
        </p:txBody>
      </p:sp>
      <p:sp>
        <p:nvSpPr>
          <p:cNvPr id="250" name="Google Shape;250;p32"/>
          <p:cNvSpPr/>
          <p:nvPr/>
        </p:nvSpPr>
        <p:spPr>
          <a:xfrm>
            <a:off x="6071741" y="2664842"/>
            <a:ext cx="2458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2250" lvl="0" marL="215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Char char="•"/>
            </a:pPr>
            <a:r>
              <a:rPr b="0" i="0" lang="en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UI Review Checklist</a:t>
            </a:r>
            <a:endParaRPr b="0" i="0" sz="1100" u="none" cap="none" strike="noStrike"/>
          </a:p>
        </p:txBody>
      </p:sp>
      <p:sp>
        <p:nvSpPr>
          <p:cNvPr id="251" name="Google Shape;251;p32"/>
          <p:cNvSpPr/>
          <p:nvPr/>
        </p:nvSpPr>
        <p:spPr>
          <a:xfrm>
            <a:off x="6071741" y="2928863"/>
            <a:ext cx="2458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2250" lvl="0" marL="215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Char char="•"/>
            </a:pPr>
            <a:r>
              <a:rPr b="0" i="0" lang="en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Backend Jest Test Summary</a:t>
            </a:r>
            <a:endParaRPr b="0" i="0" sz="1100" u="none" cap="none" strike="noStrike"/>
          </a:p>
        </p:txBody>
      </p:sp>
      <p:sp>
        <p:nvSpPr>
          <p:cNvPr id="252" name="Google Shape;252;p32"/>
          <p:cNvSpPr/>
          <p:nvPr/>
        </p:nvSpPr>
        <p:spPr>
          <a:xfrm>
            <a:off x="6071741" y="3192884"/>
            <a:ext cx="2458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2250" lvl="0" marL="215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Char char="•"/>
            </a:pPr>
            <a:r>
              <a:rPr b="0" i="0" lang="en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Sample Test Data</a:t>
            </a:r>
            <a:endParaRPr b="0" i="0" sz="1100" u="none" cap="none" strike="noStrike"/>
          </a:p>
        </p:txBody>
      </p:sp>
      <p:sp>
        <p:nvSpPr>
          <p:cNvPr id="253" name="Google Shape;253;p32"/>
          <p:cNvSpPr/>
          <p:nvPr/>
        </p:nvSpPr>
        <p:spPr>
          <a:xfrm>
            <a:off x="473943" y="3702025"/>
            <a:ext cx="81963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en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These artifacts serve as a transparent record of our quality assurance efforts.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/>
          <p:nvPr/>
        </p:nvSpPr>
        <p:spPr>
          <a:xfrm>
            <a:off x="473943" y="953393"/>
            <a:ext cx="47568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200"/>
              <a:buFont typeface="Alexandria"/>
              <a:buNone/>
            </a:pPr>
            <a:r>
              <a:rPr b="0" i="0" lang="en" sz="2200" u="none" cap="none" strike="noStrike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Fixly Platform: Ready for Launch!</a:t>
            </a:r>
            <a:endParaRPr b="0" i="0" sz="2200" u="none" cap="none" strike="noStrike"/>
          </a:p>
        </p:txBody>
      </p:sp>
      <p:sp>
        <p:nvSpPr>
          <p:cNvPr id="260" name="Google Shape;260;p33"/>
          <p:cNvSpPr/>
          <p:nvPr/>
        </p:nvSpPr>
        <p:spPr>
          <a:xfrm>
            <a:off x="473943" y="1580480"/>
            <a:ext cx="2641800" cy="1456800"/>
          </a:xfrm>
          <a:prstGeom prst="roundRect">
            <a:avLst>
              <a:gd fmla="val 22309" name="adj"/>
            </a:avLst>
          </a:prstGeom>
          <a:solidFill>
            <a:srgbClr val="D2D2E0"/>
          </a:solidFill>
          <a:ln cap="flat" cmpd="sng" w="5950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3"/>
          <p:cNvSpPr/>
          <p:nvPr/>
        </p:nvSpPr>
        <p:spPr>
          <a:xfrm>
            <a:off x="614065" y="1720602"/>
            <a:ext cx="23616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en" sz="13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All Major Categories</a:t>
            </a:r>
            <a:r>
              <a:rPr lang="en" sz="1300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 </a:t>
            </a:r>
            <a:r>
              <a:rPr b="0" i="0" lang="en" sz="13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Passed</a:t>
            </a:r>
            <a:endParaRPr b="0" i="0" sz="1300" u="none" cap="none" strike="noStrike"/>
          </a:p>
        </p:txBody>
      </p:sp>
      <p:sp>
        <p:nvSpPr>
          <p:cNvPr id="262" name="Google Shape;262;p33"/>
          <p:cNvSpPr/>
          <p:nvPr/>
        </p:nvSpPr>
        <p:spPr>
          <a:xfrm>
            <a:off x="614015" y="2024431"/>
            <a:ext cx="23616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en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Every aspect of the platform has been thoroughly tested and approved.</a:t>
            </a:r>
            <a:endParaRPr b="0" i="0" sz="1100" u="none" cap="none" strike="noStrike"/>
          </a:p>
        </p:txBody>
      </p:sp>
      <p:sp>
        <p:nvSpPr>
          <p:cNvPr id="263" name="Google Shape;263;p33"/>
          <p:cNvSpPr/>
          <p:nvPr/>
        </p:nvSpPr>
        <p:spPr>
          <a:xfrm>
            <a:off x="3251076" y="1580480"/>
            <a:ext cx="2641800" cy="1456800"/>
          </a:xfrm>
          <a:prstGeom prst="roundRect">
            <a:avLst>
              <a:gd fmla="val 22309" name="adj"/>
            </a:avLst>
          </a:prstGeom>
          <a:solidFill>
            <a:srgbClr val="D2D2E0"/>
          </a:solidFill>
          <a:ln cap="flat" cmpd="sng" w="5950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3"/>
          <p:cNvSpPr/>
          <p:nvPr/>
        </p:nvSpPr>
        <p:spPr>
          <a:xfrm>
            <a:off x="3391198" y="1720602"/>
            <a:ext cx="22692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100% Functional Success</a:t>
            </a:r>
            <a:endParaRPr b="0" i="0" sz="1400" u="none" cap="none" strike="noStrike"/>
          </a:p>
        </p:txBody>
      </p:sp>
      <p:sp>
        <p:nvSpPr>
          <p:cNvPr id="265" name="Google Shape;265;p33"/>
          <p:cNvSpPr/>
          <p:nvPr/>
        </p:nvSpPr>
        <p:spPr>
          <a:xfrm>
            <a:off x="3391198" y="2024434"/>
            <a:ext cx="23616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en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Core features are fully operational, delivering on user expectations.</a:t>
            </a:r>
            <a:endParaRPr b="0" i="0" sz="1100" u="none" cap="none" strike="noStrike"/>
          </a:p>
        </p:txBody>
      </p:sp>
      <p:sp>
        <p:nvSpPr>
          <p:cNvPr id="266" name="Google Shape;266;p33"/>
          <p:cNvSpPr/>
          <p:nvPr/>
        </p:nvSpPr>
        <p:spPr>
          <a:xfrm>
            <a:off x="6028209" y="1580480"/>
            <a:ext cx="2641800" cy="1456800"/>
          </a:xfrm>
          <a:prstGeom prst="roundRect">
            <a:avLst>
              <a:gd fmla="val 22309" name="adj"/>
            </a:avLst>
          </a:prstGeom>
          <a:solidFill>
            <a:srgbClr val="D2D2E0"/>
          </a:solidFill>
          <a:ln cap="flat" cmpd="sng" w="5950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3"/>
          <p:cNvSpPr/>
          <p:nvPr/>
        </p:nvSpPr>
        <p:spPr>
          <a:xfrm>
            <a:off x="6168331" y="1720602"/>
            <a:ext cx="21144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No High-Severity Issues</a:t>
            </a:r>
            <a:endParaRPr b="0" i="0" sz="1400" u="none" cap="none" strike="noStrike"/>
          </a:p>
        </p:txBody>
      </p:sp>
      <p:sp>
        <p:nvSpPr>
          <p:cNvPr id="268" name="Google Shape;268;p33"/>
          <p:cNvSpPr/>
          <p:nvPr/>
        </p:nvSpPr>
        <p:spPr>
          <a:xfrm>
            <a:off x="6168331" y="2024434"/>
            <a:ext cx="23616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en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The platform is stable and free from critical bugs.</a:t>
            </a:r>
            <a:endParaRPr b="0" i="0" sz="1100" u="none" cap="none" strike="noStrike"/>
          </a:p>
        </p:txBody>
      </p:sp>
      <p:sp>
        <p:nvSpPr>
          <p:cNvPr id="269" name="Google Shape;269;p33"/>
          <p:cNvSpPr/>
          <p:nvPr/>
        </p:nvSpPr>
        <p:spPr>
          <a:xfrm>
            <a:off x="473943" y="3172644"/>
            <a:ext cx="4030200" cy="1017300"/>
          </a:xfrm>
          <a:prstGeom prst="roundRect">
            <a:avLst>
              <a:gd fmla="val 31942" name="adj"/>
            </a:avLst>
          </a:prstGeom>
          <a:solidFill>
            <a:srgbClr val="D2D2E0"/>
          </a:solidFill>
          <a:ln cap="flat" cmpd="sng" w="5950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3"/>
          <p:cNvSpPr/>
          <p:nvPr/>
        </p:nvSpPr>
        <p:spPr>
          <a:xfrm>
            <a:off x="614065" y="3312765"/>
            <a:ext cx="17817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Robust &amp; Adaptive</a:t>
            </a:r>
            <a:endParaRPr b="0" i="0" sz="1400" u="none" cap="none" strike="noStrike"/>
          </a:p>
        </p:txBody>
      </p:sp>
      <p:sp>
        <p:nvSpPr>
          <p:cNvPr id="271" name="Google Shape;271;p33"/>
          <p:cNvSpPr/>
          <p:nvPr/>
        </p:nvSpPr>
        <p:spPr>
          <a:xfrm>
            <a:off x="614065" y="3616598"/>
            <a:ext cx="37503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en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Consistent performance across browsers, devices, and modules.</a:t>
            </a:r>
            <a:endParaRPr b="0" i="0" sz="1100" u="none" cap="none" strike="noStrike"/>
          </a:p>
        </p:txBody>
      </p:sp>
      <p:sp>
        <p:nvSpPr>
          <p:cNvPr id="272" name="Google Shape;272;p33"/>
          <p:cNvSpPr/>
          <p:nvPr/>
        </p:nvSpPr>
        <p:spPr>
          <a:xfrm>
            <a:off x="4639643" y="3172644"/>
            <a:ext cx="4030500" cy="1017300"/>
          </a:xfrm>
          <a:prstGeom prst="roundRect">
            <a:avLst>
              <a:gd fmla="val 31942" name="adj"/>
            </a:avLst>
          </a:prstGeom>
          <a:solidFill>
            <a:srgbClr val="D2D2E0"/>
          </a:solidFill>
          <a:ln cap="flat" cmpd="sng" w="5950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3"/>
          <p:cNvSpPr/>
          <p:nvPr/>
        </p:nvSpPr>
        <p:spPr>
          <a:xfrm>
            <a:off x="4779764" y="3312765"/>
            <a:ext cx="19059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en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Optimized for Future</a:t>
            </a:r>
            <a:endParaRPr b="0" i="0" sz="1400" u="none" cap="none" strike="noStrike"/>
          </a:p>
        </p:txBody>
      </p:sp>
      <p:sp>
        <p:nvSpPr>
          <p:cNvPr id="274" name="Google Shape;274;p33"/>
          <p:cNvSpPr/>
          <p:nvPr/>
        </p:nvSpPr>
        <p:spPr>
          <a:xfrm>
            <a:off x="4779764" y="3616598"/>
            <a:ext cx="37503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en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Ready for deployment and continuous enhancement.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4"/>
          <p:cNvSpPr/>
          <p:nvPr/>
        </p:nvSpPr>
        <p:spPr>
          <a:xfrm>
            <a:off x="4572000" y="-100"/>
            <a:ext cx="4572000" cy="5143500"/>
          </a:xfrm>
          <a:prstGeom prst="rect">
            <a:avLst/>
          </a:prstGeom>
          <a:solidFill>
            <a:srgbClr val="D2D2E0"/>
          </a:solidFill>
          <a:ln cap="flat" cmpd="sng" w="9525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4"/>
          <p:cNvSpPr txBox="1"/>
          <p:nvPr/>
        </p:nvSpPr>
        <p:spPr>
          <a:xfrm>
            <a:off x="514250" y="1160925"/>
            <a:ext cx="3541200" cy="23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Github: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https://github.com/smitkachhadiya/Fixly.git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4"/>
          <p:cNvSpPr txBox="1"/>
          <p:nvPr/>
        </p:nvSpPr>
        <p:spPr>
          <a:xfrm>
            <a:off x="5030225" y="1439925"/>
            <a:ext cx="3664200" cy="23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/>
              <a:t>Thank You</a:t>
            </a:r>
            <a:endParaRPr sz="7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