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8229600" cy="14630400"/>
  <p:embeddedFontLst>
    <p:embeddedFont>
      <p:font typeface="DM Sans" pitchFamily="2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Raleway" pitchFamily="2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b8bd9e9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9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ab8bd9e94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6525" rIns="93125" bIns="46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g3ab8bd9e94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25" tIns="46525" rIns="93125" bIns="46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1</a:t>
            </a:fld>
            <a:endParaRPr sz="15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b9530dd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b9530dd2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ab9530dd2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b9530dd2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b9530dd2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ab9530dd25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b9530dd25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b9530dd25_2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ab9530dd25_2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fixly-services.vercel.ap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793790" y="653296"/>
            <a:ext cx="42177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400"/>
              <a:buFont typeface="DM Sans"/>
              <a:buNone/>
            </a:pPr>
            <a:r>
              <a:rPr lang="en-US" sz="34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Fixly</a:t>
            </a:r>
            <a:endParaRPr sz="3400" b="0" i="0" u="none" strike="noStrike" cap="none"/>
          </a:p>
        </p:txBody>
      </p:sp>
      <p:sp>
        <p:nvSpPr>
          <p:cNvPr id="57" name="Google Shape;57;p13"/>
          <p:cNvSpPr/>
          <p:nvPr/>
        </p:nvSpPr>
        <p:spPr>
          <a:xfrm>
            <a:off x="793790" y="1517690"/>
            <a:ext cx="130431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00"/>
              <a:buFont typeface="Inter"/>
              <a:buNone/>
            </a:pPr>
            <a:r>
              <a:rPr lang="en-US" sz="1600" b="0" i="1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Convenience at Your Doorstep</a:t>
            </a:r>
            <a:endParaRPr sz="1600" b="0" i="0" u="none" strike="noStrike" cap="none"/>
          </a:p>
        </p:txBody>
      </p:sp>
      <p:sp>
        <p:nvSpPr>
          <p:cNvPr id="58" name="Google Shape;58;p13"/>
          <p:cNvSpPr/>
          <p:nvPr/>
        </p:nvSpPr>
        <p:spPr>
          <a:xfrm>
            <a:off x="793790" y="2044779"/>
            <a:ext cx="130431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web-based service marketplace connecting customers with skilled professionals for household and commercial needs. Designed for simplicity, efficiency, and trust.</a:t>
            </a:r>
            <a:endParaRPr sz="1300" b="0" i="0" u="none" strike="noStrike" cap="none"/>
          </a:p>
        </p:txBody>
      </p:sp>
      <p:sp>
        <p:nvSpPr>
          <p:cNvPr id="59" name="Google Shape;59;p13"/>
          <p:cNvSpPr/>
          <p:nvPr/>
        </p:nvSpPr>
        <p:spPr>
          <a:xfrm>
            <a:off x="793790" y="2858718"/>
            <a:ext cx="13043100" cy="28800"/>
          </a:xfrm>
          <a:prstGeom prst="rect">
            <a:avLst/>
          </a:prstGeom>
          <a:solidFill>
            <a:srgbClr val="161613">
              <a:alpha val="49800"/>
            </a:srgbClr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793790" y="3077170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None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Group 13 | IT644: Web Services &amp; SOA</a:t>
            </a:r>
            <a:endParaRPr sz="1300" b="0" i="0" u="none" strike="noStrike" cap="none"/>
          </a:p>
        </p:txBody>
      </p:sp>
      <p:sp>
        <p:nvSpPr>
          <p:cNvPr id="61" name="Google Shape;61;p13"/>
          <p:cNvSpPr/>
          <p:nvPr/>
        </p:nvSpPr>
        <p:spPr>
          <a:xfrm>
            <a:off x="793790" y="3536871"/>
            <a:ext cx="130431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endParaRPr sz="130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793790" y="4329708"/>
            <a:ext cx="33738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00"/>
              <a:buFont typeface="DM Sans"/>
              <a:buNone/>
            </a:pPr>
            <a:r>
              <a:rPr lang="en-US" sz="2700" b="0" i="0" u="none" strike="noStrike" cap="none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Team Members</a:t>
            </a:r>
            <a:endParaRPr sz="2700" b="0" i="0" u="none" strike="noStrike" cap="none"/>
          </a:p>
        </p:txBody>
      </p:sp>
      <p:sp>
        <p:nvSpPr>
          <p:cNvPr id="63" name="Google Shape;63;p13"/>
          <p:cNvSpPr/>
          <p:nvPr/>
        </p:nvSpPr>
        <p:spPr>
          <a:xfrm>
            <a:off x="793790" y="5004435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202412031 - Kachhadiya Smit - Team Lead &amp; Project Manager</a:t>
            </a:r>
            <a:endParaRPr sz="1300" b="0" i="0" u="none" strike="noStrike" cap="none"/>
          </a:p>
        </p:txBody>
      </p:sp>
      <p:sp>
        <p:nvSpPr>
          <p:cNvPr id="64" name="Google Shape;64;p13"/>
          <p:cNvSpPr/>
          <p:nvPr/>
        </p:nvSpPr>
        <p:spPr>
          <a:xfrm>
            <a:off x="793790" y="5333286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202412036 - Kathrotiya Harsh - BackEnd Developer &amp; Product Owner</a:t>
            </a:r>
            <a:endParaRPr sz="1300" b="0" i="0" u="none" strike="noStrike" cap="none"/>
          </a:p>
        </p:txBody>
      </p:sp>
      <p:sp>
        <p:nvSpPr>
          <p:cNvPr id="65" name="Google Shape;65;p13"/>
          <p:cNvSpPr/>
          <p:nvPr/>
        </p:nvSpPr>
        <p:spPr>
          <a:xfrm>
            <a:off x="793790" y="5662136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202412052 - Navadiya Krishn - Backend Developer</a:t>
            </a:r>
            <a:endParaRPr sz="1300" b="0" i="0" u="none" strike="noStrike" cap="none"/>
          </a:p>
        </p:txBody>
      </p:sp>
      <p:sp>
        <p:nvSpPr>
          <p:cNvPr id="66" name="Google Shape;66;p13"/>
          <p:cNvSpPr/>
          <p:nvPr/>
        </p:nvSpPr>
        <p:spPr>
          <a:xfrm>
            <a:off x="793790" y="5990987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202412030 - Kachhadiya Princy - FrontEnd Developer</a:t>
            </a:r>
            <a:endParaRPr sz="1300" b="0" i="0" u="none" strike="noStrike" cap="none"/>
          </a:p>
        </p:txBody>
      </p:sp>
      <p:sp>
        <p:nvSpPr>
          <p:cNvPr id="67" name="Google Shape;67;p13"/>
          <p:cNvSpPr/>
          <p:nvPr/>
        </p:nvSpPr>
        <p:spPr>
          <a:xfrm>
            <a:off x="793790" y="6319838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202412043 - Lakkad Vishva - UI/UX Designer &amp; Business Analyst</a:t>
            </a:r>
            <a:endParaRPr sz="1300" b="0" i="0" u="none" strike="noStrike" cap="none"/>
          </a:p>
        </p:txBody>
      </p:sp>
      <p:sp>
        <p:nvSpPr>
          <p:cNvPr id="68" name="Google Shape;68;p13"/>
          <p:cNvSpPr/>
          <p:nvPr/>
        </p:nvSpPr>
        <p:spPr>
          <a:xfrm>
            <a:off x="793790" y="6648688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202412044 - Limbachiya Parth - QA Tester &amp; Solution Architecture</a:t>
            </a:r>
            <a:endParaRPr sz="1300" b="0" i="0" u="none" strike="noStrike" cap="none"/>
          </a:p>
        </p:txBody>
      </p:sp>
      <p:sp>
        <p:nvSpPr>
          <p:cNvPr id="69" name="Google Shape;69;p13"/>
          <p:cNvSpPr/>
          <p:nvPr/>
        </p:nvSpPr>
        <p:spPr>
          <a:xfrm>
            <a:off x="793790" y="6977539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202412104 - Shekhda Miraj - FrontEnd Developer</a:t>
            </a:r>
            <a:endParaRPr sz="1300" b="0" i="0" u="none" strike="noStrike" cap="none"/>
          </a:p>
        </p:txBody>
      </p:sp>
      <p:sp>
        <p:nvSpPr>
          <p:cNvPr id="70" name="Google Shape;70;p13"/>
          <p:cNvSpPr/>
          <p:nvPr/>
        </p:nvSpPr>
        <p:spPr>
          <a:xfrm>
            <a:off x="793790" y="7306389"/>
            <a:ext cx="13043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Inter"/>
              <a:buChar char="•"/>
            </a:pPr>
            <a:r>
              <a:rPr lang="en-US" sz="1300" b="0" i="0" u="none" strike="noStrike" cap="non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202412010 - Asodariya Gaurav - QA Tester &amp; Technical Writer</a:t>
            </a:r>
            <a:endParaRPr sz="1300" b="0" i="0" u="none" strike="noStrike" cap="non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lang="en-US" sz="445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Fixly: Deployment &amp; User Experience Readiness</a:t>
            </a:r>
            <a:endParaRPr sz="4450" b="0" i="0" u="none" strike="noStrike" cap="none"/>
          </a:p>
        </p:txBody>
      </p:sp>
      <p:sp>
        <p:nvSpPr>
          <p:cNvPr id="78" name="Google Shape;78;p14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demonstration of the Fixly functional prototype, highlighting operational readiness and a polished user experience.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793790" y="1291828"/>
            <a:ext cx="8637627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Raleway"/>
              <a:buNone/>
            </a:pPr>
            <a:r>
              <a:rPr lang="en-US" sz="355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What This Section Covers: Our Objectives</a:t>
            </a:r>
            <a:endParaRPr sz="3550" b="0" i="0" u="none" strike="noStrike" cap="none"/>
          </a:p>
        </p:txBody>
      </p:sp>
      <p:sp>
        <p:nvSpPr>
          <p:cNvPr id="85" name="Google Shape;85;p15"/>
          <p:cNvSpPr/>
          <p:nvPr/>
        </p:nvSpPr>
        <p:spPr>
          <a:xfrm>
            <a:off x="793790" y="2652593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793790" y="262211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2551688" y="231243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5761" y="2516505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1051084" y="32195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Live Platform Demo</a:t>
            </a:r>
            <a:endParaRPr sz="2200" b="0" i="0" u="none" strike="noStrike" cap="none"/>
          </a:p>
        </p:txBody>
      </p:sp>
      <p:sp>
        <p:nvSpPr>
          <p:cNvPr id="90" name="Google Shape;90;p15"/>
          <p:cNvSpPr/>
          <p:nvPr/>
        </p:nvSpPr>
        <p:spPr>
          <a:xfrm>
            <a:off x="1051084" y="3709988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Experience the Fixly platform in a live, deployed environment.</a:t>
            </a:r>
            <a:endParaRPr sz="1750" b="0" i="0" u="none" strike="noStrike" cap="none"/>
          </a:p>
        </p:txBody>
      </p:sp>
      <p:sp>
        <p:nvSpPr>
          <p:cNvPr id="91" name="Google Shape;91;p15"/>
          <p:cNvSpPr/>
          <p:nvPr/>
        </p:nvSpPr>
        <p:spPr>
          <a:xfrm>
            <a:off x="5216962" y="2652593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5216962" y="262211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6974860" y="231243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8933" y="2516505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5474256" y="3219569"/>
            <a:ext cx="36011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Deployment Workflow</a:t>
            </a:r>
            <a:endParaRPr sz="2200" b="0" i="0" u="none" strike="noStrike" cap="none" dirty="0"/>
          </a:p>
        </p:txBody>
      </p:sp>
      <p:sp>
        <p:nvSpPr>
          <p:cNvPr id="96" name="Google Shape;96;p15"/>
          <p:cNvSpPr/>
          <p:nvPr/>
        </p:nvSpPr>
        <p:spPr>
          <a:xfrm>
            <a:off x="5474256" y="3709988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Understand our CI/CD, Docker, and hosting infrastructure.</a:t>
            </a:r>
            <a:endParaRPr sz="1750" b="0" i="0" u="none" strike="noStrike" cap="none"/>
          </a:p>
        </p:txBody>
      </p:sp>
      <p:sp>
        <p:nvSpPr>
          <p:cNvPr id="97" name="Google Shape;97;p15"/>
          <p:cNvSpPr/>
          <p:nvPr/>
        </p:nvSpPr>
        <p:spPr>
          <a:xfrm>
            <a:off x="9640133" y="2652593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9640133" y="262211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11398032" y="231243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0" name="Google Shape;100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02105" y="2516505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9897427" y="32195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UI/UX Showcase</a:t>
            </a:r>
            <a:endParaRPr sz="2200" b="0" i="0" u="none" strike="noStrike" cap="none"/>
          </a:p>
        </p:txBody>
      </p:sp>
      <p:sp>
        <p:nvSpPr>
          <p:cNvPr id="102" name="Google Shape;102;p15"/>
          <p:cNvSpPr/>
          <p:nvPr/>
        </p:nvSpPr>
        <p:spPr>
          <a:xfrm>
            <a:off x="9897427" y="3709988"/>
            <a:ext cx="368177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Explore customer, provider, and admin portals' intuitive design.</a:t>
            </a:r>
            <a:endParaRPr sz="1750" b="0" i="0" u="none" strike="noStrike" cap="none"/>
          </a:p>
        </p:txBody>
      </p:sp>
      <p:sp>
        <p:nvSpPr>
          <p:cNvPr id="103" name="Google Shape;103;p15"/>
          <p:cNvSpPr/>
          <p:nvPr/>
        </p:nvSpPr>
        <p:spPr>
          <a:xfrm>
            <a:off x="793790" y="5260062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93790" y="522958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3657540" y="491990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61614" y="5123974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1051084" y="5827038"/>
            <a:ext cx="310241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Performance &amp; Security</a:t>
            </a:r>
            <a:endParaRPr sz="2200" b="0" i="0" u="none" strike="noStrike" cap="none"/>
          </a:p>
        </p:txBody>
      </p:sp>
      <p:sp>
        <p:nvSpPr>
          <p:cNvPr id="108" name="Google Shape;108;p15"/>
          <p:cNvSpPr/>
          <p:nvPr/>
        </p:nvSpPr>
        <p:spPr>
          <a:xfrm>
            <a:off x="1051084" y="6317456"/>
            <a:ext cx="589335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Review the measures ensuring a fast and secure platform.</a:t>
            </a:r>
            <a:endParaRPr sz="1750" b="0" i="0" u="none" strike="noStrike" cap="none"/>
          </a:p>
        </p:txBody>
      </p:sp>
      <p:sp>
        <p:nvSpPr>
          <p:cNvPr id="109" name="Google Shape;109;p15"/>
          <p:cNvSpPr/>
          <p:nvPr/>
        </p:nvSpPr>
        <p:spPr>
          <a:xfrm>
            <a:off x="7428548" y="5260062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428548" y="522958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10292298" y="491990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96371" y="5123974"/>
            <a:ext cx="272177" cy="27217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7685842" y="5827038"/>
            <a:ext cx="307514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User-Centric Readiness</a:t>
            </a:r>
            <a:endParaRPr sz="2200" b="0" i="0" u="none" strike="noStrike" cap="none"/>
          </a:p>
        </p:txBody>
      </p:sp>
      <p:sp>
        <p:nvSpPr>
          <p:cNvPr id="114" name="Google Shape;114;p15"/>
          <p:cNvSpPr/>
          <p:nvPr/>
        </p:nvSpPr>
        <p:spPr>
          <a:xfrm>
            <a:off x="7685842" y="6317456"/>
            <a:ext cx="589335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Confirm Fixly's readiness for real-world user engagement.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793790" y="659011"/>
            <a:ext cx="69651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Raleway"/>
              <a:buNone/>
            </a:pPr>
            <a:r>
              <a:rPr lang="en-US" sz="35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Deployment Diagram</a:t>
            </a:r>
            <a:endParaRPr sz="3550" b="0" i="0" u="none" strike="noStrike" cap="none"/>
          </a:p>
        </p:txBody>
      </p:sp>
      <p:pic>
        <p:nvPicPr>
          <p:cNvPr id="121" name="Google Shape;121;p16" title="deploy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59586"/>
            <a:ext cx="14325601" cy="4910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793790" y="659011"/>
            <a:ext cx="6965037" cy="566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Raleway"/>
              <a:buNone/>
            </a:pPr>
            <a:r>
              <a:rPr lang="en-US" sz="355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Robust Deployment Environment</a:t>
            </a:r>
            <a:endParaRPr sz="3550" b="0" i="0" u="none" strike="noStrike" cap="none"/>
          </a:p>
        </p:txBody>
      </p:sp>
      <p:sp>
        <p:nvSpPr>
          <p:cNvPr id="128" name="Google Shape;128;p17"/>
          <p:cNvSpPr/>
          <p:nvPr/>
        </p:nvSpPr>
        <p:spPr>
          <a:xfrm>
            <a:off x="793790" y="1792962"/>
            <a:ext cx="338959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 b="0" i="0" u="none" strike="noStrike" cap="none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Core Technology Stack</a:t>
            </a:r>
            <a:endParaRPr sz="2200" b="0" i="0" u="none" strike="noStrike" cap="none" dirty="0"/>
          </a:p>
        </p:txBody>
      </p:sp>
      <p:sp>
        <p:nvSpPr>
          <p:cNvPr id="129" name="Google Shape;129;p17"/>
          <p:cNvSpPr/>
          <p:nvPr/>
        </p:nvSpPr>
        <p:spPr>
          <a:xfrm>
            <a:off x="793790" y="2374106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Backend:</a:t>
            </a: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Node.js (Express), MongoDB (Mongoose), Cloudinary for media management.</a:t>
            </a:r>
            <a:endParaRPr sz="1750" b="0" i="0" u="none" strike="noStrike" cap="none"/>
          </a:p>
        </p:txBody>
      </p:sp>
      <p:sp>
        <p:nvSpPr>
          <p:cNvPr id="130" name="Google Shape;130;p17"/>
          <p:cNvSpPr/>
          <p:nvPr/>
        </p:nvSpPr>
        <p:spPr>
          <a:xfrm>
            <a:off x="793790" y="3179207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Frontend:</a:t>
            </a: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React , Tailwind CSS.</a:t>
            </a:r>
            <a:endParaRPr sz="1750" b="0" i="0" u="none" strike="noStrike" cap="none"/>
          </a:p>
        </p:txBody>
      </p:sp>
      <p:sp>
        <p:nvSpPr>
          <p:cNvPr id="131" name="Google Shape;131;p17"/>
          <p:cNvSpPr/>
          <p:nvPr/>
        </p:nvSpPr>
        <p:spPr>
          <a:xfrm>
            <a:off x="793790" y="3563728"/>
            <a:ext cx="62448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Authentication:</a:t>
            </a: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JWT-based secure authentication for all user roles.</a:t>
            </a:r>
            <a:endParaRPr sz="1750" b="0" i="0" u="none" strike="noStrike" cap="none"/>
          </a:p>
        </p:txBody>
      </p:sp>
      <p:sp>
        <p:nvSpPr>
          <p:cNvPr id="132" name="Google Shape;132;p17"/>
          <p:cNvSpPr/>
          <p:nvPr/>
        </p:nvSpPr>
        <p:spPr>
          <a:xfrm>
            <a:off x="793790" y="4936927"/>
            <a:ext cx="329053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Hosting &amp; CI/CD Pipeline</a:t>
            </a:r>
            <a:endParaRPr sz="2200" b="0" i="0" u="none" strike="noStrike" cap="none"/>
          </a:p>
        </p:txBody>
      </p:sp>
      <p:sp>
        <p:nvSpPr>
          <p:cNvPr id="133" name="Google Shape;133;p17"/>
          <p:cNvSpPr/>
          <p:nvPr/>
        </p:nvSpPr>
        <p:spPr>
          <a:xfrm>
            <a:off x="793790" y="5518071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Char char="•"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Seamless integration from GitHub to automated build and cloud deployment (Vercel/Render).</a:t>
            </a:r>
            <a:endParaRPr sz="1750" b="0" i="0" u="none" strike="noStrike" cap="none"/>
          </a:p>
        </p:txBody>
      </p:sp>
      <p:sp>
        <p:nvSpPr>
          <p:cNvPr id="134" name="Google Shape;134;p17"/>
          <p:cNvSpPr/>
          <p:nvPr/>
        </p:nvSpPr>
        <p:spPr>
          <a:xfrm>
            <a:off x="793790" y="632317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Char char="•"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Dynamic environment variable configuration for flexibility.</a:t>
            </a:r>
            <a:endParaRPr sz="1750" b="0" i="0" u="none" strike="noStrike" cap="none"/>
          </a:p>
        </p:txBody>
      </p:sp>
      <p:sp>
        <p:nvSpPr>
          <p:cNvPr id="135" name="Google Shape;135;p17"/>
          <p:cNvSpPr/>
          <p:nvPr/>
        </p:nvSpPr>
        <p:spPr>
          <a:xfrm>
            <a:off x="793790" y="6765369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Char char="•"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CORS &amp; API Gateway setup ensuring secure and efficient communication.</a:t>
            </a:r>
            <a:endParaRPr sz="1750" b="0" i="0" u="none" strike="noStrike" cap="none"/>
          </a:p>
        </p:txBody>
      </p:sp>
      <p:sp>
        <p:nvSpPr>
          <p:cNvPr id="136" name="Google Shape;136;p17"/>
          <p:cNvSpPr/>
          <p:nvPr/>
        </p:nvSpPr>
        <p:spPr>
          <a:xfrm>
            <a:off x="7599521" y="17929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Containerization</a:t>
            </a:r>
            <a:endParaRPr sz="2200" b="0" i="0" u="none" strike="noStrike" cap="none"/>
          </a:p>
        </p:txBody>
      </p:sp>
      <p:sp>
        <p:nvSpPr>
          <p:cNvPr id="137" name="Google Shape;137;p17"/>
          <p:cNvSpPr/>
          <p:nvPr/>
        </p:nvSpPr>
        <p:spPr>
          <a:xfrm>
            <a:off x="7599521" y="2374106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Char char="•"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Containerized backend services using Docker for isolated environments.</a:t>
            </a:r>
            <a:endParaRPr sz="1750" b="0" i="0" u="none" strike="noStrike" cap="none"/>
          </a:p>
        </p:txBody>
      </p:sp>
      <p:sp>
        <p:nvSpPr>
          <p:cNvPr id="138" name="Google Shape;138;p17"/>
          <p:cNvSpPr/>
          <p:nvPr/>
        </p:nvSpPr>
        <p:spPr>
          <a:xfrm>
            <a:off x="7599521" y="3179207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Char char="•"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Docker Compose for streamlined multi-service orchestration.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793790" y="1212532"/>
            <a:ext cx="8864560" cy="62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Raleway"/>
              <a:buNone/>
            </a:pPr>
            <a:r>
              <a:rPr lang="en-US" sz="3550" b="0" i="0" u="none" strike="noStrike" cap="none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Deployment Process: Step-by-Step</a:t>
            </a:r>
            <a:endParaRPr sz="3550" b="0" i="0" u="none" strike="noStrike" cap="none" dirty="0"/>
          </a:p>
        </p:txBody>
      </p:sp>
      <p:sp>
        <p:nvSpPr>
          <p:cNvPr id="145" name="Google Shape;145;p18"/>
          <p:cNvSpPr/>
          <p:nvPr/>
        </p:nvSpPr>
        <p:spPr>
          <a:xfrm>
            <a:off x="793812" y="2233125"/>
            <a:ext cx="506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sz="1750" b="0" i="0" u="none" strike="noStrike" cap="none"/>
          </a:p>
        </p:txBody>
      </p:sp>
      <p:sp>
        <p:nvSpPr>
          <p:cNvPr id="146" name="Google Shape;146;p18"/>
          <p:cNvSpPr/>
          <p:nvPr/>
        </p:nvSpPr>
        <p:spPr>
          <a:xfrm>
            <a:off x="793790" y="2588181"/>
            <a:ext cx="6407944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93790" y="27624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Build &amp; Configuration</a:t>
            </a:r>
            <a:endParaRPr sz="2200" b="0" i="0" u="none" strike="noStrike" cap="none"/>
          </a:p>
        </p:txBody>
      </p:sp>
      <p:sp>
        <p:nvSpPr>
          <p:cNvPr id="148" name="Google Shape;148;p18"/>
          <p:cNvSpPr/>
          <p:nvPr/>
        </p:nvSpPr>
        <p:spPr>
          <a:xfrm>
            <a:off x="793790" y="3252907"/>
            <a:ext cx="6407944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Dependency installation, environment variable setup (DB URI, JWT secret, Cloudinary keys), and optimized production build via Vite.</a:t>
            </a:r>
            <a:endParaRPr sz="1750" b="0" i="0" u="none" strike="noStrike" cap="none"/>
          </a:p>
        </p:txBody>
      </p:sp>
      <p:sp>
        <p:nvSpPr>
          <p:cNvPr id="149" name="Google Shape;149;p18"/>
          <p:cNvSpPr/>
          <p:nvPr/>
        </p:nvSpPr>
        <p:spPr>
          <a:xfrm>
            <a:off x="7428553" y="2233125"/>
            <a:ext cx="506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sz="1750" b="0" i="0" u="none" strike="noStrike" cap="none"/>
          </a:p>
        </p:txBody>
      </p:sp>
      <p:sp>
        <p:nvSpPr>
          <p:cNvPr id="150" name="Google Shape;150;p18"/>
          <p:cNvSpPr/>
          <p:nvPr/>
        </p:nvSpPr>
        <p:spPr>
          <a:xfrm>
            <a:off x="7428548" y="2588181"/>
            <a:ext cx="6408063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428548" y="2762488"/>
            <a:ext cx="3533061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CI/CD Pipeline Automation</a:t>
            </a:r>
            <a:endParaRPr sz="2200" b="0" i="0" u="none" strike="noStrike" cap="none"/>
          </a:p>
        </p:txBody>
      </p:sp>
      <p:sp>
        <p:nvSpPr>
          <p:cNvPr id="152" name="Google Shape;152;p18"/>
          <p:cNvSpPr/>
          <p:nvPr/>
        </p:nvSpPr>
        <p:spPr>
          <a:xfrm>
            <a:off x="7428548" y="3252907"/>
            <a:ext cx="6408063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testing, lint checks, and continuous deployment triggered by Git pushes, ensuring zero-downtime releases.</a:t>
            </a:r>
            <a:endParaRPr sz="1750" b="0" i="0" u="none" strike="noStrike" cap="none"/>
          </a:p>
        </p:txBody>
      </p:sp>
      <p:sp>
        <p:nvSpPr>
          <p:cNvPr id="153" name="Google Shape;153;p18"/>
          <p:cNvSpPr/>
          <p:nvPr/>
        </p:nvSpPr>
        <p:spPr>
          <a:xfrm>
            <a:off x="793811" y="4738450"/>
            <a:ext cx="506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sz="1750" b="0" i="0" u="none" strike="noStrike" cap="none"/>
          </a:p>
        </p:txBody>
      </p:sp>
      <p:sp>
        <p:nvSpPr>
          <p:cNvPr id="154" name="Google Shape;154;p18"/>
          <p:cNvSpPr/>
          <p:nvPr/>
        </p:nvSpPr>
        <p:spPr>
          <a:xfrm>
            <a:off x="793790" y="5093494"/>
            <a:ext cx="6407944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793790" y="5267801"/>
            <a:ext cx="357925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API + Frontend Deployment</a:t>
            </a:r>
            <a:endParaRPr sz="2200" b="0" i="0" u="none" strike="noStrike" cap="none"/>
          </a:p>
        </p:txBody>
      </p:sp>
      <p:sp>
        <p:nvSpPr>
          <p:cNvPr id="156" name="Google Shape;156;p18"/>
          <p:cNvSpPr/>
          <p:nvPr/>
        </p:nvSpPr>
        <p:spPr>
          <a:xfrm>
            <a:off x="793790" y="5758220"/>
            <a:ext cx="6407944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Backend deployment with HTTPS-enabled endpoints and frontend as an optimized static build, securely connected via environment configurations.</a:t>
            </a:r>
            <a:endParaRPr sz="1750" b="0" i="0" u="none" strike="noStrike" cap="none"/>
          </a:p>
        </p:txBody>
      </p:sp>
      <p:sp>
        <p:nvSpPr>
          <p:cNvPr id="157" name="Google Shape;157;p18"/>
          <p:cNvSpPr/>
          <p:nvPr/>
        </p:nvSpPr>
        <p:spPr>
          <a:xfrm>
            <a:off x="7428553" y="4738428"/>
            <a:ext cx="6168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sz="1750" b="0" i="0" u="none" strike="noStrike" cap="none"/>
          </a:p>
        </p:txBody>
      </p:sp>
      <p:sp>
        <p:nvSpPr>
          <p:cNvPr id="158" name="Google Shape;158;p18"/>
          <p:cNvSpPr/>
          <p:nvPr/>
        </p:nvSpPr>
        <p:spPr>
          <a:xfrm>
            <a:off x="7428548" y="5093494"/>
            <a:ext cx="6408063" cy="3048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428548" y="526780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Database Setup</a:t>
            </a:r>
            <a:endParaRPr sz="2200" b="0" i="0" u="none" strike="noStrike" cap="none"/>
          </a:p>
        </p:txBody>
      </p:sp>
      <p:sp>
        <p:nvSpPr>
          <p:cNvPr id="160" name="Google Shape;160;p18"/>
          <p:cNvSpPr/>
          <p:nvPr/>
        </p:nvSpPr>
        <p:spPr>
          <a:xfrm>
            <a:off x="7428548" y="5758220"/>
            <a:ext cx="6408063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MongoDB Atlas cluster for scalable data storage, with collections automatically generated through Mongoose models.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/>
          <p:nvPr/>
        </p:nvSpPr>
        <p:spPr>
          <a:xfrm>
            <a:off x="793790" y="659011"/>
            <a:ext cx="69651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Raleway"/>
              <a:buNone/>
            </a:pPr>
            <a:r>
              <a:rPr lang="en-US" sz="355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Deployment </a:t>
            </a:r>
            <a:r>
              <a:rPr lang="en-US" sz="35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Images : Vercel</a:t>
            </a:r>
            <a:endParaRPr sz="3550" b="0" i="0" u="none" strike="noStrike" cap="none"/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00" y="1587576"/>
            <a:ext cx="13172575" cy="46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97550" y="6596775"/>
            <a:ext cx="583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Link : </a:t>
            </a:r>
            <a:r>
              <a:rPr lang="en-US" sz="2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https://fixly-services.vercel.app/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793790" y="659011"/>
            <a:ext cx="69651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Raleway"/>
              <a:buNone/>
            </a:pPr>
            <a:r>
              <a:rPr lang="en-US" sz="355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Deployment </a:t>
            </a:r>
            <a:r>
              <a:rPr lang="en-US" sz="35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Images : Render</a:t>
            </a:r>
            <a:endParaRPr sz="3550" b="0" i="0" u="none" strike="noStrike" cap="none"/>
          </a:p>
        </p:txBody>
      </p:sp>
      <p:pic>
        <p:nvPicPr>
          <p:cNvPr id="175" name="Google Shape;175;p20" title="Screenshot 2025-11-30 at 10.50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757" y="1378411"/>
            <a:ext cx="11796321" cy="6698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/>
          <p:nvPr/>
        </p:nvSpPr>
        <p:spPr>
          <a:xfrm>
            <a:off x="793790" y="767596"/>
            <a:ext cx="7395329" cy="510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200"/>
              <a:buFont typeface="Raleway"/>
              <a:buNone/>
            </a:pPr>
            <a:r>
              <a:rPr lang="en-US" sz="320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Intuitive UI/UX: A Seamless Experience</a:t>
            </a:r>
            <a:endParaRPr sz="3200" b="0" i="0" u="none" strike="noStrike" cap="none"/>
          </a:p>
        </p:txBody>
      </p:sp>
      <p:pic>
        <p:nvPicPr>
          <p:cNvPr id="182" name="Google Shape;182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1686163"/>
            <a:ext cx="3759637" cy="37596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/>
          <p:nvPr/>
        </p:nvSpPr>
        <p:spPr>
          <a:xfrm>
            <a:off x="793790" y="5649873"/>
            <a:ext cx="3062168" cy="382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00"/>
              <a:buFont typeface="Raleway"/>
              <a:buNone/>
            </a:pPr>
            <a:r>
              <a:rPr lang="en-US" sz="24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Customer Portal</a:t>
            </a:r>
            <a:endParaRPr sz="2400" b="0" i="0" u="none" strike="noStrike" cap="none"/>
          </a:p>
        </p:txBody>
      </p:sp>
      <p:sp>
        <p:nvSpPr>
          <p:cNvPr id="184" name="Google Shape;184;p21"/>
          <p:cNvSpPr/>
          <p:nvPr/>
        </p:nvSpPr>
        <p:spPr>
          <a:xfrm>
            <a:off x="793790" y="6155055"/>
            <a:ext cx="4177427" cy="130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 clean homepage for browsing categories and searching services, featuring a smooth booking flow with real-time availability and intuitive payment options.</a:t>
            </a:r>
            <a:endParaRPr sz="1600" b="0" i="0" u="none" strike="noStrike" cap="none"/>
          </a:p>
        </p:txBody>
      </p:sp>
      <p:pic>
        <p:nvPicPr>
          <p:cNvPr id="185" name="Google Shape;185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26368" y="1686163"/>
            <a:ext cx="3759756" cy="375975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/>
          <p:nvPr/>
        </p:nvSpPr>
        <p:spPr>
          <a:xfrm>
            <a:off x="5226368" y="5649992"/>
            <a:ext cx="3494722" cy="382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00"/>
              <a:buFont typeface="Raleway"/>
              <a:buNone/>
            </a:pPr>
            <a:r>
              <a:rPr lang="en-US" sz="2400" b="0" i="0" u="none" strike="noStrike" cap="none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Service Provider Portal</a:t>
            </a:r>
            <a:endParaRPr sz="2400" b="0" i="0" u="none" strike="noStrike" cap="none" dirty="0"/>
          </a:p>
        </p:txBody>
      </p:sp>
      <p:sp>
        <p:nvSpPr>
          <p:cNvPr id="187" name="Google Shape;187;p21"/>
          <p:cNvSpPr/>
          <p:nvPr/>
        </p:nvSpPr>
        <p:spPr>
          <a:xfrm>
            <a:off x="5226368" y="6155174"/>
            <a:ext cx="4177546" cy="130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Effortless listing creation with image uploads via Cloudinary, coupled with a comprehensive booking management dashboard and clear overviews of profiles and earnings.</a:t>
            </a:r>
            <a:endParaRPr sz="1600" b="0" i="0" u="none" strike="noStrike" cap="none"/>
          </a:p>
        </p:txBody>
      </p:sp>
      <p:pic>
        <p:nvPicPr>
          <p:cNvPr id="188" name="Google Shape;188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59064" y="1686163"/>
            <a:ext cx="3759637" cy="375963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/>
          <p:nvPr/>
        </p:nvSpPr>
        <p:spPr>
          <a:xfrm>
            <a:off x="9659064" y="5649873"/>
            <a:ext cx="3062168" cy="382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400"/>
              <a:buFont typeface="Raleway"/>
              <a:buNone/>
            </a:pPr>
            <a:r>
              <a:rPr lang="en-US" sz="24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Admin Interface</a:t>
            </a:r>
            <a:endParaRPr sz="2400" b="0" i="0" u="none" strike="noStrike" cap="none"/>
          </a:p>
        </p:txBody>
      </p:sp>
      <p:sp>
        <p:nvSpPr>
          <p:cNvPr id="190" name="Google Shape;190;p21"/>
          <p:cNvSpPr/>
          <p:nvPr/>
        </p:nvSpPr>
        <p:spPr>
          <a:xfrm>
            <a:off x="9659064" y="6155055"/>
            <a:ext cx="4177427" cy="130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oboto"/>
              <a:buNone/>
            </a:pPr>
            <a:r>
              <a:rPr lang="en-US" sz="16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Minimalist and efficient dashboards for approvals, insightful analytics, and robust user management, ensuring streamlined operations.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793790" y="834152"/>
            <a:ext cx="6300010" cy="58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50"/>
              <a:buFont typeface="Raleway"/>
              <a:buNone/>
            </a:pPr>
            <a:r>
              <a:rPr lang="en-US" sz="2850" b="0" i="0" u="none" strike="noStrike" cap="none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Optimized for Peak Performance</a:t>
            </a:r>
            <a:endParaRPr sz="2850" b="0" i="0" u="none" strike="noStrike" cap="none" dirty="0"/>
          </a:p>
        </p:txBody>
      </p:sp>
      <p:sp>
        <p:nvSpPr>
          <p:cNvPr id="197" name="Google Shape;197;p22"/>
          <p:cNvSpPr/>
          <p:nvPr/>
        </p:nvSpPr>
        <p:spPr>
          <a:xfrm>
            <a:off x="793790" y="1854756"/>
            <a:ext cx="3036570" cy="59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700"/>
              <a:buFont typeface="Raleway"/>
              <a:buNone/>
            </a:pPr>
            <a:r>
              <a:rPr lang="en-US" sz="47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&lt;3</a:t>
            </a:r>
            <a:endParaRPr sz="4700" b="0" i="0" u="none" strike="noStrike" cap="none"/>
          </a:p>
        </p:txBody>
      </p:sp>
      <p:sp>
        <p:nvSpPr>
          <p:cNvPr id="198" name="Google Shape;198;p22"/>
          <p:cNvSpPr/>
          <p:nvPr/>
        </p:nvSpPr>
        <p:spPr>
          <a:xfrm>
            <a:off x="914638" y="2680335"/>
            <a:ext cx="2794754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Page Load Time (Seconds)</a:t>
            </a:r>
            <a:endParaRPr sz="1750" b="0" i="0" u="none" strike="noStrike" cap="none"/>
          </a:p>
        </p:txBody>
      </p:sp>
      <p:sp>
        <p:nvSpPr>
          <p:cNvPr id="199" name="Google Shape;199;p22"/>
          <p:cNvSpPr/>
          <p:nvPr/>
        </p:nvSpPr>
        <p:spPr>
          <a:xfrm>
            <a:off x="793790" y="3145274"/>
            <a:ext cx="3036570" cy="58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Ensuring rapid access and a smooth user journey.</a:t>
            </a:r>
            <a:endParaRPr sz="1400" b="0" i="0" u="none" strike="noStrike" cap="none"/>
          </a:p>
        </p:txBody>
      </p:sp>
      <p:sp>
        <p:nvSpPr>
          <p:cNvPr id="200" name="Google Shape;200;p22"/>
          <p:cNvSpPr/>
          <p:nvPr/>
        </p:nvSpPr>
        <p:spPr>
          <a:xfrm>
            <a:off x="4057174" y="1854756"/>
            <a:ext cx="3036689" cy="59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700"/>
              <a:buFont typeface="Raleway"/>
              <a:buNone/>
            </a:pPr>
            <a:r>
              <a:rPr lang="en-US" sz="47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&lt;500</a:t>
            </a:r>
            <a:endParaRPr sz="4700" b="0" i="0" u="none" strike="noStrike" cap="none"/>
          </a:p>
        </p:txBody>
      </p:sp>
      <p:sp>
        <p:nvSpPr>
          <p:cNvPr id="201" name="Google Shape;201;p22"/>
          <p:cNvSpPr/>
          <p:nvPr/>
        </p:nvSpPr>
        <p:spPr>
          <a:xfrm>
            <a:off x="4314230" y="2680335"/>
            <a:ext cx="2522458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API Response Time (ms)</a:t>
            </a:r>
            <a:endParaRPr sz="1750" b="0" i="0" u="none" strike="noStrike" cap="none"/>
          </a:p>
        </p:txBody>
      </p:sp>
      <p:sp>
        <p:nvSpPr>
          <p:cNvPr id="202" name="Google Shape;202;p22"/>
          <p:cNvSpPr/>
          <p:nvPr/>
        </p:nvSpPr>
        <p:spPr>
          <a:xfrm>
            <a:off x="4057174" y="3145274"/>
            <a:ext cx="3036689" cy="58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Fast data retrieval for dynamic content updates.</a:t>
            </a:r>
            <a:endParaRPr sz="1400" b="0" i="0" u="none" strike="noStrike" cap="none"/>
          </a:p>
        </p:txBody>
      </p:sp>
      <p:sp>
        <p:nvSpPr>
          <p:cNvPr id="203" name="Google Shape;203;p22"/>
          <p:cNvSpPr/>
          <p:nvPr/>
        </p:nvSpPr>
        <p:spPr>
          <a:xfrm>
            <a:off x="793790" y="3929896"/>
            <a:ext cx="6300073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Our commitment to speed extends to every element:</a:t>
            </a:r>
            <a:endParaRPr sz="1400" b="0" i="0" u="none" strike="noStrike" cap="none"/>
          </a:p>
        </p:txBody>
      </p:sp>
      <p:sp>
        <p:nvSpPr>
          <p:cNvPr id="204" name="Google Shape;204;p22"/>
          <p:cNvSpPr/>
          <p:nvPr/>
        </p:nvSpPr>
        <p:spPr>
          <a:xfrm>
            <a:off x="793790" y="4383405"/>
            <a:ext cx="6300073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Optimized Images:</a:t>
            </a:r>
            <a:r>
              <a:rPr lang="en-US" sz="14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Efficiently served via Cloudinary.</a:t>
            </a:r>
            <a:endParaRPr sz="1400" b="0" i="0" u="none" strike="noStrike" cap="none"/>
          </a:p>
        </p:txBody>
      </p:sp>
      <p:sp>
        <p:nvSpPr>
          <p:cNvPr id="205" name="Google Shape;205;p22"/>
          <p:cNvSpPr/>
          <p:nvPr/>
        </p:nvSpPr>
        <p:spPr>
          <a:xfrm>
            <a:off x="793790" y="4737140"/>
            <a:ext cx="6300073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Lazy Loading:</a:t>
            </a:r>
            <a:r>
              <a:rPr lang="en-US" sz="14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For heavy UI sections, improving initial load times.</a:t>
            </a:r>
            <a:endParaRPr sz="1400" b="0" i="0" u="none" strike="noStrike" cap="none"/>
          </a:p>
        </p:txBody>
      </p:sp>
      <p:sp>
        <p:nvSpPr>
          <p:cNvPr id="206" name="Google Shape;206;p22"/>
          <p:cNvSpPr/>
          <p:nvPr/>
        </p:nvSpPr>
        <p:spPr>
          <a:xfrm>
            <a:off x="793800" y="5090878"/>
            <a:ext cx="63000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sz="140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Efficient Database Queries:</a:t>
            </a:r>
            <a:r>
              <a:rPr lang="en-US" sz="14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With strategic indexing for quick data access.</a:t>
            </a:r>
            <a:endParaRPr sz="1400" b="0" i="0" u="none" strike="noStrike" cap="none"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lang="en-US" b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Scalable Backend:</a:t>
            </a:r>
            <a:r>
              <a:rPr lang="en-US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Engineered to handle increasing load and user traffic seamlessly.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endParaRPr>
              <a:solidFill>
                <a:srgbClr val="3C393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9351" y="1151704"/>
            <a:ext cx="5817351" cy="58173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7544157" y="6751320"/>
            <a:ext cx="6300073" cy="58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endParaRPr sz="1400" b="0" i="0" u="none" strike="noStrike"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/>
          <p:nvPr/>
        </p:nvSpPr>
        <p:spPr>
          <a:xfrm>
            <a:off x="793790" y="697706"/>
            <a:ext cx="4842629" cy="48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000"/>
              <a:buFont typeface="Raleway"/>
              <a:buNone/>
            </a:pPr>
            <a:r>
              <a:rPr lang="en-US" sz="300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Fortified Security Measures</a:t>
            </a:r>
            <a:endParaRPr sz="3000" b="0" i="0" u="none" strike="noStrike" cap="none"/>
          </a:p>
        </p:txBody>
      </p:sp>
      <p:sp>
        <p:nvSpPr>
          <p:cNvPr id="216" name="Google Shape;216;p23"/>
          <p:cNvSpPr/>
          <p:nvPr/>
        </p:nvSpPr>
        <p:spPr>
          <a:xfrm>
            <a:off x="793790" y="1468874"/>
            <a:ext cx="22860" cy="4261009"/>
          </a:xfrm>
          <a:prstGeom prst="roundRect">
            <a:avLst>
              <a:gd name="adj" fmla="val 354232"/>
            </a:avLst>
          </a:prstGeom>
          <a:solidFill>
            <a:srgbClr val="C7C7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816650" y="1468874"/>
            <a:ext cx="7556421" cy="1561981"/>
          </a:xfrm>
          <a:prstGeom prst="rect">
            <a:avLst/>
          </a:prstGeom>
          <a:solidFill>
            <a:srgbClr val="E1E1EA"/>
          </a:solidFill>
          <a:ln w="952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1009412" y="1669256"/>
            <a:ext cx="3227427" cy="361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50"/>
              <a:buFont typeface="Raleway"/>
              <a:buNone/>
            </a:pPr>
            <a:r>
              <a:rPr lang="en-US" sz="22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Authentication &amp; Access</a:t>
            </a:r>
            <a:endParaRPr sz="2250" b="0" i="0" u="none" strike="noStrike" cap="none"/>
          </a:p>
        </p:txBody>
      </p:sp>
      <p:sp>
        <p:nvSpPr>
          <p:cNvPr id="219" name="Google Shape;219;p23"/>
          <p:cNvSpPr/>
          <p:nvPr/>
        </p:nvSpPr>
        <p:spPr>
          <a:xfrm>
            <a:off x="1009412" y="2146340"/>
            <a:ext cx="7163276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Char char="•"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JWT-based secure login and session management.</a:t>
            </a:r>
            <a:endParaRPr sz="1500" b="0" i="0" u="none" strike="noStrike" cap="none"/>
          </a:p>
        </p:txBody>
      </p:sp>
      <p:sp>
        <p:nvSpPr>
          <p:cNvPr id="220" name="Google Shape;220;p23"/>
          <p:cNvSpPr/>
          <p:nvPr/>
        </p:nvSpPr>
        <p:spPr>
          <a:xfrm>
            <a:off x="1009412" y="2522101"/>
            <a:ext cx="7163276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Char char="•"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Role-based access control (Customer, Provider, Admin) to ensure data integrity.</a:t>
            </a:r>
            <a:endParaRPr sz="1500" b="0" i="0" u="none" strike="noStrike" cap="none"/>
          </a:p>
        </p:txBody>
      </p:sp>
      <p:sp>
        <p:nvSpPr>
          <p:cNvPr id="221" name="Google Shape;221;p23"/>
          <p:cNvSpPr/>
          <p:nvPr/>
        </p:nvSpPr>
        <p:spPr>
          <a:xfrm>
            <a:off x="816650" y="3416379"/>
            <a:ext cx="7556421" cy="2313503"/>
          </a:xfrm>
          <a:prstGeom prst="rect">
            <a:avLst/>
          </a:prstGeom>
          <a:solidFill>
            <a:srgbClr val="E1E1EA"/>
          </a:solidFill>
          <a:ln w="952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1009412" y="3616762"/>
            <a:ext cx="3542228" cy="361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50"/>
              <a:buFont typeface="Raleway"/>
              <a:buNone/>
            </a:pPr>
            <a:r>
              <a:rPr lang="en-US" sz="22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Data &amp; Network Protection</a:t>
            </a:r>
            <a:endParaRPr sz="2250" b="0" i="0" u="none" strike="noStrike" cap="none"/>
          </a:p>
        </p:txBody>
      </p:sp>
      <p:sp>
        <p:nvSpPr>
          <p:cNvPr id="223" name="Google Shape;223;p23"/>
          <p:cNvSpPr/>
          <p:nvPr/>
        </p:nvSpPr>
        <p:spPr>
          <a:xfrm>
            <a:off x="1009412" y="4093845"/>
            <a:ext cx="7163276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Char char="•"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HTTPS enforced across all communications.</a:t>
            </a:r>
            <a:endParaRPr sz="1500" b="0" i="0" u="none" strike="noStrike" cap="none"/>
          </a:p>
        </p:txBody>
      </p:sp>
      <p:sp>
        <p:nvSpPr>
          <p:cNvPr id="224" name="Google Shape;224;p23"/>
          <p:cNvSpPr/>
          <p:nvPr/>
        </p:nvSpPr>
        <p:spPr>
          <a:xfrm>
            <a:off x="1009412" y="4469606"/>
            <a:ext cx="7163276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Char char="•"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Rigorous input validation &amp; sanitization.</a:t>
            </a:r>
            <a:endParaRPr sz="1500" b="0" i="0" u="none" strike="noStrike" cap="none"/>
          </a:p>
        </p:txBody>
      </p:sp>
      <p:sp>
        <p:nvSpPr>
          <p:cNvPr id="225" name="Google Shape;225;p23"/>
          <p:cNvSpPr/>
          <p:nvPr/>
        </p:nvSpPr>
        <p:spPr>
          <a:xfrm>
            <a:off x="1009412" y="4845368"/>
            <a:ext cx="7163276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Char char="•"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Rate limiting on sensitive endpoints to prevent abuse.</a:t>
            </a:r>
            <a:endParaRPr sz="1500" b="0" i="0" u="none" strike="noStrike" cap="none"/>
          </a:p>
        </p:txBody>
      </p:sp>
      <p:sp>
        <p:nvSpPr>
          <p:cNvPr id="226" name="Google Shape;226;p23"/>
          <p:cNvSpPr/>
          <p:nvPr/>
        </p:nvSpPr>
        <p:spPr>
          <a:xfrm>
            <a:off x="1009412" y="5221129"/>
            <a:ext cx="7163276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Char char="•"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Secure image handling with signed URLs and Cloudinary access rules.</a:t>
            </a:r>
            <a:endParaRPr sz="1500" b="0" i="0" u="none" strike="noStrike" cap="none"/>
          </a:p>
        </p:txBody>
      </p:sp>
      <p:sp>
        <p:nvSpPr>
          <p:cNvPr id="227" name="Google Shape;227;p23"/>
          <p:cNvSpPr/>
          <p:nvPr/>
        </p:nvSpPr>
        <p:spPr>
          <a:xfrm>
            <a:off x="793790" y="5946696"/>
            <a:ext cx="75564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Proactive defense against common vulnerabilities:</a:t>
            </a:r>
            <a:endParaRPr sz="1500" b="0" i="0" u="none" strike="noStrike" cap="none"/>
          </a:p>
        </p:txBody>
      </p:sp>
      <p:sp>
        <p:nvSpPr>
          <p:cNvPr id="228" name="Google Shape;228;p23"/>
          <p:cNvSpPr/>
          <p:nvPr/>
        </p:nvSpPr>
        <p:spPr>
          <a:xfrm>
            <a:off x="793790" y="6471880"/>
            <a:ext cx="75564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Char char="•"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Robust error monitoring and logging for quick issue resolution.</a:t>
            </a:r>
            <a:endParaRPr sz="1500" b="0" i="0" u="none" strike="noStrike" cap="none"/>
          </a:p>
        </p:txBody>
      </p:sp>
      <p:sp>
        <p:nvSpPr>
          <p:cNvPr id="229" name="Google Shape;229;p23"/>
          <p:cNvSpPr/>
          <p:nvPr/>
        </p:nvSpPr>
        <p:spPr>
          <a:xfrm>
            <a:off x="793790" y="6847642"/>
            <a:ext cx="75564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Char char="•"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session expiration and token invalidation.</a:t>
            </a:r>
            <a:endParaRPr sz="1500" b="0" i="0" u="none" strike="noStrike" cap="non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/>
          <p:nvPr/>
        </p:nvSpPr>
        <p:spPr>
          <a:xfrm>
            <a:off x="793790" y="1230630"/>
            <a:ext cx="6899791" cy="48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000"/>
              <a:buFont typeface="Raleway"/>
              <a:buNone/>
            </a:pPr>
            <a:r>
              <a:rPr lang="en-US" sz="3000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Exceptional User Experience Strengths</a:t>
            </a:r>
            <a:endParaRPr sz="3000" b="0" i="0" u="none" strike="noStrike" cap="none"/>
          </a:p>
        </p:txBody>
      </p:sp>
      <p:sp>
        <p:nvSpPr>
          <p:cNvPr id="236" name="Google Shape;236;p24"/>
          <p:cNvSpPr/>
          <p:nvPr/>
        </p:nvSpPr>
        <p:spPr>
          <a:xfrm>
            <a:off x="793790" y="2098119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Fixly is designed with the user at its core, offering an intuitive and highly responsive experience across all touchpoints.</a:t>
            </a:r>
            <a:endParaRPr sz="1500" b="0" i="0" u="none" strike="noStrike" cap="none"/>
          </a:p>
        </p:txBody>
      </p:sp>
      <p:pic>
        <p:nvPicPr>
          <p:cNvPr id="237" name="Google Shape;237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410" y="2748558"/>
            <a:ext cx="4239697" cy="2313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5292" y="2748558"/>
            <a:ext cx="4239697" cy="2313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89175" y="2748558"/>
            <a:ext cx="4239697" cy="2313623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/>
          <p:nvPr/>
        </p:nvSpPr>
        <p:spPr>
          <a:xfrm>
            <a:off x="793790" y="5187434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Intuitive Navigation:</a:t>
            </a: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Consistent and easy-to-understand pathways.</a:t>
            </a:r>
            <a:endParaRPr sz="1500" b="0" i="0" u="none" strike="noStrike" cap="none"/>
          </a:p>
        </p:txBody>
      </p:sp>
      <p:sp>
        <p:nvSpPr>
          <p:cNvPr id="241" name="Google Shape;241;p24"/>
          <p:cNvSpPr/>
          <p:nvPr/>
        </p:nvSpPr>
        <p:spPr>
          <a:xfrm>
            <a:off x="793790" y="5563195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Clear Feedback:</a:t>
            </a: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Instant visual and textual cues (toast messages, loaders).</a:t>
            </a:r>
            <a:endParaRPr sz="1500" b="0" i="0" u="none" strike="noStrike" cap="none"/>
          </a:p>
        </p:txBody>
      </p:sp>
      <p:sp>
        <p:nvSpPr>
          <p:cNvPr id="242" name="Google Shape;242;p24"/>
          <p:cNvSpPr/>
          <p:nvPr/>
        </p:nvSpPr>
        <p:spPr>
          <a:xfrm>
            <a:off x="793790" y="5938957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Responsive Design:</a:t>
            </a: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Seamless experience on desktops, tablets, and mobile devices.</a:t>
            </a:r>
            <a:endParaRPr sz="1500" b="0" i="0" u="none" strike="noStrike" cap="none"/>
          </a:p>
        </p:txBody>
      </p:sp>
      <p:sp>
        <p:nvSpPr>
          <p:cNvPr id="243" name="Google Shape;243;p24"/>
          <p:cNvSpPr/>
          <p:nvPr/>
        </p:nvSpPr>
        <p:spPr>
          <a:xfrm>
            <a:off x="793790" y="6314718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Accessibility Focused:</a:t>
            </a: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Optimal contrast, readable fonts, and ARIA tags for inclusivity.</a:t>
            </a:r>
            <a:endParaRPr sz="1500" b="0" i="0" u="none" strike="noStrike" cap="none"/>
          </a:p>
        </p:txBody>
      </p:sp>
      <p:sp>
        <p:nvSpPr>
          <p:cNvPr id="244" name="Google Shape;244;p24"/>
          <p:cNvSpPr/>
          <p:nvPr/>
        </p:nvSpPr>
        <p:spPr>
          <a:xfrm>
            <a:off x="793790" y="6690479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Smooth Animations:</a:t>
            </a:r>
            <a:r>
              <a:rPr lang="en-US" sz="150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Engaging transitions that enhance usability without hindering performance.</a:t>
            </a:r>
            <a:endParaRPr sz="1500" b="0" i="0" u="none" strike="noStrike" cap="non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787241" y="618530"/>
            <a:ext cx="5407819" cy="71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00"/>
              <a:buFont typeface="Raleway"/>
              <a:buNone/>
            </a:pPr>
            <a:r>
              <a:rPr lang="en-US" sz="3500" b="0" i="0" u="none" strike="noStrike" cap="none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Key Artifacts Provided</a:t>
            </a:r>
            <a:endParaRPr sz="3500" b="0" i="0" u="none" strike="noStrike" cap="none" dirty="0"/>
          </a:p>
        </p:txBody>
      </p:sp>
      <p:sp>
        <p:nvSpPr>
          <p:cNvPr id="251" name="Google Shape;251;p25"/>
          <p:cNvSpPr/>
          <p:nvPr/>
        </p:nvSpPr>
        <p:spPr>
          <a:xfrm>
            <a:off x="787241" y="1630680"/>
            <a:ext cx="13055918" cy="71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To ensure a comprehensive understanding and facilitate future collaboration, we are providing the following essential documentation:</a:t>
            </a:r>
            <a:endParaRPr sz="1750" b="0" i="0" u="none" strike="noStrike" cap="none"/>
          </a:p>
        </p:txBody>
      </p:sp>
      <p:sp>
        <p:nvSpPr>
          <p:cNvPr id="252" name="Google Shape;252;p25"/>
          <p:cNvSpPr/>
          <p:nvPr/>
        </p:nvSpPr>
        <p:spPr>
          <a:xfrm>
            <a:off x="787241" y="2603302"/>
            <a:ext cx="6415445" cy="2391608"/>
          </a:xfrm>
          <a:prstGeom prst="roundRect">
            <a:avLst>
              <a:gd name="adj" fmla="val 3950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817721" y="2633782"/>
            <a:ext cx="6354485" cy="674846"/>
          </a:xfrm>
          <a:prstGeom prst="roundRect">
            <a:avLst>
              <a:gd name="adj" fmla="val 8580"/>
            </a:avLst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3826193" y="2756535"/>
            <a:ext cx="33742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50"/>
              <a:buFont typeface="Raleway"/>
              <a:buNone/>
            </a:pPr>
            <a:r>
              <a:rPr lang="en-US" sz="26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sz="2650" b="0" i="0" u="none" strike="noStrike" cap="none"/>
          </a:p>
        </p:txBody>
      </p:sp>
      <p:sp>
        <p:nvSpPr>
          <p:cNvPr id="255" name="Google Shape;255;p25"/>
          <p:cNvSpPr/>
          <p:nvPr/>
        </p:nvSpPr>
        <p:spPr>
          <a:xfrm>
            <a:off x="1042630" y="3533537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Deployment Guide</a:t>
            </a:r>
            <a:endParaRPr sz="2200" b="0" i="0" u="none" strike="noStrike" cap="none"/>
          </a:p>
        </p:txBody>
      </p:sp>
      <p:sp>
        <p:nvSpPr>
          <p:cNvPr id="256" name="Google Shape;256;p25"/>
          <p:cNvSpPr/>
          <p:nvPr/>
        </p:nvSpPr>
        <p:spPr>
          <a:xfrm>
            <a:off x="1042630" y="4019907"/>
            <a:ext cx="5904667" cy="71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Detailed steps for environment setup, configuration, and successful deployment.</a:t>
            </a:r>
            <a:endParaRPr sz="1750" b="0" i="0" u="none" strike="noStrike" cap="none"/>
          </a:p>
        </p:txBody>
      </p:sp>
      <p:sp>
        <p:nvSpPr>
          <p:cNvPr id="257" name="Google Shape;257;p25"/>
          <p:cNvSpPr/>
          <p:nvPr/>
        </p:nvSpPr>
        <p:spPr>
          <a:xfrm>
            <a:off x="7427595" y="2603302"/>
            <a:ext cx="6415564" cy="2391608"/>
          </a:xfrm>
          <a:prstGeom prst="roundRect">
            <a:avLst>
              <a:gd name="adj" fmla="val 3950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7458075" y="2633782"/>
            <a:ext cx="6354604" cy="674846"/>
          </a:xfrm>
          <a:prstGeom prst="roundRect">
            <a:avLst>
              <a:gd name="adj" fmla="val 8580"/>
            </a:avLst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10466665" y="2756535"/>
            <a:ext cx="33742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50"/>
              <a:buFont typeface="Raleway"/>
              <a:buNone/>
            </a:pPr>
            <a:r>
              <a:rPr lang="en-US" sz="26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sz="2650" b="0" i="0" u="none" strike="noStrike" cap="none"/>
          </a:p>
        </p:txBody>
      </p:sp>
      <p:sp>
        <p:nvSpPr>
          <p:cNvPr id="260" name="Google Shape;260;p25"/>
          <p:cNvSpPr/>
          <p:nvPr/>
        </p:nvSpPr>
        <p:spPr>
          <a:xfrm>
            <a:off x="7682984" y="3533537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 Manual</a:t>
            </a:r>
            <a:endParaRPr sz="2200" b="0" i="0" u="none" strike="noStrike" cap="none"/>
          </a:p>
        </p:txBody>
      </p:sp>
      <p:sp>
        <p:nvSpPr>
          <p:cNvPr id="261" name="Google Shape;261;p25"/>
          <p:cNvSpPr/>
          <p:nvPr/>
        </p:nvSpPr>
        <p:spPr>
          <a:xfrm>
            <a:off x="7682984" y="4019907"/>
            <a:ext cx="5904786" cy="71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Comprehensive instructions for Customer, Provider, and Admin portals, covering all functionalities.</a:t>
            </a:r>
            <a:endParaRPr sz="1750" b="0" i="0" u="none" strike="noStrike" cap="none"/>
          </a:p>
        </p:txBody>
      </p:sp>
      <p:sp>
        <p:nvSpPr>
          <p:cNvPr id="262" name="Google Shape;262;p25"/>
          <p:cNvSpPr/>
          <p:nvPr/>
        </p:nvSpPr>
        <p:spPr>
          <a:xfrm>
            <a:off x="787241" y="5219819"/>
            <a:ext cx="6415445" cy="2391608"/>
          </a:xfrm>
          <a:prstGeom prst="roundRect">
            <a:avLst>
              <a:gd name="adj" fmla="val 3950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817721" y="5250299"/>
            <a:ext cx="6354485" cy="674846"/>
          </a:xfrm>
          <a:prstGeom prst="roundRect">
            <a:avLst>
              <a:gd name="adj" fmla="val 8580"/>
            </a:avLst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3826193" y="5373053"/>
            <a:ext cx="33742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50"/>
              <a:buFont typeface="Raleway"/>
              <a:buNone/>
            </a:pPr>
            <a:r>
              <a:rPr lang="en-US" sz="26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sz="2650" b="0" i="0" u="none" strike="noStrike" cap="none"/>
          </a:p>
        </p:txBody>
      </p:sp>
      <p:sp>
        <p:nvSpPr>
          <p:cNvPr id="265" name="Google Shape;265;p25"/>
          <p:cNvSpPr/>
          <p:nvPr/>
        </p:nvSpPr>
        <p:spPr>
          <a:xfrm>
            <a:off x="1042630" y="6150054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Demo Slides</a:t>
            </a:r>
            <a:endParaRPr sz="2200" b="0" i="0" u="none" strike="noStrike" cap="none"/>
          </a:p>
        </p:txBody>
      </p:sp>
      <p:sp>
        <p:nvSpPr>
          <p:cNvPr id="266" name="Google Shape;266;p25"/>
          <p:cNvSpPr/>
          <p:nvPr/>
        </p:nvSpPr>
        <p:spPr>
          <a:xfrm>
            <a:off x="1042630" y="6636425"/>
            <a:ext cx="5904667" cy="71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presentation deck, summarizing our progress and key features.</a:t>
            </a:r>
            <a:endParaRPr sz="1750" b="0" i="0" u="none" strike="noStrike" cap="none"/>
          </a:p>
        </p:txBody>
      </p:sp>
      <p:sp>
        <p:nvSpPr>
          <p:cNvPr id="267" name="Google Shape;267;p25"/>
          <p:cNvSpPr/>
          <p:nvPr/>
        </p:nvSpPr>
        <p:spPr>
          <a:xfrm>
            <a:off x="7427595" y="5219819"/>
            <a:ext cx="6415564" cy="2391608"/>
          </a:xfrm>
          <a:prstGeom prst="roundRect">
            <a:avLst>
              <a:gd name="adj" fmla="val 3950"/>
            </a:avLst>
          </a:prstGeom>
          <a:solidFill>
            <a:srgbClr val="FFFFFF">
              <a:alpha val="94901"/>
            </a:srgbClr>
          </a:solidFill>
          <a:ln w="3047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5"/>
          <p:cNvSpPr/>
          <p:nvPr/>
        </p:nvSpPr>
        <p:spPr>
          <a:xfrm>
            <a:off x="7458075" y="5250299"/>
            <a:ext cx="6354604" cy="674846"/>
          </a:xfrm>
          <a:prstGeom prst="roundRect">
            <a:avLst>
              <a:gd name="adj" fmla="val 8580"/>
            </a:avLst>
          </a:prstGeom>
          <a:solidFill>
            <a:srgbClr val="E1E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10466665" y="5373053"/>
            <a:ext cx="33742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50"/>
              <a:buFont typeface="Raleway"/>
              <a:buNone/>
            </a:pPr>
            <a:r>
              <a:rPr lang="en-US" sz="265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sz="2650" b="0" i="0" u="none" strike="noStrike" cap="none"/>
          </a:p>
        </p:txBody>
      </p:sp>
      <p:sp>
        <p:nvSpPr>
          <p:cNvPr id="270" name="Google Shape;270;p25"/>
          <p:cNvSpPr/>
          <p:nvPr/>
        </p:nvSpPr>
        <p:spPr>
          <a:xfrm>
            <a:off x="7682984" y="6150054"/>
            <a:ext cx="2811899" cy="35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lang="en-US" sz="2200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Live Link</a:t>
            </a:r>
            <a:endParaRPr sz="2200">
              <a:solidFill>
                <a:srgbClr val="3C393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endParaRPr sz="2200">
              <a:solidFill>
                <a:srgbClr val="3C393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7682984" y="6636425"/>
            <a:ext cx="5904786" cy="719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lang="en-US" sz="1750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Access to the deployed prototype for hands-on experience and evaluation.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3174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/>
          <p:nvPr/>
        </p:nvSpPr>
        <p:spPr>
          <a:xfrm>
            <a:off x="6230649" y="584726"/>
            <a:ext cx="5366700" cy="3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83"/>
              <a:buFont typeface="Raleway"/>
              <a:buNone/>
            </a:pPr>
            <a:r>
              <a:rPr lang="en-US" sz="2282" b="0" i="0" u="none" strike="noStrike" cap="non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 &amp; Next Steps: Fixly is Ready!</a:t>
            </a:r>
            <a:endParaRPr sz="2282" b="0" i="0" u="none" strike="noStrike" cap="none"/>
          </a:p>
        </p:txBody>
      </p:sp>
      <p:sp>
        <p:nvSpPr>
          <p:cNvPr id="279" name="Google Shape;279;p26"/>
          <p:cNvSpPr/>
          <p:nvPr/>
        </p:nvSpPr>
        <p:spPr>
          <a:xfrm>
            <a:off x="6230649" y="1171646"/>
            <a:ext cx="8127900" cy="1494000"/>
          </a:xfrm>
          <a:prstGeom prst="roundRect">
            <a:avLst>
              <a:gd name="adj" fmla="val 4125"/>
            </a:avLst>
          </a:prstGeom>
          <a:solidFill>
            <a:srgbClr val="E1E1EA"/>
          </a:solidFill>
          <a:ln w="1012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075" tIns="97075" rIns="97075" bIns="97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6385375" y="1326372"/>
            <a:ext cx="440100" cy="440100"/>
          </a:xfrm>
          <a:prstGeom prst="roundRect">
            <a:avLst>
              <a:gd name="adj" fmla="val 22054064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7075" tIns="97075" rIns="97075" bIns="97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1" name="Google Shape;281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6350" y="1447346"/>
            <a:ext cx="198084" cy="19808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/>
          <p:nvPr/>
        </p:nvSpPr>
        <p:spPr>
          <a:xfrm>
            <a:off x="6385375" y="1913167"/>
            <a:ext cx="220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99"/>
              <a:buFont typeface="Raleway"/>
              <a:buNone/>
            </a:pPr>
            <a:r>
              <a:rPr lang="en-US" sz="1698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Stable Deployment</a:t>
            </a:r>
            <a:endParaRPr sz="1698" b="0" i="0" u="none" strike="noStrike" cap="none"/>
          </a:p>
        </p:txBody>
      </p:sp>
      <p:sp>
        <p:nvSpPr>
          <p:cNvPr id="283" name="Google Shape;283;p26"/>
          <p:cNvSpPr/>
          <p:nvPr/>
        </p:nvSpPr>
        <p:spPr>
          <a:xfrm>
            <a:off x="6385375" y="2276215"/>
            <a:ext cx="78186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15"/>
              <a:buFont typeface="Roboto"/>
              <a:buNone/>
            </a:pPr>
            <a:r>
              <a:rPr lang="en-US" sz="1114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Our robust infrastructure ensures reliable performance.</a:t>
            </a:r>
            <a:endParaRPr sz="1114" b="0" i="0" u="none" strike="noStrike" cap="none"/>
          </a:p>
        </p:txBody>
      </p:sp>
      <p:sp>
        <p:nvSpPr>
          <p:cNvPr id="284" name="Google Shape;284;p26"/>
          <p:cNvSpPr/>
          <p:nvPr/>
        </p:nvSpPr>
        <p:spPr>
          <a:xfrm>
            <a:off x="6230649" y="2812319"/>
            <a:ext cx="8127900" cy="1494000"/>
          </a:xfrm>
          <a:prstGeom prst="roundRect">
            <a:avLst>
              <a:gd name="adj" fmla="val 4125"/>
            </a:avLst>
          </a:prstGeom>
          <a:solidFill>
            <a:srgbClr val="E1E1EA"/>
          </a:solidFill>
          <a:ln w="1012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075" tIns="97075" rIns="97075" bIns="97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6385375" y="2967045"/>
            <a:ext cx="440100" cy="440100"/>
          </a:xfrm>
          <a:prstGeom prst="roundRect">
            <a:avLst>
              <a:gd name="adj" fmla="val 22054064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7075" tIns="97075" rIns="97075" bIns="97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6" name="Google Shape;286;p2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06350" y="3088020"/>
            <a:ext cx="198084" cy="19808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/>
          <p:nvPr/>
        </p:nvSpPr>
        <p:spPr>
          <a:xfrm>
            <a:off x="6385375" y="3553840"/>
            <a:ext cx="220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99"/>
              <a:buFont typeface="Raleway"/>
              <a:buNone/>
            </a:pPr>
            <a:r>
              <a:rPr lang="en-US" sz="1698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Mature UI/UX</a:t>
            </a:r>
            <a:endParaRPr sz="1698" b="0" i="0" u="none" strike="noStrike" cap="none"/>
          </a:p>
        </p:txBody>
      </p:sp>
      <p:sp>
        <p:nvSpPr>
          <p:cNvPr id="288" name="Google Shape;288;p26"/>
          <p:cNvSpPr/>
          <p:nvPr/>
        </p:nvSpPr>
        <p:spPr>
          <a:xfrm>
            <a:off x="6385375" y="3916888"/>
            <a:ext cx="78186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15"/>
              <a:buFont typeface="Roboto"/>
              <a:buNone/>
            </a:pPr>
            <a:r>
              <a:rPr lang="en-US" sz="1114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Intuitive design for all user types is complete.</a:t>
            </a:r>
            <a:endParaRPr sz="1114" b="0" i="0" u="none" strike="noStrike" cap="none"/>
          </a:p>
        </p:txBody>
      </p:sp>
      <p:sp>
        <p:nvSpPr>
          <p:cNvPr id="289" name="Google Shape;289;p26"/>
          <p:cNvSpPr/>
          <p:nvPr/>
        </p:nvSpPr>
        <p:spPr>
          <a:xfrm>
            <a:off x="6230649" y="4452993"/>
            <a:ext cx="8127900" cy="1494000"/>
          </a:xfrm>
          <a:prstGeom prst="roundRect">
            <a:avLst>
              <a:gd name="adj" fmla="val 4125"/>
            </a:avLst>
          </a:prstGeom>
          <a:solidFill>
            <a:srgbClr val="E1E1EA"/>
          </a:solidFill>
          <a:ln w="1012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075" tIns="97075" rIns="97075" bIns="97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6385375" y="4607718"/>
            <a:ext cx="440100" cy="440100"/>
          </a:xfrm>
          <a:prstGeom prst="roundRect">
            <a:avLst>
              <a:gd name="adj" fmla="val 22054064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7075" tIns="97075" rIns="97075" bIns="97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2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6350" y="4728693"/>
            <a:ext cx="198084" cy="19808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/>
          <p:nvPr/>
        </p:nvSpPr>
        <p:spPr>
          <a:xfrm>
            <a:off x="6385375" y="5194512"/>
            <a:ext cx="220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99"/>
              <a:buFont typeface="Raleway"/>
              <a:buNone/>
            </a:pPr>
            <a:r>
              <a:rPr lang="en-US" sz="1698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Secure Environment</a:t>
            </a:r>
            <a:endParaRPr sz="1698" b="0" i="0" u="none" strike="noStrike" cap="none"/>
          </a:p>
        </p:txBody>
      </p:sp>
      <p:sp>
        <p:nvSpPr>
          <p:cNvPr id="293" name="Google Shape;293;p26"/>
          <p:cNvSpPr/>
          <p:nvPr/>
        </p:nvSpPr>
        <p:spPr>
          <a:xfrm>
            <a:off x="6385375" y="5557562"/>
            <a:ext cx="78186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15"/>
              <a:buFont typeface="Roboto"/>
              <a:buNone/>
            </a:pPr>
            <a:r>
              <a:rPr lang="en-US" sz="1114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Comprehensive measures protect data and users.</a:t>
            </a:r>
            <a:endParaRPr sz="1114" b="0" i="0" u="none" strike="noStrike" cap="none"/>
          </a:p>
        </p:txBody>
      </p:sp>
      <p:sp>
        <p:nvSpPr>
          <p:cNvPr id="294" name="Google Shape;294;p26"/>
          <p:cNvSpPr/>
          <p:nvPr/>
        </p:nvSpPr>
        <p:spPr>
          <a:xfrm>
            <a:off x="6230649" y="6093666"/>
            <a:ext cx="8127900" cy="1494000"/>
          </a:xfrm>
          <a:prstGeom prst="roundRect">
            <a:avLst>
              <a:gd name="adj" fmla="val 4125"/>
            </a:avLst>
          </a:prstGeom>
          <a:solidFill>
            <a:srgbClr val="E1E1EA"/>
          </a:solidFill>
          <a:ln w="10125" cap="flat" cmpd="sng">
            <a:solidFill>
              <a:srgbClr val="C7C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075" tIns="97075" rIns="97075" bIns="97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6385375" y="6248391"/>
            <a:ext cx="440100" cy="440100"/>
          </a:xfrm>
          <a:prstGeom prst="roundRect">
            <a:avLst>
              <a:gd name="adj" fmla="val 22054064"/>
            </a:avLst>
          </a:prstGeom>
          <a:solidFill>
            <a:srgbClr val="1B1B27"/>
          </a:solidFill>
          <a:ln>
            <a:noFill/>
          </a:ln>
        </p:spPr>
        <p:txBody>
          <a:bodyPr spcFirstLastPara="1" wrap="square" lIns="97075" tIns="97075" rIns="97075" bIns="97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6" name="Google Shape;296;p2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06350" y="6369366"/>
            <a:ext cx="198084" cy="19808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/>
          <p:nvPr/>
        </p:nvSpPr>
        <p:spPr>
          <a:xfrm>
            <a:off x="6385375" y="6835185"/>
            <a:ext cx="24150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99"/>
              <a:buFont typeface="Raleway"/>
              <a:buNone/>
            </a:pPr>
            <a:r>
              <a:rPr lang="en-US" sz="1698" b="0" i="0" u="none" strike="noStrike" cap="non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Performance Optimized</a:t>
            </a:r>
            <a:endParaRPr sz="1698" b="0" i="0" u="none" strike="noStrike" cap="none"/>
          </a:p>
        </p:txBody>
      </p:sp>
      <p:sp>
        <p:nvSpPr>
          <p:cNvPr id="298" name="Google Shape;298;p26"/>
          <p:cNvSpPr/>
          <p:nvPr/>
        </p:nvSpPr>
        <p:spPr>
          <a:xfrm>
            <a:off x="6385375" y="7198235"/>
            <a:ext cx="78186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15"/>
              <a:buFont typeface="Roboto"/>
              <a:buNone/>
            </a:pPr>
            <a:r>
              <a:rPr lang="en-US" sz="1114" b="0" i="0" u="none" strike="noStrike" cap="non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Fast and responsive, even under load.</a:t>
            </a:r>
            <a:endParaRPr sz="1114" b="0" i="0" u="none" strike="noStrike" cap="none"/>
          </a:p>
        </p:txBody>
      </p:sp>
      <p:sp>
        <p:nvSpPr>
          <p:cNvPr id="299" name="Google Shape;299;p26"/>
          <p:cNvSpPr/>
          <p:nvPr/>
        </p:nvSpPr>
        <p:spPr>
          <a:xfrm>
            <a:off x="6230649" y="7807783"/>
            <a:ext cx="2201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99"/>
              <a:buFont typeface="Arial"/>
              <a:buNone/>
            </a:pPr>
            <a:endParaRPr sz="1698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919</Words>
  <Application>Microsoft Office PowerPoint</Application>
  <PresentationFormat>Custom</PresentationFormat>
  <Paragraphs>130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Roboto</vt:lpstr>
      <vt:lpstr>Calibri</vt:lpstr>
      <vt:lpstr>Raleway</vt:lpstr>
      <vt:lpstr>DM Sans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Smit Kachhadiya</cp:lastModifiedBy>
  <cp:revision>1</cp:revision>
  <dcterms:modified xsi:type="dcterms:W3CDTF">2025-11-30T18:22:09Z</dcterms:modified>
</cp:coreProperties>
</file>